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charts/chart7.xml" ContentType="application/vnd.openxmlformats-officedocument.drawingml.chart+xml"/>
  <Override PartName="/ppt/notesSlides/notesSlide15.xml" ContentType="application/vnd.openxmlformats-officedocument.presentationml.notesSlide+xml"/>
  <Override PartName="/ppt/charts/chart8.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5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barChart>
        <c:barDir val="bar"/>
        <c:grouping val="clustered"/>
        <c:varyColors val="0"/>
        <c:ser>
          <c:idx val="0"/>
          <c:order val="0"/>
          <c:tx>
            <c:strRef>
              <c:f>Sheet1!$B$1</c:f>
              <c:strCache>
                <c:ptCount val="1"/>
                <c:pt idx="0">
                  <c:v>Revenue ($)</c:v>
                </c:pt>
              </c:strCache>
            </c:strRef>
          </c:tx>
          <c:spPr>
            <a:solidFill>
              <a:srgbClr val="1A1F3C"/>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USA</c:v>
                </c:pt>
                <c:pt idx="1">
                  <c:v>Canada</c:v>
                </c:pt>
                <c:pt idx="2">
                  <c:v>Brazil</c:v>
                </c:pt>
                <c:pt idx="3">
                  <c:v>France</c:v>
                </c:pt>
                <c:pt idx="4">
                  <c:v>Germany</c:v>
                </c:pt>
                <c:pt idx="5">
                  <c:v>Czech Rep.</c:v>
                </c:pt>
                <c:pt idx="6">
                  <c:v>UK</c:v>
                </c:pt>
                <c:pt idx="7">
                  <c:v>Portugal</c:v>
                </c:pt>
                <c:pt idx="8">
                  <c:v>India</c:v>
                </c:pt>
                <c:pt idx="9">
                  <c:v>Ireland</c:v>
                </c:pt>
              </c:strCache>
            </c:strRef>
          </c:cat>
          <c:val>
            <c:numRef>
              <c:f>Sheet1!$B$2:$B$11</c:f>
              <c:numCache>
                <c:formatCode>General</c:formatCode>
                <c:ptCount val="10"/>
                <c:pt idx="0">
                  <c:v>1040.49</c:v>
                </c:pt>
                <c:pt idx="1">
                  <c:v>535.59</c:v>
                </c:pt>
                <c:pt idx="2">
                  <c:v>427.68</c:v>
                </c:pt>
                <c:pt idx="3">
                  <c:v>389.07</c:v>
                </c:pt>
                <c:pt idx="4">
                  <c:v>334.62</c:v>
                </c:pt>
                <c:pt idx="5">
                  <c:v>273.24</c:v>
                </c:pt>
                <c:pt idx="6">
                  <c:v>245.52</c:v>
                </c:pt>
                <c:pt idx="7">
                  <c:v>185.13</c:v>
                </c:pt>
                <c:pt idx="8">
                  <c:v>183.15</c:v>
                </c:pt>
                <c:pt idx="9">
                  <c:v>114.84</c:v>
                </c:pt>
              </c:numCache>
            </c:numRef>
          </c:val>
          <c:extLst>
            <c:ext xmlns:c16="http://schemas.microsoft.com/office/drawing/2014/chart" uri="{C3380CC4-5D6E-409C-BE32-E72D297353CC}">
              <c16:uniqueId val="{00000000-556B-4D07-B939-0FC674717984}"/>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pieChart>
        <c:varyColors val="1"/>
        <c:ser>
          <c:idx val="0"/>
          <c:order val="0"/>
          <c:tx>
            <c:strRef>
              <c:f>Sheet1!$B$1</c:f>
              <c:strCache>
                <c:ptCount val="1"/>
                <c:pt idx="0">
                  <c:v>Genre %</c:v>
                </c:pt>
              </c:strCache>
            </c:strRef>
          </c:tx>
          <c:spPr>
            <a:solidFill>
              <a:schemeClr val="accent1"/>
            </a:solidFill>
            <a:ln w="9525" cap="flat">
              <a:solidFill>
                <a:srgbClr val="F9F9F9"/>
              </a:solidFill>
              <a:prstDash val="solid"/>
              <a:round/>
            </a:ln>
            <a:effectLst/>
          </c:spPr>
          <c:dPt>
            <c:idx val="0"/>
            <c:bubble3D val="0"/>
            <c:spPr>
              <a:solidFill>
                <a:srgbClr val="1A1F3C"/>
              </a:solidFill>
              <a:effectLst/>
            </c:spPr>
            <c:extLst>
              <c:ext xmlns:c16="http://schemas.microsoft.com/office/drawing/2014/chart" uri="{C3380CC4-5D6E-409C-BE32-E72D297353CC}">
                <c16:uniqueId val="{00000001-56D6-4A01-B638-B2194F80C326}"/>
              </c:ext>
            </c:extLst>
          </c:dPt>
          <c:dPt>
            <c:idx val="1"/>
            <c:bubble3D val="0"/>
            <c:spPr>
              <a:solidFill>
                <a:srgbClr val="F5A623"/>
              </a:solidFill>
              <a:effectLst/>
            </c:spPr>
            <c:extLst>
              <c:ext xmlns:c16="http://schemas.microsoft.com/office/drawing/2014/chart" uri="{C3380CC4-5D6E-409C-BE32-E72D297353CC}">
                <c16:uniqueId val="{00000003-56D6-4A01-B638-B2194F80C326}"/>
              </c:ext>
            </c:extLst>
          </c:dPt>
          <c:dPt>
            <c:idx val="2"/>
            <c:bubble3D val="0"/>
            <c:spPr>
              <a:solidFill>
                <a:srgbClr val="E05A44"/>
              </a:solidFill>
              <a:effectLst/>
            </c:spPr>
            <c:extLst>
              <c:ext xmlns:c16="http://schemas.microsoft.com/office/drawing/2014/chart" uri="{C3380CC4-5D6E-409C-BE32-E72D297353CC}">
                <c16:uniqueId val="{00000005-56D6-4A01-B638-B2194F80C326}"/>
              </c:ext>
            </c:extLst>
          </c:dPt>
          <c:dPt>
            <c:idx val="3"/>
            <c:bubble3D val="0"/>
            <c:spPr>
              <a:solidFill>
                <a:srgbClr val="3A7BD5"/>
              </a:solidFill>
              <a:effectLst/>
            </c:spPr>
            <c:extLst>
              <c:ext xmlns:c16="http://schemas.microsoft.com/office/drawing/2014/chart" uri="{C3380CC4-5D6E-409C-BE32-E72D297353CC}">
                <c16:uniqueId val="{00000007-56D6-4A01-B638-B2194F80C326}"/>
              </c:ext>
            </c:extLst>
          </c:dPt>
          <c:dPt>
            <c:idx val="4"/>
            <c:bubble3D val="0"/>
            <c:spPr>
              <a:solidFill>
                <a:srgbClr val="2ECC71"/>
              </a:solidFill>
              <a:effectLst/>
            </c:spPr>
            <c:extLst>
              <c:ext xmlns:c16="http://schemas.microsoft.com/office/drawing/2014/chart" uri="{C3380CC4-5D6E-409C-BE32-E72D297353CC}">
                <c16:uniqueId val="{00000009-56D6-4A01-B638-B2194F80C326}"/>
              </c:ext>
            </c:extLst>
          </c:dPt>
          <c:dPt>
            <c:idx val="5"/>
            <c:bubble3D val="0"/>
            <c:spPr>
              <a:solidFill>
                <a:srgbClr val="9B59B6"/>
              </a:solidFill>
              <a:effectLst/>
            </c:spPr>
            <c:extLst>
              <c:ext xmlns:c16="http://schemas.microsoft.com/office/drawing/2014/chart" uri="{C3380CC4-5D6E-409C-BE32-E72D297353CC}">
                <c16:uniqueId val="{0000000B-56D6-4A01-B638-B2194F80C326}"/>
              </c:ext>
            </c:extLst>
          </c:dPt>
          <c:dPt>
            <c:idx val="6"/>
            <c:bubble3D val="0"/>
            <c:spPr>
              <a:solidFill>
                <a:srgbClr val="AABCE0"/>
              </a:solidFill>
              <a:effectLst/>
            </c:spPr>
            <c:extLst>
              <c:ext xmlns:c16="http://schemas.microsoft.com/office/drawing/2014/chart" uri="{C3380CC4-5D6E-409C-BE32-E72D297353CC}">
                <c16:uniqueId val="{0000000D-56D6-4A01-B638-B2194F80C326}"/>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6D6-4A01-B638-B2194F80C326}"/>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6D6-4A01-B638-B2194F80C326}"/>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6D6-4A01-B638-B2194F80C326}"/>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6D6-4A01-B638-B2194F80C326}"/>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56D6-4A01-B638-B2194F80C326}"/>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56D6-4A01-B638-B2194F80C326}"/>
                </c:ext>
              </c:extLst>
            </c:dLbl>
            <c:dLbl>
              <c:idx val="6"/>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56D6-4A01-B638-B2194F80C32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Rock</c:v>
                </c:pt>
                <c:pt idx="1">
                  <c:v>Alt &amp; Punk</c:v>
                </c:pt>
                <c:pt idx="2">
                  <c:v>Metal</c:v>
                </c:pt>
                <c:pt idx="3">
                  <c:v>R&amp;B/Soul</c:v>
                </c:pt>
                <c:pt idx="4">
                  <c:v>Blues</c:v>
                </c:pt>
                <c:pt idx="5">
                  <c:v>Alternative</c:v>
                </c:pt>
                <c:pt idx="6">
                  <c:v>Others</c:v>
                </c:pt>
              </c:strCache>
            </c:strRef>
          </c:cat>
          <c:val>
            <c:numRef>
              <c:f>Sheet1!$B$2:$B$8</c:f>
              <c:numCache>
                <c:formatCode>General</c:formatCode>
                <c:ptCount val="7"/>
                <c:pt idx="0">
                  <c:v>53.38</c:v>
                </c:pt>
                <c:pt idx="1">
                  <c:v>12.37</c:v>
                </c:pt>
                <c:pt idx="2">
                  <c:v>11.8</c:v>
                </c:pt>
                <c:pt idx="3">
                  <c:v>5.04</c:v>
                </c:pt>
                <c:pt idx="4">
                  <c:v>3.43</c:v>
                </c:pt>
                <c:pt idx="5">
                  <c:v>3.33</c:v>
                </c:pt>
                <c:pt idx="6">
                  <c:v>10.65</c:v>
                </c:pt>
              </c:numCache>
            </c:numRef>
          </c:val>
          <c:extLst>
            <c:ext xmlns:c16="http://schemas.microsoft.com/office/drawing/2014/chart" uri="{C3380CC4-5D6E-409C-BE32-E72D297353CC}">
              <c16:uniqueId val="{0000000E-56D6-4A01-B638-B2194F80C326}"/>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Avg Total Spent ($)</c:v>
                </c:pt>
              </c:strCache>
            </c:strRef>
          </c:tx>
          <c:spPr>
            <a:solidFill>
              <a:srgbClr val="1A1F3C"/>
            </a:soli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New</c:v>
                </c:pt>
                <c:pt idx="1">
                  <c:v>Mid-Term</c:v>
                </c:pt>
                <c:pt idx="2">
                  <c:v>Long-Term</c:v>
                </c:pt>
              </c:strCache>
            </c:strRef>
          </c:cat>
          <c:val>
            <c:numRef>
              <c:f>Sheet1!$B$2:$B$4</c:f>
              <c:numCache>
                <c:formatCode>General</c:formatCode>
                <c:ptCount val="3"/>
                <c:pt idx="0">
                  <c:v>50</c:v>
                </c:pt>
                <c:pt idx="1">
                  <c:v>75</c:v>
                </c:pt>
                <c:pt idx="2">
                  <c:v>85.45</c:v>
                </c:pt>
              </c:numCache>
            </c:numRef>
          </c:val>
          <c:extLst>
            <c:ext xmlns:c16="http://schemas.microsoft.com/office/drawing/2014/chart" uri="{C3380CC4-5D6E-409C-BE32-E72D297353CC}">
              <c16:uniqueId val="{00000000-A612-42FB-9FD0-07A145F9A73E}"/>
            </c:ext>
          </c:extLst>
        </c:ser>
        <c:ser>
          <c:idx val="1"/>
          <c:order val="1"/>
          <c:tx>
            <c:strRef>
              <c:f>Sheet1!$C$1</c:f>
              <c:strCache>
                <c:ptCount val="1"/>
                <c:pt idx="0">
                  <c:v>Avg Order Count</c:v>
                </c:pt>
              </c:strCache>
            </c:strRef>
          </c:tx>
          <c:spPr>
            <a:solidFill>
              <a:srgbClr val="F5A623"/>
            </a:solidFill>
            <a:effectLst/>
          </c:spPr>
          <c:invertIfNegative val="0"/>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New</c:v>
                </c:pt>
                <c:pt idx="1">
                  <c:v>Mid-Term</c:v>
                </c:pt>
                <c:pt idx="2">
                  <c:v>Long-Term</c:v>
                </c:pt>
              </c:strCache>
            </c:strRef>
          </c:cat>
          <c:val>
            <c:numRef>
              <c:f>Sheet1!$C$2:$C$4</c:f>
              <c:numCache>
                <c:formatCode>General</c:formatCode>
                <c:ptCount val="3"/>
                <c:pt idx="0">
                  <c:v>6</c:v>
                </c:pt>
                <c:pt idx="1">
                  <c:v>9.92</c:v>
                </c:pt>
                <c:pt idx="2">
                  <c:v>11.06</c:v>
                </c:pt>
              </c:numCache>
            </c:numRef>
          </c:val>
          <c:extLst>
            <c:ext xmlns:c16="http://schemas.microsoft.com/office/drawing/2014/chart" uri="{C3380CC4-5D6E-409C-BE32-E72D297353CC}">
              <c16:uniqueId val="{00000001-A612-42FB-9FD0-07A145F9A73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Churn %</c:v>
                </c:pt>
              </c:strCache>
            </c:strRef>
          </c:tx>
          <c:spPr>
            <a:solidFill>
              <a:srgbClr val="E05A44"/>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Belgium</c:v>
                </c:pt>
                <c:pt idx="1">
                  <c:v>Denmark</c:v>
                </c:pt>
                <c:pt idx="2">
                  <c:v>Chile</c:v>
                </c:pt>
                <c:pt idx="3">
                  <c:v>Germany</c:v>
                </c:pt>
                <c:pt idx="4">
                  <c:v>France</c:v>
                </c:pt>
                <c:pt idx="5">
                  <c:v>Brazil</c:v>
                </c:pt>
                <c:pt idx="6">
                  <c:v>Canada</c:v>
                </c:pt>
                <c:pt idx="7">
                  <c:v>USA</c:v>
                </c:pt>
              </c:strCache>
            </c:strRef>
          </c:cat>
          <c:val>
            <c:numRef>
              <c:f>Sheet1!$B$2:$B$9</c:f>
              <c:numCache>
                <c:formatCode>General</c:formatCode>
                <c:ptCount val="8"/>
                <c:pt idx="0">
                  <c:v>100</c:v>
                </c:pt>
                <c:pt idx="1">
                  <c:v>100</c:v>
                </c:pt>
                <c:pt idx="2">
                  <c:v>100</c:v>
                </c:pt>
                <c:pt idx="3">
                  <c:v>50</c:v>
                </c:pt>
                <c:pt idx="4">
                  <c:v>40</c:v>
                </c:pt>
                <c:pt idx="5">
                  <c:v>40</c:v>
                </c:pt>
                <c:pt idx="6">
                  <c:v>12.5</c:v>
                </c:pt>
                <c:pt idx="7">
                  <c:v>38.5</c:v>
                </c:pt>
              </c:numCache>
            </c:numRef>
          </c:val>
          <c:extLst>
            <c:ext xmlns:c16="http://schemas.microsoft.com/office/drawing/2014/chart" uri="{C3380CC4-5D6E-409C-BE32-E72D297353CC}">
              <c16:uniqueId val="{00000000-0C48-4567-958B-8D323ADD940B}"/>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Revenue ($)</c:v>
                </c:pt>
              </c:strCache>
            </c:strRef>
          </c:tx>
          <c:spPr>
            <a:solidFill>
              <a:srgbClr val="1A1F3C"/>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Van Halen</c:v>
                </c:pt>
                <c:pt idx="1">
                  <c:v>The Rolling Stones</c:v>
                </c:pt>
                <c:pt idx="2">
                  <c:v>Nirvana</c:v>
                </c:pt>
                <c:pt idx="3">
                  <c:v>Green Day</c:v>
                </c:pt>
                <c:pt idx="4">
                  <c:v>R.E.M.</c:v>
                </c:pt>
                <c:pt idx="5">
                  <c:v>Eric Clapton</c:v>
                </c:pt>
                <c:pt idx="6">
                  <c:v>AC/DC</c:v>
                </c:pt>
                <c:pt idx="7">
                  <c:v>Pearl Jam</c:v>
                </c:pt>
                <c:pt idx="8">
                  <c:v>Jimi Hendrix</c:v>
                </c:pt>
                <c:pt idx="9">
                  <c:v>The Doors</c:v>
                </c:pt>
              </c:strCache>
            </c:strRef>
          </c:cat>
          <c:val>
            <c:numRef>
              <c:f>Sheet1!$B$2:$B$11</c:f>
              <c:numCache>
                <c:formatCode>General</c:formatCode>
                <c:ptCount val="10"/>
                <c:pt idx="0">
                  <c:v>42.57</c:v>
                </c:pt>
                <c:pt idx="1">
                  <c:v>36.630000000000003</c:v>
                </c:pt>
                <c:pt idx="2">
                  <c:v>34.65</c:v>
                </c:pt>
                <c:pt idx="3">
                  <c:v>31.68</c:v>
                </c:pt>
                <c:pt idx="4">
                  <c:v>31.68</c:v>
                </c:pt>
                <c:pt idx="5">
                  <c:v>30.69</c:v>
                </c:pt>
                <c:pt idx="6">
                  <c:v>28.71</c:v>
                </c:pt>
                <c:pt idx="7">
                  <c:v>28.71</c:v>
                </c:pt>
                <c:pt idx="8">
                  <c:v>27.72</c:v>
                </c:pt>
                <c:pt idx="9">
                  <c:v>26.73</c:v>
                </c:pt>
              </c:numCache>
            </c:numRef>
          </c:val>
          <c:extLst>
            <c:ext xmlns:c16="http://schemas.microsoft.com/office/drawing/2014/chart" uri="{C3380CC4-5D6E-409C-BE32-E72D297353CC}">
              <c16:uniqueId val="{00000000-CBD5-48DA-91E9-B5C57DFC25F1}"/>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Avg CLV ($)</c:v>
                </c:pt>
              </c:strCache>
            </c:strRef>
          </c:tx>
          <c:spPr>
            <a:solidFill>
              <a:srgbClr val="2ECC71"/>
            </a:solidFill>
            <a:effectLst/>
          </c:spPr>
          <c:invertIfNegative val="0"/>
          <c:dPt>
            <c:idx val="0"/>
            <c:invertIfNegative val="0"/>
            <c:bubble3D val="0"/>
            <c:extLst>
              <c:ext xmlns:c16="http://schemas.microsoft.com/office/drawing/2014/chart" uri="{C3380CC4-5D6E-409C-BE32-E72D297353CC}">
                <c16:uniqueId val="{00000001-D10D-447F-93E6-72ECEB1533B2}"/>
              </c:ext>
            </c:extLst>
          </c:dPt>
          <c:dPt>
            <c:idx val="1"/>
            <c:invertIfNegative val="0"/>
            <c:bubble3D val="0"/>
            <c:spPr>
              <a:solidFill>
                <a:srgbClr val="3A7BD5"/>
              </a:solidFill>
              <a:effectLst/>
            </c:spPr>
            <c:extLst>
              <c:ext xmlns:c16="http://schemas.microsoft.com/office/drawing/2014/chart" uri="{C3380CC4-5D6E-409C-BE32-E72D297353CC}">
                <c16:uniqueId val="{00000003-D10D-447F-93E6-72ECEB1533B2}"/>
              </c:ext>
            </c:extLst>
          </c:dPt>
          <c:dPt>
            <c:idx val="2"/>
            <c:invertIfNegative val="0"/>
            <c:bubble3D val="0"/>
            <c:spPr>
              <a:solidFill>
                <a:srgbClr val="E05A44"/>
              </a:solidFill>
              <a:effectLst/>
            </c:spPr>
            <c:extLst>
              <c:ext xmlns:c16="http://schemas.microsoft.com/office/drawing/2014/chart" uri="{C3380CC4-5D6E-409C-BE32-E72D297353CC}">
                <c16:uniqueId val="{00000005-D10D-447F-93E6-72ECEB1533B2}"/>
              </c:ext>
            </c:extLst>
          </c:dPt>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 Value</c:v>
                </c:pt>
                <c:pt idx="1">
                  <c:v>Mid Value</c:v>
                </c:pt>
                <c:pt idx="2">
                  <c:v>Churned</c:v>
                </c:pt>
              </c:strCache>
            </c:strRef>
          </c:cat>
          <c:val>
            <c:numRef>
              <c:f>Sheet1!$B$2:$B$4</c:f>
              <c:numCache>
                <c:formatCode>General</c:formatCode>
                <c:ptCount val="3"/>
                <c:pt idx="0">
                  <c:v>87.93</c:v>
                </c:pt>
                <c:pt idx="1">
                  <c:v>73.05</c:v>
                </c:pt>
                <c:pt idx="2">
                  <c:v>71.61</c:v>
                </c:pt>
              </c:numCache>
            </c:numRef>
          </c:val>
          <c:extLst>
            <c:ext xmlns:c16="http://schemas.microsoft.com/office/drawing/2014/chart" uri="{C3380CC4-5D6E-409C-BE32-E72D297353CC}">
              <c16:uniqueId val="{00000006-D10D-447F-93E6-72ECEB1533B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Co-purchase Frequency</c:v>
                </c:pt>
              </c:strCache>
            </c:strRef>
          </c:tx>
          <c:spPr>
            <a:solidFill>
              <a:srgbClr val="1A1F3C"/>
            </a:solidFill>
            <a:effectLst/>
          </c:spPr>
          <c:invertIfNegative val="0"/>
          <c:dPt>
            <c:idx val="0"/>
            <c:invertIfNegative val="0"/>
            <c:bubble3D val="0"/>
            <c:extLst>
              <c:ext xmlns:c16="http://schemas.microsoft.com/office/drawing/2014/chart" uri="{C3380CC4-5D6E-409C-BE32-E72D297353CC}">
                <c16:uniqueId val="{00000001-FCA0-46C5-9871-2BEA3A9D73B3}"/>
              </c:ext>
            </c:extLst>
          </c:dPt>
          <c:dPt>
            <c:idx val="1"/>
            <c:invertIfNegative val="0"/>
            <c:bubble3D val="0"/>
            <c:spPr>
              <a:solidFill>
                <a:srgbClr val="2E3D6F"/>
              </a:solidFill>
              <a:effectLst/>
            </c:spPr>
            <c:extLst>
              <c:ext xmlns:c16="http://schemas.microsoft.com/office/drawing/2014/chart" uri="{C3380CC4-5D6E-409C-BE32-E72D297353CC}">
                <c16:uniqueId val="{00000003-FCA0-46C5-9871-2BEA3A9D73B3}"/>
              </c:ext>
            </c:extLst>
          </c:dPt>
          <c:dPt>
            <c:idx val="2"/>
            <c:invertIfNegative val="0"/>
            <c:bubble3D val="0"/>
            <c:spPr>
              <a:solidFill>
                <a:srgbClr val="8290A8"/>
              </a:solidFill>
              <a:effectLst/>
            </c:spPr>
            <c:extLst>
              <c:ext xmlns:c16="http://schemas.microsoft.com/office/drawing/2014/chart" uri="{C3380CC4-5D6E-409C-BE32-E72D297353CC}">
                <c16:uniqueId val="{00000005-FCA0-46C5-9871-2BEA3A9D73B3}"/>
              </c:ext>
            </c:extLst>
          </c:dPt>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Metal + Rock</c:v>
                </c:pt>
                <c:pt idx="1">
                  <c:v>Alt&amp;Punk + Rock</c:v>
                </c:pt>
                <c:pt idx="2">
                  <c:v>Alt&amp;Punk + Metal</c:v>
                </c:pt>
              </c:strCache>
            </c:strRef>
          </c:cat>
          <c:val>
            <c:numRef>
              <c:f>Sheet1!$B$2:$B$4</c:f>
              <c:numCache>
                <c:formatCode>General</c:formatCode>
                <c:ptCount val="3"/>
                <c:pt idx="0">
                  <c:v>268</c:v>
                </c:pt>
                <c:pt idx="1">
                  <c:v>202</c:v>
                </c:pt>
                <c:pt idx="2">
                  <c:v>144</c:v>
                </c:pt>
              </c:numCache>
            </c:numRef>
          </c:val>
          <c:extLst>
            <c:ext xmlns:c16="http://schemas.microsoft.com/office/drawing/2014/chart" uri="{C3380CC4-5D6E-409C-BE32-E72D297353CC}">
              <c16:uniqueId val="{00000006-FCA0-46C5-9871-2BEA3A9D73B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Revenue ($)</c:v>
                </c:pt>
              </c:strCache>
            </c:strRef>
          </c:tx>
          <c:spPr>
            <a:solidFill>
              <a:srgbClr val="F5A623"/>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USA</c:v>
                </c:pt>
                <c:pt idx="1">
                  <c:v>Canada</c:v>
                </c:pt>
                <c:pt idx="2">
                  <c:v>Brazil</c:v>
                </c:pt>
                <c:pt idx="3">
                  <c:v>France</c:v>
                </c:pt>
                <c:pt idx="4">
                  <c:v>Germany</c:v>
                </c:pt>
                <c:pt idx="5">
                  <c:v>Czech Rep.</c:v>
                </c:pt>
                <c:pt idx="6">
                  <c:v>UK</c:v>
                </c:pt>
                <c:pt idx="7">
                  <c:v>Portugal</c:v>
                </c:pt>
                <c:pt idx="8">
                  <c:v>India</c:v>
                </c:pt>
                <c:pt idx="9">
                  <c:v>Ireland</c:v>
                </c:pt>
              </c:strCache>
            </c:strRef>
          </c:cat>
          <c:val>
            <c:numRef>
              <c:f>Sheet1!$B$2:$B$11</c:f>
              <c:numCache>
                <c:formatCode>General</c:formatCode>
                <c:ptCount val="10"/>
                <c:pt idx="0">
                  <c:v>1040.49</c:v>
                </c:pt>
                <c:pt idx="1">
                  <c:v>535.59</c:v>
                </c:pt>
                <c:pt idx="2">
                  <c:v>427.68</c:v>
                </c:pt>
                <c:pt idx="3">
                  <c:v>389.07</c:v>
                </c:pt>
                <c:pt idx="4">
                  <c:v>334.62</c:v>
                </c:pt>
                <c:pt idx="5">
                  <c:v>273.24</c:v>
                </c:pt>
                <c:pt idx="6">
                  <c:v>245.52</c:v>
                </c:pt>
                <c:pt idx="7">
                  <c:v>185.13</c:v>
                </c:pt>
                <c:pt idx="8">
                  <c:v>183.15</c:v>
                </c:pt>
                <c:pt idx="9">
                  <c:v>114.84</c:v>
                </c:pt>
              </c:numCache>
            </c:numRef>
          </c:val>
          <c:extLst>
            <c:ext xmlns:c16="http://schemas.microsoft.com/office/drawing/2014/chart" uri="{C3380CC4-5D6E-409C-BE32-E72D297353CC}">
              <c16:uniqueId val="{00000000-D64B-4D8B-99BC-51B26C97AE35}"/>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601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txBody>
          <a:bodyPr/>
          <a:lstStyle/>
          <a:p>
            <a:endParaRPr lang="en-IN"/>
          </a:p>
        </p:txBody>
      </p:sp>
      <p:sp>
        <p:nvSpPr>
          <p:cNvPr id="3" name="Shape 1"/>
          <p:cNvSpPr/>
          <p:nvPr/>
        </p:nvSpPr>
        <p:spPr>
          <a:xfrm>
            <a:off x="6583680" y="0"/>
            <a:ext cx="2560320" cy="2194560"/>
          </a:xfrm>
          <a:prstGeom prst="rect">
            <a:avLst/>
          </a:prstGeom>
          <a:solidFill>
            <a:srgbClr val="2E3D6F"/>
          </a:solidFill>
          <a:ln/>
        </p:spPr>
        <p:txBody>
          <a:bodyPr/>
          <a:lstStyle/>
          <a:p>
            <a:endParaRPr lang="en-IN"/>
          </a:p>
        </p:txBody>
      </p:sp>
      <p:sp>
        <p:nvSpPr>
          <p:cNvPr id="4" name="Shape 2"/>
          <p:cNvSpPr/>
          <p:nvPr/>
        </p:nvSpPr>
        <p:spPr>
          <a:xfrm>
            <a:off x="7772400" y="0"/>
            <a:ext cx="1371600" cy="2194560"/>
          </a:xfrm>
          <a:prstGeom prst="rect">
            <a:avLst/>
          </a:prstGeom>
          <a:solidFill>
            <a:srgbClr val="F5A623"/>
          </a:solidFill>
          <a:ln/>
        </p:spPr>
        <p:txBody>
          <a:bodyPr/>
          <a:lstStyle/>
          <a:p>
            <a:endParaRPr lang="en-IN"/>
          </a:p>
        </p:txBody>
      </p:sp>
      <p:sp>
        <p:nvSpPr>
          <p:cNvPr id="5" name="Text 3"/>
          <p:cNvSpPr/>
          <p:nvPr/>
        </p:nvSpPr>
        <p:spPr>
          <a:xfrm>
            <a:off x="457200" y="320040"/>
            <a:ext cx="5943600" cy="411480"/>
          </a:xfrm>
          <a:prstGeom prst="rect">
            <a:avLst/>
          </a:prstGeom>
          <a:noFill/>
          <a:ln/>
        </p:spPr>
        <p:txBody>
          <a:bodyPr wrap="square" rtlCol="0" anchor="ctr"/>
          <a:lstStyle/>
          <a:p>
            <a:pPr marL="0" indent="0">
              <a:buNone/>
            </a:pPr>
            <a:r>
              <a:rPr lang="en-US" sz="1100" b="1" kern="0" spc="300" dirty="0">
                <a:solidFill>
                  <a:srgbClr val="F5A623"/>
                </a:solidFill>
                <a:latin typeface="Calibri" pitchFamily="34" charset="0"/>
                <a:ea typeface="Calibri" pitchFamily="34" charset="-122"/>
                <a:cs typeface="Calibri" pitchFamily="34" charset="-120"/>
              </a:rPr>
              <a:t>SQL Data Analysis Project</a:t>
            </a:r>
            <a:endParaRPr lang="en-US" sz="1100" dirty="0"/>
          </a:p>
        </p:txBody>
      </p:sp>
      <p:sp>
        <p:nvSpPr>
          <p:cNvPr id="6" name="Text 4"/>
          <p:cNvSpPr/>
          <p:nvPr/>
        </p:nvSpPr>
        <p:spPr>
          <a:xfrm>
            <a:off x="457200" y="777240"/>
            <a:ext cx="7772400" cy="91440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Chinook Music Store</a:t>
            </a:r>
            <a:endParaRPr lang="en-US" sz="4400" dirty="0"/>
          </a:p>
        </p:txBody>
      </p:sp>
      <p:sp>
        <p:nvSpPr>
          <p:cNvPr id="7" name="Text 5"/>
          <p:cNvSpPr/>
          <p:nvPr/>
        </p:nvSpPr>
        <p:spPr>
          <a:xfrm>
            <a:off x="457200" y="1645920"/>
            <a:ext cx="7772400" cy="594360"/>
          </a:xfrm>
          <a:prstGeom prst="rect">
            <a:avLst/>
          </a:prstGeom>
          <a:noFill/>
          <a:ln/>
        </p:spPr>
        <p:txBody>
          <a:bodyPr wrap="square" rtlCol="0" anchor="ctr"/>
          <a:lstStyle/>
          <a:p>
            <a:pPr marL="0" indent="0">
              <a:buNone/>
            </a:pPr>
            <a:r>
              <a:rPr lang="en-US" sz="2200" dirty="0">
                <a:solidFill>
                  <a:srgbClr val="F5A623"/>
                </a:solidFill>
                <a:latin typeface="Calibri" pitchFamily="34" charset="0"/>
                <a:ea typeface="Calibri" pitchFamily="34" charset="-122"/>
                <a:cs typeface="Calibri" pitchFamily="34" charset="-120"/>
              </a:rPr>
              <a:t>Data Analysis &amp; Business Insights</a:t>
            </a:r>
            <a:endParaRPr lang="en-US" sz="2200" dirty="0"/>
          </a:p>
        </p:txBody>
      </p:sp>
      <p:sp>
        <p:nvSpPr>
          <p:cNvPr id="8" name="Shape 6"/>
          <p:cNvSpPr/>
          <p:nvPr/>
        </p:nvSpPr>
        <p:spPr>
          <a:xfrm>
            <a:off x="457200" y="2331720"/>
            <a:ext cx="4114800" cy="36576"/>
          </a:xfrm>
          <a:prstGeom prst="rect">
            <a:avLst/>
          </a:prstGeom>
          <a:solidFill>
            <a:srgbClr val="8290A8"/>
          </a:solidFill>
          <a:ln/>
        </p:spPr>
        <p:txBody>
          <a:bodyPr/>
          <a:lstStyle/>
          <a:p>
            <a:endParaRPr lang="en-IN"/>
          </a:p>
        </p:txBody>
      </p:sp>
      <p:sp>
        <p:nvSpPr>
          <p:cNvPr id="9" name="Text 7"/>
          <p:cNvSpPr/>
          <p:nvPr/>
        </p:nvSpPr>
        <p:spPr>
          <a:xfrm>
            <a:off x="457200" y="2514600"/>
            <a:ext cx="7772400" cy="365760"/>
          </a:xfrm>
          <a:prstGeom prst="rect">
            <a:avLst/>
          </a:prstGeom>
          <a:noFill/>
          <a:ln/>
        </p:spPr>
        <p:txBody>
          <a:bodyPr wrap="square" rtlCol="0" anchor="ctr"/>
          <a:lstStyle/>
          <a:p>
            <a:pPr marL="0" indent="0">
              <a:buNone/>
            </a:pPr>
            <a:r>
              <a:rPr lang="en-US" sz="1300" i="1" dirty="0">
                <a:solidFill>
                  <a:srgbClr val="AABCE0"/>
                </a:solidFill>
                <a:latin typeface="Calibri" pitchFamily="34" charset="0"/>
                <a:ea typeface="Calibri" pitchFamily="34" charset="-122"/>
                <a:cs typeface="Calibri" pitchFamily="34" charset="-120"/>
              </a:rPr>
              <a:t>Customer Insights · Revenue Trends · Strategic Recommendations</a:t>
            </a:r>
            <a:endParaRPr lang="en-US" sz="1300" dirty="0"/>
          </a:p>
        </p:txBody>
      </p:sp>
      <p:sp>
        <p:nvSpPr>
          <p:cNvPr id="10" name="Text 8"/>
          <p:cNvSpPr/>
          <p:nvPr/>
        </p:nvSpPr>
        <p:spPr>
          <a:xfrm>
            <a:off x="457200" y="3931920"/>
            <a:ext cx="36576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Presented by  Urmila Palwal</a:t>
            </a:r>
            <a:endParaRPr lang="en-US" sz="1300" dirty="0"/>
          </a:p>
        </p:txBody>
      </p:sp>
      <p:sp>
        <p:nvSpPr>
          <p:cNvPr id="11" name="Text 9"/>
          <p:cNvSpPr/>
          <p:nvPr/>
        </p:nvSpPr>
        <p:spPr>
          <a:xfrm>
            <a:off x="457200" y="4251960"/>
            <a:ext cx="3657600" cy="274320"/>
          </a:xfrm>
          <a:prstGeom prst="rect">
            <a:avLst/>
          </a:prstGeom>
          <a:noFill/>
          <a:ln/>
        </p:spPr>
        <p:txBody>
          <a:bodyPr wrap="square" rtlCol="0" anchor="ctr"/>
          <a:lstStyle/>
          <a:p>
            <a:pPr marL="0" indent="0">
              <a:buNone/>
            </a:pPr>
            <a:r>
              <a:rPr lang="en-US" sz="1200" dirty="0">
                <a:solidFill>
                  <a:srgbClr val="8290A8"/>
                </a:solidFill>
                <a:latin typeface="Calibri" pitchFamily="34" charset="0"/>
                <a:ea typeface="Calibri" pitchFamily="34" charset="-122"/>
                <a:cs typeface="Calibri" pitchFamily="34" charset="-120"/>
              </a:rPr>
              <a:t>May 2026</a:t>
            </a:r>
            <a:endParaRPr lang="en-US" sz="1200" dirty="0"/>
          </a:p>
        </p:txBody>
      </p:sp>
      <p:sp>
        <p:nvSpPr>
          <p:cNvPr id="12" name="Shape 10"/>
          <p:cNvSpPr/>
          <p:nvPr/>
        </p:nvSpPr>
        <p:spPr>
          <a:xfrm>
            <a:off x="7680960" y="3200400"/>
            <a:ext cx="1645920" cy="1645920"/>
          </a:xfrm>
          <a:prstGeom prst="ellipse">
            <a:avLst/>
          </a:prstGeom>
          <a:solidFill>
            <a:srgbClr val="F5A623">
              <a:alpha val="20000"/>
            </a:srgbClr>
          </a:solidFill>
          <a:ln/>
        </p:spPr>
        <p:txBody>
          <a:bodyPr/>
          <a:lstStyle/>
          <a:p>
            <a:endParaRPr lang="en-IN"/>
          </a:p>
        </p:txBody>
      </p:sp>
      <p:sp>
        <p:nvSpPr>
          <p:cNvPr id="13" name="Shape 11"/>
          <p:cNvSpPr/>
          <p:nvPr/>
        </p:nvSpPr>
        <p:spPr>
          <a:xfrm>
            <a:off x="8138160" y="3657600"/>
            <a:ext cx="914400" cy="914400"/>
          </a:xfrm>
          <a:prstGeom prst="ellipse">
            <a:avLst/>
          </a:prstGeom>
          <a:solidFill>
            <a:srgbClr val="F5A623">
              <a:alpha val="50000"/>
            </a:srgbClr>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Problem Statement</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2</a:t>
            </a:r>
            <a:endParaRPr lang="en-US" sz="1300" dirty="0"/>
          </a:p>
        </p:txBody>
      </p:sp>
      <p:sp>
        <p:nvSpPr>
          <p:cNvPr id="5" name="Shape 3"/>
          <p:cNvSpPr/>
          <p:nvPr/>
        </p:nvSpPr>
        <p:spPr>
          <a:xfrm>
            <a:off x="365760" y="914400"/>
            <a:ext cx="1280160" cy="1280160"/>
          </a:xfrm>
          <a:prstGeom prst="ellipse">
            <a:avLst/>
          </a:prstGeom>
          <a:solidFill>
            <a:srgbClr val="F5A623"/>
          </a:solidFill>
          <a:ln/>
        </p:spPr>
        <p:txBody>
          <a:bodyPr/>
          <a:lstStyle/>
          <a:p>
            <a:endParaRPr lang="en-IN"/>
          </a:p>
        </p:txBody>
      </p:sp>
      <p:sp>
        <p:nvSpPr>
          <p:cNvPr id="6" name="Text 4"/>
          <p:cNvSpPr/>
          <p:nvPr/>
        </p:nvSpPr>
        <p:spPr>
          <a:xfrm>
            <a:off x="365760" y="914400"/>
            <a:ext cx="1280160" cy="128016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a:t>
            </a:r>
            <a:endParaRPr lang="en-US" sz="4800" dirty="0"/>
          </a:p>
        </p:txBody>
      </p:sp>
      <p:sp>
        <p:nvSpPr>
          <p:cNvPr id="7" name="Shape 5"/>
          <p:cNvSpPr/>
          <p:nvPr/>
        </p:nvSpPr>
        <p:spPr>
          <a:xfrm>
            <a:off x="1920240" y="777240"/>
            <a:ext cx="6949440" cy="155448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8" name="Text 6"/>
          <p:cNvSpPr/>
          <p:nvPr/>
        </p:nvSpPr>
        <p:spPr>
          <a:xfrm>
            <a:off x="2103120" y="868680"/>
            <a:ext cx="6583680" cy="411480"/>
          </a:xfrm>
          <a:prstGeom prst="rect">
            <a:avLst/>
          </a:prstGeom>
          <a:noFill/>
          <a:ln/>
        </p:spPr>
        <p:txBody>
          <a:bodyPr wrap="square" rtlCol="0" anchor="ctr"/>
          <a:lstStyle/>
          <a:p>
            <a:pPr marL="0" indent="0">
              <a:buNone/>
            </a:pPr>
            <a:r>
              <a:rPr lang="en-US" sz="1500" b="1" dirty="0">
                <a:solidFill>
                  <a:srgbClr val="E05A44"/>
                </a:solidFill>
                <a:latin typeface="Calibri" pitchFamily="34" charset="0"/>
                <a:ea typeface="Calibri" pitchFamily="34" charset="-122"/>
                <a:cs typeface="Calibri" pitchFamily="34" charset="-120"/>
              </a:rPr>
              <a:t>Business Challenge</a:t>
            </a:r>
            <a:endParaRPr lang="en-US" sz="1500" dirty="0"/>
          </a:p>
        </p:txBody>
      </p:sp>
      <p:sp>
        <p:nvSpPr>
          <p:cNvPr id="9" name="Text 7"/>
          <p:cNvSpPr/>
          <p:nvPr/>
        </p:nvSpPr>
        <p:spPr>
          <a:xfrm>
            <a:off x="2103120" y="1280160"/>
            <a:ext cx="6583680" cy="914400"/>
          </a:xfrm>
          <a:prstGeom prst="rect">
            <a:avLst/>
          </a:prstGeom>
          <a:noFill/>
          <a:ln/>
        </p:spPr>
        <p:txBody>
          <a:bodyPr wrap="square" rtlCol="0" anchor="ctr"/>
          <a:lstStyle/>
          <a:p>
            <a:pPr marL="0" indent="0">
              <a:buNone/>
            </a:pPr>
            <a:r>
              <a:rPr lang="en-US" sz="1300" dirty="0">
                <a:solidFill>
                  <a:srgbClr val="1A1F3C"/>
                </a:solidFill>
                <a:latin typeface="Calibri" pitchFamily="34" charset="0"/>
                <a:ea typeface="Calibri" pitchFamily="34" charset="-122"/>
                <a:cs typeface="Calibri" pitchFamily="34" charset="-120"/>
              </a:rPr>
              <a:t>You are hired as a data analyst at Chinook Music. Your objective is to analyze music record sales data to gain actionable insights and make strategic recommendations for the company's direction in the physical and digital music market.</a:t>
            </a:r>
            <a:endParaRPr lang="en-US" sz="1300" dirty="0"/>
          </a:p>
        </p:txBody>
      </p:sp>
      <p:sp>
        <p:nvSpPr>
          <p:cNvPr id="10" name="Shape 8"/>
          <p:cNvSpPr/>
          <p:nvPr/>
        </p:nvSpPr>
        <p:spPr>
          <a:xfrm>
            <a:off x="320040" y="2560320"/>
            <a:ext cx="2743200" cy="21945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1" name="Text 9"/>
          <p:cNvSpPr/>
          <p:nvPr/>
        </p:nvSpPr>
        <p:spPr>
          <a:xfrm>
            <a:off x="320040" y="2697480"/>
            <a:ext cx="274320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411480" y="3246120"/>
            <a:ext cx="2560320" cy="347472"/>
          </a:xfrm>
          <a:prstGeom prst="rect">
            <a:avLst/>
          </a:prstGeom>
          <a:noFill/>
          <a:ln/>
        </p:spPr>
        <p:txBody>
          <a:bodyPr wrap="square" rtlCol="0" anchor="ctr"/>
          <a:lstStyle/>
          <a:p>
            <a:pPr marL="0" indent="0" algn="ctr">
              <a:buNone/>
            </a:pPr>
            <a:r>
              <a:rPr lang="en-US" sz="1300" b="1" dirty="0">
                <a:solidFill>
                  <a:srgbClr val="1A1F3C"/>
                </a:solidFill>
                <a:latin typeface="Calibri" pitchFamily="34" charset="0"/>
                <a:ea typeface="Calibri" pitchFamily="34" charset="-122"/>
                <a:cs typeface="Calibri" pitchFamily="34" charset="-120"/>
              </a:rPr>
              <a:t>Analyze Sales</a:t>
            </a:r>
            <a:endParaRPr lang="en-US" sz="1300" dirty="0"/>
          </a:p>
        </p:txBody>
      </p:sp>
      <p:sp>
        <p:nvSpPr>
          <p:cNvPr id="13" name="Text 11"/>
          <p:cNvSpPr/>
          <p:nvPr/>
        </p:nvSpPr>
        <p:spPr>
          <a:xfrm>
            <a:off x="411480" y="3611880"/>
            <a:ext cx="2560320" cy="1005840"/>
          </a:xfrm>
          <a:prstGeom prst="rect">
            <a:avLst/>
          </a:prstGeom>
          <a:noFill/>
          <a:ln/>
        </p:spPr>
        <p:txBody>
          <a:bodyPr wrap="square" rtlCol="0" anchor="ctr"/>
          <a:lstStyle/>
          <a:p>
            <a:pPr marL="0" indent="0" algn="ctr">
              <a:buNone/>
            </a:pPr>
            <a:r>
              <a:rPr lang="en-US" sz="1100" dirty="0">
                <a:solidFill>
                  <a:srgbClr val="8290A8"/>
                </a:solidFill>
                <a:latin typeface="Calibri" pitchFamily="34" charset="0"/>
                <a:ea typeface="Calibri" pitchFamily="34" charset="-122"/>
                <a:cs typeface="Calibri" pitchFamily="34" charset="-120"/>
              </a:rPr>
              <a:t>Understand revenue patterns, top-selling genres, and regional performance</a:t>
            </a:r>
            <a:endParaRPr lang="en-US" sz="1100" dirty="0"/>
          </a:p>
        </p:txBody>
      </p:sp>
      <p:sp>
        <p:nvSpPr>
          <p:cNvPr id="14" name="Shape 12"/>
          <p:cNvSpPr/>
          <p:nvPr/>
        </p:nvSpPr>
        <p:spPr>
          <a:xfrm>
            <a:off x="3246120" y="2560320"/>
            <a:ext cx="2743200" cy="21945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5" name="Text 13"/>
          <p:cNvSpPr/>
          <p:nvPr/>
        </p:nvSpPr>
        <p:spPr>
          <a:xfrm>
            <a:off x="3246120" y="2697480"/>
            <a:ext cx="274320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3337560" y="3246120"/>
            <a:ext cx="2560320" cy="347472"/>
          </a:xfrm>
          <a:prstGeom prst="rect">
            <a:avLst/>
          </a:prstGeom>
          <a:noFill/>
          <a:ln/>
        </p:spPr>
        <p:txBody>
          <a:bodyPr wrap="square" rtlCol="0" anchor="ctr"/>
          <a:lstStyle/>
          <a:p>
            <a:pPr marL="0" indent="0" algn="ctr">
              <a:buNone/>
            </a:pPr>
            <a:r>
              <a:rPr lang="en-US" sz="1300" b="1" dirty="0">
                <a:solidFill>
                  <a:srgbClr val="1A1F3C"/>
                </a:solidFill>
                <a:latin typeface="Calibri" pitchFamily="34" charset="0"/>
                <a:ea typeface="Calibri" pitchFamily="34" charset="-122"/>
                <a:cs typeface="Calibri" pitchFamily="34" charset="-120"/>
              </a:rPr>
              <a:t>Profile Customers</a:t>
            </a:r>
            <a:endParaRPr lang="en-US" sz="1300" dirty="0"/>
          </a:p>
        </p:txBody>
      </p:sp>
      <p:sp>
        <p:nvSpPr>
          <p:cNvPr id="17" name="Text 15"/>
          <p:cNvSpPr/>
          <p:nvPr/>
        </p:nvSpPr>
        <p:spPr>
          <a:xfrm>
            <a:off x="3337560" y="3611880"/>
            <a:ext cx="2560320" cy="1005840"/>
          </a:xfrm>
          <a:prstGeom prst="rect">
            <a:avLst/>
          </a:prstGeom>
          <a:noFill/>
          <a:ln/>
        </p:spPr>
        <p:txBody>
          <a:bodyPr wrap="square" rtlCol="0" anchor="ctr"/>
          <a:lstStyle/>
          <a:p>
            <a:pPr marL="0" indent="0" algn="ctr">
              <a:buNone/>
            </a:pPr>
            <a:r>
              <a:rPr lang="en-US" sz="1100" dirty="0">
                <a:solidFill>
                  <a:srgbClr val="8290A8"/>
                </a:solidFill>
                <a:latin typeface="Calibri" pitchFamily="34" charset="0"/>
                <a:ea typeface="Calibri" pitchFamily="34" charset="-122"/>
                <a:cs typeface="Calibri" pitchFamily="34" charset="-120"/>
              </a:rPr>
              <a:t>Identify spending habits, churn rates, and customer lifetime value</a:t>
            </a:r>
            <a:endParaRPr lang="en-US" sz="1100" dirty="0"/>
          </a:p>
        </p:txBody>
      </p:sp>
      <p:sp>
        <p:nvSpPr>
          <p:cNvPr id="18" name="Shape 16"/>
          <p:cNvSpPr/>
          <p:nvPr/>
        </p:nvSpPr>
        <p:spPr>
          <a:xfrm>
            <a:off x="6172200" y="2560320"/>
            <a:ext cx="2743200" cy="21945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9" name="Text 17"/>
          <p:cNvSpPr/>
          <p:nvPr/>
        </p:nvSpPr>
        <p:spPr>
          <a:xfrm>
            <a:off x="6172200" y="2697480"/>
            <a:ext cx="274320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6263640" y="3246120"/>
            <a:ext cx="2560320" cy="347472"/>
          </a:xfrm>
          <a:prstGeom prst="rect">
            <a:avLst/>
          </a:prstGeom>
          <a:noFill/>
          <a:ln/>
        </p:spPr>
        <p:txBody>
          <a:bodyPr wrap="square" rtlCol="0" anchor="ctr"/>
          <a:lstStyle/>
          <a:p>
            <a:pPr marL="0" indent="0" algn="ctr">
              <a:buNone/>
            </a:pPr>
            <a:r>
              <a:rPr lang="en-US" sz="1300" b="1" dirty="0">
                <a:solidFill>
                  <a:srgbClr val="1A1F3C"/>
                </a:solidFill>
                <a:latin typeface="Calibri" pitchFamily="34" charset="0"/>
                <a:ea typeface="Calibri" pitchFamily="34" charset="-122"/>
                <a:cs typeface="Calibri" pitchFamily="34" charset="-120"/>
              </a:rPr>
              <a:t>Drive Strategy</a:t>
            </a:r>
            <a:endParaRPr lang="en-US" sz="1300" dirty="0"/>
          </a:p>
        </p:txBody>
      </p:sp>
      <p:sp>
        <p:nvSpPr>
          <p:cNvPr id="21" name="Text 19"/>
          <p:cNvSpPr/>
          <p:nvPr/>
        </p:nvSpPr>
        <p:spPr>
          <a:xfrm>
            <a:off x="6263640" y="3611880"/>
            <a:ext cx="2560320" cy="1005840"/>
          </a:xfrm>
          <a:prstGeom prst="rect">
            <a:avLst/>
          </a:prstGeom>
          <a:noFill/>
          <a:ln/>
        </p:spPr>
        <p:txBody>
          <a:bodyPr wrap="square" rtlCol="0" anchor="ctr"/>
          <a:lstStyle/>
          <a:p>
            <a:pPr marL="0" indent="0" algn="ctr">
              <a:buNone/>
            </a:pPr>
            <a:r>
              <a:rPr lang="en-US" sz="1100" dirty="0">
                <a:solidFill>
                  <a:srgbClr val="8290A8"/>
                </a:solidFill>
                <a:latin typeface="Calibri" pitchFamily="34" charset="0"/>
                <a:ea typeface="Calibri" pitchFamily="34" charset="-122"/>
                <a:cs typeface="Calibri" pitchFamily="34" charset="-120"/>
              </a:rPr>
              <a:t>Provide data-backed recommendations for marketing and product decisions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About Chinook Music</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3</a:t>
            </a:r>
            <a:endParaRPr lang="en-US" sz="1300" dirty="0"/>
          </a:p>
        </p:txBody>
      </p:sp>
      <p:sp>
        <p:nvSpPr>
          <p:cNvPr id="5" name="Shape 3"/>
          <p:cNvSpPr/>
          <p:nvPr/>
        </p:nvSpPr>
        <p:spPr>
          <a:xfrm>
            <a:off x="0" y="658368"/>
            <a:ext cx="3474720" cy="4480560"/>
          </a:xfrm>
          <a:prstGeom prst="rect">
            <a:avLst/>
          </a:prstGeom>
          <a:solidFill>
            <a:srgbClr val="1A1F3C"/>
          </a:solidFill>
          <a:ln/>
        </p:spPr>
        <p:txBody>
          <a:bodyPr/>
          <a:lstStyle/>
          <a:p>
            <a:endParaRPr lang="en-IN"/>
          </a:p>
        </p:txBody>
      </p:sp>
      <p:sp>
        <p:nvSpPr>
          <p:cNvPr id="6" name="Text 4"/>
          <p:cNvSpPr/>
          <p:nvPr/>
        </p:nvSpPr>
        <p:spPr>
          <a:xfrm>
            <a:off x="365760" y="1005840"/>
            <a:ext cx="2743200" cy="914400"/>
          </a:xfrm>
          <a:prstGeom prst="rect">
            <a:avLst/>
          </a:prstGeom>
          <a:noFill/>
          <a:ln/>
        </p:spPr>
        <p:txBody>
          <a:bodyPr wrap="square" rtlCol="0" anchor="ctr"/>
          <a:lstStyle/>
          <a:p>
            <a:pPr marL="0" indent="0" algn="ctr">
              <a:buNone/>
            </a:pPr>
            <a:r>
              <a:rPr lang="en-US" sz="5200" dirty="0">
                <a:solidFill>
                  <a:srgbClr val="000000"/>
                </a:solidFill>
                <a:latin typeface="Calibri" pitchFamily="34" charset="0"/>
                <a:ea typeface="Calibri" pitchFamily="34" charset="-122"/>
                <a:cs typeface="Calibri" pitchFamily="34" charset="-120"/>
              </a:rPr>
              <a:t>🎵</a:t>
            </a:r>
            <a:endParaRPr lang="en-US" sz="5200" dirty="0"/>
          </a:p>
        </p:txBody>
      </p:sp>
      <p:sp>
        <p:nvSpPr>
          <p:cNvPr id="7" name="Text 5"/>
          <p:cNvSpPr/>
          <p:nvPr/>
        </p:nvSpPr>
        <p:spPr>
          <a:xfrm>
            <a:off x="182880" y="2011680"/>
            <a:ext cx="3108960" cy="457200"/>
          </a:xfrm>
          <a:prstGeom prst="rect">
            <a:avLst/>
          </a:prstGeom>
          <a:noFill/>
          <a:ln/>
        </p:spPr>
        <p:txBody>
          <a:bodyPr wrap="square" rtlCol="0" anchor="ctr"/>
          <a:lstStyle/>
          <a:p>
            <a:pPr marL="0" indent="0" algn="ctr">
              <a:buNone/>
            </a:pPr>
            <a:r>
              <a:rPr lang="en-US" sz="1600" b="1" dirty="0">
                <a:solidFill>
                  <a:srgbClr val="F5A623"/>
                </a:solidFill>
                <a:latin typeface="Calibri" pitchFamily="34" charset="0"/>
                <a:ea typeface="Calibri" pitchFamily="34" charset="-122"/>
                <a:cs typeface="Calibri" pitchFamily="34" charset="-120"/>
              </a:rPr>
              <a:t>Chinook Music</a:t>
            </a:r>
            <a:endParaRPr lang="en-US" sz="1600" dirty="0"/>
          </a:p>
        </p:txBody>
      </p:sp>
      <p:sp>
        <p:nvSpPr>
          <p:cNvPr id="8" name="Text 6"/>
          <p:cNvSpPr/>
          <p:nvPr/>
        </p:nvSpPr>
        <p:spPr>
          <a:xfrm>
            <a:off x="182880" y="2514600"/>
            <a:ext cx="3108960" cy="320040"/>
          </a:xfrm>
          <a:prstGeom prst="rect">
            <a:avLst/>
          </a:prstGeom>
          <a:noFill/>
          <a:ln/>
        </p:spPr>
        <p:txBody>
          <a:bodyPr wrap="square" rtlCol="0" anchor="ctr"/>
          <a:lstStyle/>
          <a:p>
            <a:pPr marL="0" indent="0" algn="ctr">
              <a:buNone/>
            </a:pPr>
            <a:r>
              <a:rPr lang="en-US" sz="1000" dirty="0">
                <a:solidFill>
                  <a:srgbClr val="AABCE0"/>
                </a:solidFill>
                <a:latin typeface="Calibri" pitchFamily="34" charset="0"/>
                <a:ea typeface="Calibri" pitchFamily="34" charset="-122"/>
                <a:cs typeface="Calibri" pitchFamily="34" charset="-120"/>
              </a:rPr>
              <a:t>Est. 1995  ·  East Wenatchee, WA</a:t>
            </a:r>
            <a:endParaRPr lang="en-US" sz="1000" dirty="0"/>
          </a:p>
        </p:txBody>
      </p:sp>
      <p:sp>
        <p:nvSpPr>
          <p:cNvPr id="9" name="Shape 7"/>
          <p:cNvSpPr/>
          <p:nvPr/>
        </p:nvSpPr>
        <p:spPr>
          <a:xfrm>
            <a:off x="457200" y="2926080"/>
            <a:ext cx="2560320" cy="36576"/>
          </a:xfrm>
          <a:prstGeom prst="rect">
            <a:avLst/>
          </a:prstGeom>
          <a:solidFill>
            <a:srgbClr val="F5A623"/>
          </a:solidFill>
          <a:ln/>
        </p:spPr>
        <p:txBody>
          <a:bodyPr/>
          <a:lstStyle/>
          <a:p>
            <a:endParaRPr lang="en-IN"/>
          </a:p>
        </p:txBody>
      </p:sp>
      <p:sp>
        <p:nvSpPr>
          <p:cNvPr id="10" name="Shape 8"/>
          <p:cNvSpPr/>
          <p:nvPr/>
        </p:nvSpPr>
        <p:spPr>
          <a:xfrm>
            <a:off x="457200" y="3108960"/>
            <a:ext cx="2560320" cy="292608"/>
          </a:xfrm>
          <a:prstGeom prst="roundRect">
            <a:avLst>
              <a:gd name="adj" fmla="val 15625"/>
            </a:avLst>
          </a:prstGeom>
          <a:solidFill>
            <a:srgbClr val="2E3D6F"/>
          </a:solidFill>
          <a:ln/>
        </p:spPr>
        <p:txBody>
          <a:bodyPr/>
          <a:lstStyle/>
          <a:p>
            <a:endParaRPr lang="en-IN"/>
          </a:p>
        </p:txBody>
      </p:sp>
      <p:sp>
        <p:nvSpPr>
          <p:cNvPr id="11" name="Text 9"/>
          <p:cNvSpPr/>
          <p:nvPr/>
        </p:nvSpPr>
        <p:spPr>
          <a:xfrm>
            <a:off x="457200" y="3108960"/>
            <a:ext cx="2560320" cy="29260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Instruments</a:t>
            </a:r>
            <a:endParaRPr lang="en-US" sz="1100" dirty="0"/>
          </a:p>
        </p:txBody>
      </p:sp>
      <p:sp>
        <p:nvSpPr>
          <p:cNvPr id="12" name="Shape 10"/>
          <p:cNvSpPr/>
          <p:nvPr/>
        </p:nvSpPr>
        <p:spPr>
          <a:xfrm>
            <a:off x="457200" y="3474720"/>
            <a:ext cx="2560320" cy="292608"/>
          </a:xfrm>
          <a:prstGeom prst="roundRect">
            <a:avLst>
              <a:gd name="adj" fmla="val 15625"/>
            </a:avLst>
          </a:prstGeom>
          <a:solidFill>
            <a:srgbClr val="2E3D6F"/>
          </a:solidFill>
          <a:ln/>
        </p:spPr>
        <p:txBody>
          <a:bodyPr/>
          <a:lstStyle/>
          <a:p>
            <a:endParaRPr lang="en-IN"/>
          </a:p>
        </p:txBody>
      </p:sp>
      <p:sp>
        <p:nvSpPr>
          <p:cNvPr id="13" name="Text 11"/>
          <p:cNvSpPr/>
          <p:nvPr/>
        </p:nvSpPr>
        <p:spPr>
          <a:xfrm>
            <a:off x="457200" y="3474720"/>
            <a:ext cx="2560320" cy="29260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Rentals</a:t>
            </a:r>
            <a:endParaRPr lang="en-US" sz="1100" dirty="0"/>
          </a:p>
        </p:txBody>
      </p:sp>
      <p:sp>
        <p:nvSpPr>
          <p:cNvPr id="14" name="Shape 12"/>
          <p:cNvSpPr/>
          <p:nvPr/>
        </p:nvSpPr>
        <p:spPr>
          <a:xfrm>
            <a:off x="457200" y="3840480"/>
            <a:ext cx="2560320" cy="292608"/>
          </a:xfrm>
          <a:prstGeom prst="roundRect">
            <a:avLst>
              <a:gd name="adj" fmla="val 15625"/>
            </a:avLst>
          </a:prstGeom>
          <a:solidFill>
            <a:srgbClr val="2E3D6F"/>
          </a:solidFill>
          <a:ln/>
        </p:spPr>
        <p:txBody>
          <a:bodyPr/>
          <a:lstStyle/>
          <a:p>
            <a:endParaRPr lang="en-IN"/>
          </a:p>
        </p:txBody>
      </p:sp>
      <p:sp>
        <p:nvSpPr>
          <p:cNvPr id="15" name="Text 13"/>
          <p:cNvSpPr/>
          <p:nvPr/>
        </p:nvSpPr>
        <p:spPr>
          <a:xfrm>
            <a:off x="457200" y="3840480"/>
            <a:ext cx="2560320" cy="29260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Repairs</a:t>
            </a:r>
            <a:endParaRPr lang="en-US" sz="1100" dirty="0"/>
          </a:p>
        </p:txBody>
      </p:sp>
      <p:sp>
        <p:nvSpPr>
          <p:cNvPr id="16" name="Shape 14"/>
          <p:cNvSpPr/>
          <p:nvPr/>
        </p:nvSpPr>
        <p:spPr>
          <a:xfrm>
            <a:off x="457200" y="4206240"/>
            <a:ext cx="2560320" cy="292608"/>
          </a:xfrm>
          <a:prstGeom prst="roundRect">
            <a:avLst>
              <a:gd name="adj" fmla="val 15625"/>
            </a:avLst>
          </a:prstGeom>
          <a:solidFill>
            <a:srgbClr val="2E3D6F"/>
          </a:solidFill>
          <a:ln/>
        </p:spPr>
        <p:txBody>
          <a:bodyPr/>
          <a:lstStyle/>
          <a:p>
            <a:endParaRPr lang="en-IN"/>
          </a:p>
        </p:txBody>
      </p:sp>
      <p:sp>
        <p:nvSpPr>
          <p:cNvPr id="17" name="Text 15"/>
          <p:cNvSpPr/>
          <p:nvPr/>
        </p:nvSpPr>
        <p:spPr>
          <a:xfrm>
            <a:off x="457200" y="4206240"/>
            <a:ext cx="2560320" cy="29260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Lessons</a:t>
            </a:r>
            <a:endParaRPr lang="en-US" sz="1100" dirty="0"/>
          </a:p>
        </p:txBody>
      </p:sp>
      <p:sp>
        <p:nvSpPr>
          <p:cNvPr id="18" name="Shape 16"/>
          <p:cNvSpPr/>
          <p:nvPr/>
        </p:nvSpPr>
        <p:spPr>
          <a:xfrm>
            <a:off x="457200" y="4572000"/>
            <a:ext cx="2560320" cy="292608"/>
          </a:xfrm>
          <a:prstGeom prst="roundRect">
            <a:avLst>
              <a:gd name="adj" fmla="val 15625"/>
            </a:avLst>
          </a:prstGeom>
          <a:solidFill>
            <a:srgbClr val="2E3D6F"/>
          </a:solidFill>
          <a:ln/>
        </p:spPr>
        <p:txBody>
          <a:bodyPr/>
          <a:lstStyle/>
          <a:p>
            <a:endParaRPr lang="en-IN"/>
          </a:p>
        </p:txBody>
      </p:sp>
      <p:sp>
        <p:nvSpPr>
          <p:cNvPr id="19" name="Text 17"/>
          <p:cNvSpPr/>
          <p:nvPr/>
        </p:nvSpPr>
        <p:spPr>
          <a:xfrm>
            <a:off x="457200" y="4572000"/>
            <a:ext cx="2560320" cy="29260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All Genres</a:t>
            </a:r>
            <a:endParaRPr lang="en-US" sz="1100" dirty="0"/>
          </a:p>
        </p:txBody>
      </p:sp>
      <p:sp>
        <p:nvSpPr>
          <p:cNvPr id="20" name="Shape 18"/>
          <p:cNvSpPr/>
          <p:nvPr/>
        </p:nvSpPr>
        <p:spPr>
          <a:xfrm>
            <a:off x="3749040" y="822960"/>
            <a:ext cx="5120640" cy="12801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1" name="Shape 19"/>
          <p:cNvSpPr/>
          <p:nvPr/>
        </p:nvSpPr>
        <p:spPr>
          <a:xfrm>
            <a:off x="3749040" y="822960"/>
            <a:ext cx="109728" cy="1280160"/>
          </a:xfrm>
          <a:prstGeom prst="rect">
            <a:avLst/>
          </a:prstGeom>
          <a:solidFill>
            <a:srgbClr val="F5A623"/>
          </a:solidFill>
          <a:ln/>
        </p:spPr>
        <p:txBody>
          <a:bodyPr/>
          <a:lstStyle/>
          <a:p>
            <a:endParaRPr lang="en-IN"/>
          </a:p>
        </p:txBody>
      </p:sp>
      <p:sp>
        <p:nvSpPr>
          <p:cNvPr id="22" name="Text 20"/>
          <p:cNvSpPr/>
          <p:nvPr/>
        </p:nvSpPr>
        <p:spPr>
          <a:xfrm>
            <a:off x="3977640" y="914400"/>
            <a:ext cx="475488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Who We Are</a:t>
            </a:r>
            <a:endParaRPr lang="en-US" sz="1300" dirty="0"/>
          </a:p>
        </p:txBody>
      </p:sp>
      <p:sp>
        <p:nvSpPr>
          <p:cNvPr id="23" name="Text 21"/>
          <p:cNvSpPr/>
          <p:nvPr/>
        </p:nvSpPr>
        <p:spPr>
          <a:xfrm>
            <a:off x="3977640" y="1261872"/>
            <a:ext cx="4754880" cy="731520"/>
          </a:xfrm>
          <a:prstGeom prst="rect">
            <a:avLst/>
          </a:prstGeom>
          <a:noFill/>
          <a:ln/>
        </p:spPr>
        <p:txBody>
          <a:bodyPr wrap="square" rtlCol="0" anchor="ctr"/>
          <a:lstStyle/>
          <a:p>
            <a:pPr marL="0" indent="0">
              <a:buNone/>
            </a:pPr>
            <a:r>
              <a:rPr lang="en-US" sz="1150" dirty="0">
                <a:solidFill>
                  <a:srgbClr val="8290A8"/>
                </a:solidFill>
                <a:latin typeface="Calibri" pitchFamily="34" charset="0"/>
                <a:ea typeface="Calibri" pitchFamily="34" charset="-122"/>
                <a:cs typeface="Calibri" pitchFamily="34" charset="-120"/>
              </a:rPr>
              <a:t>A full-service music store established in 1995, serving musicians of all skill levels across diverse genres — from beginners to professionals.</a:t>
            </a:r>
            <a:endParaRPr lang="en-US" sz="1150" dirty="0"/>
          </a:p>
        </p:txBody>
      </p:sp>
      <p:sp>
        <p:nvSpPr>
          <p:cNvPr id="24" name="Shape 22"/>
          <p:cNvSpPr/>
          <p:nvPr/>
        </p:nvSpPr>
        <p:spPr>
          <a:xfrm>
            <a:off x="3749040" y="2212848"/>
            <a:ext cx="5120640" cy="12801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5" name="Shape 23"/>
          <p:cNvSpPr/>
          <p:nvPr/>
        </p:nvSpPr>
        <p:spPr>
          <a:xfrm>
            <a:off x="3749040" y="2212848"/>
            <a:ext cx="109728" cy="1280160"/>
          </a:xfrm>
          <a:prstGeom prst="rect">
            <a:avLst/>
          </a:prstGeom>
          <a:solidFill>
            <a:srgbClr val="F5A623"/>
          </a:solidFill>
          <a:ln/>
        </p:spPr>
        <p:txBody>
          <a:bodyPr/>
          <a:lstStyle/>
          <a:p>
            <a:endParaRPr lang="en-IN"/>
          </a:p>
        </p:txBody>
      </p:sp>
      <p:sp>
        <p:nvSpPr>
          <p:cNvPr id="26" name="Text 24"/>
          <p:cNvSpPr/>
          <p:nvPr/>
        </p:nvSpPr>
        <p:spPr>
          <a:xfrm>
            <a:off x="3977640" y="2304288"/>
            <a:ext cx="475488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What We Offer</a:t>
            </a:r>
            <a:endParaRPr lang="en-US" sz="1300" dirty="0"/>
          </a:p>
        </p:txBody>
      </p:sp>
      <p:sp>
        <p:nvSpPr>
          <p:cNvPr id="27" name="Text 25"/>
          <p:cNvSpPr/>
          <p:nvPr/>
        </p:nvSpPr>
        <p:spPr>
          <a:xfrm>
            <a:off x="3977640" y="2651760"/>
            <a:ext cx="4754880" cy="731520"/>
          </a:xfrm>
          <a:prstGeom prst="rect">
            <a:avLst/>
          </a:prstGeom>
          <a:noFill/>
          <a:ln/>
        </p:spPr>
        <p:txBody>
          <a:bodyPr wrap="square" rtlCol="0" anchor="ctr"/>
          <a:lstStyle/>
          <a:p>
            <a:pPr marL="0" indent="0">
              <a:buNone/>
            </a:pPr>
            <a:r>
              <a:rPr lang="en-US" sz="1150" dirty="0">
                <a:solidFill>
                  <a:srgbClr val="8290A8"/>
                </a:solidFill>
                <a:latin typeface="Calibri" pitchFamily="34" charset="0"/>
                <a:ea typeface="Calibri" pitchFamily="34" charset="-122"/>
                <a:cs typeface="Calibri" pitchFamily="34" charset="-120"/>
              </a:rPr>
              <a:t>Instruments for purchase or rental, accessories, expert repair services, and personalized music lessons tailored to each customer's needs.</a:t>
            </a:r>
            <a:endParaRPr lang="en-US" sz="1150" dirty="0"/>
          </a:p>
        </p:txBody>
      </p:sp>
      <p:sp>
        <p:nvSpPr>
          <p:cNvPr id="28" name="Shape 26"/>
          <p:cNvSpPr/>
          <p:nvPr/>
        </p:nvSpPr>
        <p:spPr>
          <a:xfrm>
            <a:off x="3749040" y="3602736"/>
            <a:ext cx="5120640" cy="12801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9" name="Shape 27"/>
          <p:cNvSpPr/>
          <p:nvPr/>
        </p:nvSpPr>
        <p:spPr>
          <a:xfrm>
            <a:off x="3749040" y="3602736"/>
            <a:ext cx="109728" cy="1280160"/>
          </a:xfrm>
          <a:prstGeom prst="rect">
            <a:avLst/>
          </a:prstGeom>
          <a:solidFill>
            <a:srgbClr val="F5A623"/>
          </a:solidFill>
          <a:ln/>
        </p:spPr>
        <p:txBody>
          <a:bodyPr/>
          <a:lstStyle/>
          <a:p>
            <a:endParaRPr lang="en-IN"/>
          </a:p>
        </p:txBody>
      </p:sp>
      <p:sp>
        <p:nvSpPr>
          <p:cNvPr id="30" name="Text 28"/>
          <p:cNvSpPr/>
          <p:nvPr/>
        </p:nvSpPr>
        <p:spPr>
          <a:xfrm>
            <a:off x="3977640" y="3694176"/>
            <a:ext cx="475488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Our Mission</a:t>
            </a:r>
            <a:endParaRPr lang="en-US" sz="1300" dirty="0"/>
          </a:p>
        </p:txBody>
      </p:sp>
      <p:sp>
        <p:nvSpPr>
          <p:cNvPr id="31" name="Text 29"/>
          <p:cNvSpPr/>
          <p:nvPr/>
        </p:nvSpPr>
        <p:spPr>
          <a:xfrm>
            <a:off x="3977640" y="4041648"/>
            <a:ext cx="4754880" cy="731520"/>
          </a:xfrm>
          <a:prstGeom prst="rect">
            <a:avLst/>
          </a:prstGeom>
          <a:noFill/>
          <a:ln/>
        </p:spPr>
        <p:txBody>
          <a:bodyPr wrap="square" rtlCol="0" anchor="ctr"/>
          <a:lstStyle/>
          <a:p>
            <a:pPr marL="0" indent="0">
              <a:buNone/>
            </a:pPr>
            <a:r>
              <a:rPr lang="en-US" sz="1150" dirty="0">
                <a:solidFill>
                  <a:srgbClr val="8290A8"/>
                </a:solidFill>
                <a:latin typeface="Calibri" pitchFamily="34" charset="0"/>
                <a:ea typeface="Calibri" pitchFamily="34" charset="-122"/>
                <a:cs typeface="Calibri" pitchFamily="34" charset="-120"/>
              </a:rPr>
              <a:t>Supporting musical growth, enriching the local and global music community through dedicated service, quality products, and long-term customer relationships.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How Chinook Music Operates</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4</a:t>
            </a:r>
            <a:endParaRPr lang="en-US" sz="1300" dirty="0"/>
          </a:p>
        </p:txBody>
      </p:sp>
      <p:sp>
        <p:nvSpPr>
          <p:cNvPr id="5" name="Shape 3"/>
          <p:cNvSpPr/>
          <p:nvPr/>
        </p:nvSpPr>
        <p:spPr>
          <a:xfrm>
            <a:off x="320040" y="822960"/>
            <a:ext cx="2011680" cy="39319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868680" y="914400"/>
            <a:ext cx="914400" cy="914400"/>
          </a:xfrm>
          <a:prstGeom prst="ellipse">
            <a:avLst/>
          </a:prstGeom>
          <a:solidFill>
            <a:srgbClr val="F5A623"/>
          </a:solidFill>
          <a:ln/>
        </p:spPr>
        <p:txBody>
          <a:bodyPr/>
          <a:lstStyle/>
          <a:p>
            <a:endParaRPr lang="en-IN"/>
          </a:p>
        </p:txBody>
      </p:sp>
      <p:sp>
        <p:nvSpPr>
          <p:cNvPr id="7" name="Text 5"/>
          <p:cNvSpPr/>
          <p:nvPr/>
        </p:nvSpPr>
        <p:spPr>
          <a:xfrm>
            <a:off x="868680" y="914400"/>
            <a:ext cx="914400" cy="9144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411480" y="1965960"/>
            <a:ext cx="1828800" cy="50292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457200" y="2560320"/>
            <a:ext cx="1737360" cy="27432"/>
          </a:xfrm>
          <a:prstGeom prst="rect">
            <a:avLst/>
          </a:prstGeom>
          <a:solidFill>
            <a:srgbClr val="F5A623"/>
          </a:solidFill>
          <a:ln/>
        </p:spPr>
        <p:txBody>
          <a:bodyPr/>
          <a:lstStyle/>
          <a:p>
            <a:endParaRPr lang="en-IN"/>
          </a:p>
        </p:txBody>
      </p:sp>
      <p:sp>
        <p:nvSpPr>
          <p:cNvPr id="10" name="Text 8"/>
          <p:cNvSpPr/>
          <p:nvPr/>
        </p:nvSpPr>
        <p:spPr>
          <a:xfrm>
            <a:off x="411480" y="2651760"/>
            <a:ext cx="1828800" cy="502920"/>
          </a:xfrm>
          <a:prstGeom prst="rect">
            <a:avLst/>
          </a:prstGeom>
          <a:noFill/>
          <a:ln/>
        </p:spPr>
        <p:txBody>
          <a:bodyPr wrap="square" rtlCol="0" anchor="ctr"/>
          <a:lstStyle/>
          <a:p>
            <a:pPr marL="0" indent="0" algn="ctr">
              <a:buNone/>
            </a:pPr>
            <a:r>
              <a:rPr lang="en-US" sz="1200" b="1" dirty="0">
                <a:solidFill>
                  <a:srgbClr val="1A1F3C"/>
                </a:solidFill>
                <a:latin typeface="Calibri" pitchFamily="34" charset="0"/>
                <a:ea typeface="Calibri" pitchFamily="34" charset="-122"/>
                <a:cs typeface="Calibri" pitchFamily="34" charset="-120"/>
              </a:rPr>
              <a:t>Browse &amp; Select</a:t>
            </a:r>
            <a:endParaRPr lang="en-US" sz="1200" dirty="0"/>
          </a:p>
        </p:txBody>
      </p:sp>
      <p:sp>
        <p:nvSpPr>
          <p:cNvPr id="11" name="Text 9"/>
          <p:cNvSpPr/>
          <p:nvPr/>
        </p:nvSpPr>
        <p:spPr>
          <a:xfrm>
            <a:off x="411480" y="3200400"/>
            <a:ext cx="1828800" cy="1371600"/>
          </a:xfrm>
          <a:prstGeom prst="rect">
            <a:avLst/>
          </a:prstGeom>
          <a:noFill/>
          <a:ln/>
        </p:spPr>
        <p:txBody>
          <a:bodyPr wrap="square" rtlCol="0" anchor="ctr"/>
          <a:lstStyle/>
          <a:p>
            <a:pPr marL="0" indent="0" algn="ctr">
              <a:buNone/>
            </a:pPr>
            <a:r>
              <a:rPr lang="en-US" sz="1050" dirty="0">
                <a:solidFill>
                  <a:srgbClr val="8290A8"/>
                </a:solidFill>
                <a:latin typeface="Calibri" pitchFamily="34" charset="0"/>
                <a:ea typeface="Calibri" pitchFamily="34" charset="-122"/>
                <a:cs typeface="Calibri" pitchFamily="34" charset="-120"/>
              </a:rPr>
              <a:t>Customers explore instruments, accessories, and rentals online or in-store</a:t>
            </a:r>
            <a:endParaRPr lang="en-US" sz="1050" dirty="0"/>
          </a:p>
        </p:txBody>
      </p:sp>
      <p:sp>
        <p:nvSpPr>
          <p:cNvPr id="12" name="Shape 10"/>
          <p:cNvSpPr/>
          <p:nvPr/>
        </p:nvSpPr>
        <p:spPr>
          <a:xfrm>
            <a:off x="2331720" y="2011680"/>
            <a:ext cx="182880" cy="36576"/>
          </a:xfrm>
          <a:prstGeom prst="rect">
            <a:avLst/>
          </a:prstGeom>
          <a:solidFill>
            <a:srgbClr val="F5A623"/>
          </a:solidFill>
          <a:ln/>
        </p:spPr>
        <p:txBody>
          <a:bodyPr/>
          <a:lstStyle/>
          <a:p>
            <a:endParaRPr lang="en-IN"/>
          </a:p>
        </p:txBody>
      </p:sp>
      <p:sp>
        <p:nvSpPr>
          <p:cNvPr id="13" name="Shape 11"/>
          <p:cNvSpPr/>
          <p:nvPr/>
        </p:nvSpPr>
        <p:spPr>
          <a:xfrm>
            <a:off x="2514600" y="822960"/>
            <a:ext cx="2011680" cy="39319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3063240" y="914400"/>
            <a:ext cx="914400" cy="914400"/>
          </a:xfrm>
          <a:prstGeom prst="ellipse">
            <a:avLst/>
          </a:prstGeom>
          <a:solidFill>
            <a:srgbClr val="F5A623"/>
          </a:solidFill>
          <a:ln/>
        </p:spPr>
        <p:txBody>
          <a:bodyPr/>
          <a:lstStyle/>
          <a:p>
            <a:endParaRPr lang="en-IN"/>
          </a:p>
        </p:txBody>
      </p:sp>
      <p:sp>
        <p:nvSpPr>
          <p:cNvPr id="15" name="Text 13"/>
          <p:cNvSpPr/>
          <p:nvPr/>
        </p:nvSpPr>
        <p:spPr>
          <a:xfrm>
            <a:off x="3063240" y="914400"/>
            <a:ext cx="914400" cy="9144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2606040" y="1965960"/>
            <a:ext cx="1828800" cy="50292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7" name="Shape 15"/>
          <p:cNvSpPr/>
          <p:nvPr/>
        </p:nvSpPr>
        <p:spPr>
          <a:xfrm>
            <a:off x="2651760" y="2560320"/>
            <a:ext cx="1737360" cy="27432"/>
          </a:xfrm>
          <a:prstGeom prst="rect">
            <a:avLst/>
          </a:prstGeom>
          <a:solidFill>
            <a:srgbClr val="F5A623"/>
          </a:solidFill>
          <a:ln/>
        </p:spPr>
        <p:txBody>
          <a:bodyPr/>
          <a:lstStyle/>
          <a:p>
            <a:endParaRPr lang="en-IN"/>
          </a:p>
        </p:txBody>
      </p:sp>
      <p:sp>
        <p:nvSpPr>
          <p:cNvPr id="18" name="Text 16"/>
          <p:cNvSpPr/>
          <p:nvPr/>
        </p:nvSpPr>
        <p:spPr>
          <a:xfrm>
            <a:off x="2606040" y="2651760"/>
            <a:ext cx="1828800" cy="502920"/>
          </a:xfrm>
          <a:prstGeom prst="rect">
            <a:avLst/>
          </a:prstGeom>
          <a:noFill/>
          <a:ln/>
        </p:spPr>
        <p:txBody>
          <a:bodyPr wrap="square" rtlCol="0" anchor="ctr"/>
          <a:lstStyle/>
          <a:p>
            <a:pPr marL="0" indent="0" algn="ctr">
              <a:buNone/>
            </a:pPr>
            <a:r>
              <a:rPr lang="en-US" sz="1200" b="1" dirty="0">
                <a:solidFill>
                  <a:srgbClr val="1A1F3C"/>
                </a:solidFill>
                <a:latin typeface="Calibri" pitchFamily="34" charset="0"/>
                <a:ea typeface="Calibri" pitchFamily="34" charset="-122"/>
                <a:cs typeface="Calibri" pitchFamily="34" charset="-120"/>
              </a:rPr>
              <a:t>Rent or Purchase</a:t>
            </a:r>
            <a:endParaRPr lang="en-US" sz="1200" dirty="0"/>
          </a:p>
        </p:txBody>
      </p:sp>
      <p:sp>
        <p:nvSpPr>
          <p:cNvPr id="19" name="Text 17"/>
          <p:cNvSpPr/>
          <p:nvPr/>
        </p:nvSpPr>
        <p:spPr>
          <a:xfrm>
            <a:off x="2606040" y="3200400"/>
            <a:ext cx="1828800" cy="1371600"/>
          </a:xfrm>
          <a:prstGeom prst="rect">
            <a:avLst/>
          </a:prstGeom>
          <a:noFill/>
          <a:ln/>
        </p:spPr>
        <p:txBody>
          <a:bodyPr wrap="square" rtlCol="0" anchor="ctr"/>
          <a:lstStyle/>
          <a:p>
            <a:pPr marL="0" indent="0" algn="ctr">
              <a:buNone/>
            </a:pPr>
            <a:r>
              <a:rPr lang="en-US" sz="1050" dirty="0">
                <a:solidFill>
                  <a:srgbClr val="8290A8"/>
                </a:solidFill>
                <a:latin typeface="Calibri" pitchFamily="34" charset="0"/>
                <a:ea typeface="Calibri" pitchFamily="34" charset="-122"/>
                <a:cs typeface="Calibri" pitchFamily="34" charset="-120"/>
              </a:rPr>
              <a:t>Instruments and equipment rented or bought; accessories sold directly</a:t>
            </a:r>
            <a:endParaRPr lang="en-US" sz="1050" dirty="0"/>
          </a:p>
        </p:txBody>
      </p:sp>
      <p:sp>
        <p:nvSpPr>
          <p:cNvPr id="20" name="Shape 18"/>
          <p:cNvSpPr/>
          <p:nvPr/>
        </p:nvSpPr>
        <p:spPr>
          <a:xfrm>
            <a:off x="4526280" y="2011680"/>
            <a:ext cx="182880" cy="36576"/>
          </a:xfrm>
          <a:prstGeom prst="rect">
            <a:avLst/>
          </a:prstGeom>
          <a:solidFill>
            <a:srgbClr val="F5A623"/>
          </a:solidFill>
          <a:ln/>
        </p:spPr>
        <p:txBody>
          <a:bodyPr/>
          <a:lstStyle/>
          <a:p>
            <a:endParaRPr lang="en-IN"/>
          </a:p>
        </p:txBody>
      </p:sp>
      <p:sp>
        <p:nvSpPr>
          <p:cNvPr id="21" name="Shape 19"/>
          <p:cNvSpPr/>
          <p:nvPr/>
        </p:nvSpPr>
        <p:spPr>
          <a:xfrm>
            <a:off x="4709160" y="822960"/>
            <a:ext cx="2011680" cy="39319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2" name="Shape 20"/>
          <p:cNvSpPr/>
          <p:nvPr/>
        </p:nvSpPr>
        <p:spPr>
          <a:xfrm>
            <a:off x="5257800" y="914400"/>
            <a:ext cx="914400" cy="914400"/>
          </a:xfrm>
          <a:prstGeom prst="ellipse">
            <a:avLst/>
          </a:prstGeom>
          <a:solidFill>
            <a:srgbClr val="F5A623"/>
          </a:solidFill>
          <a:ln/>
        </p:spPr>
        <p:txBody>
          <a:bodyPr/>
          <a:lstStyle/>
          <a:p>
            <a:endParaRPr lang="en-IN"/>
          </a:p>
        </p:txBody>
      </p:sp>
      <p:sp>
        <p:nvSpPr>
          <p:cNvPr id="23" name="Text 21"/>
          <p:cNvSpPr/>
          <p:nvPr/>
        </p:nvSpPr>
        <p:spPr>
          <a:xfrm>
            <a:off x="5257800" y="914400"/>
            <a:ext cx="914400" cy="9144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4" name="Text 22"/>
          <p:cNvSpPr/>
          <p:nvPr/>
        </p:nvSpPr>
        <p:spPr>
          <a:xfrm>
            <a:off x="4800600" y="1965960"/>
            <a:ext cx="1828800" cy="50292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5" name="Shape 23"/>
          <p:cNvSpPr/>
          <p:nvPr/>
        </p:nvSpPr>
        <p:spPr>
          <a:xfrm>
            <a:off x="4846320" y="2560320"/>
            <a:ext cx="1737360" cy="27432"/>
          </a:xfrm>
          <a:prstGeom prst="rect">
            <a:avLst/>
          </a:prstGeom>
          <a:solidFill>
            <a:srgbClr val="F5A623"/>
          </a:solidFill>
          <a:ln/>
        </p:spPr>
        <p:txBody>
          <a:bodyPr/>
          <a:lstStyle/>
          <a:p>
            <a:endParaRPr lang="en-IN"/>
          </a:p>
        </p:txBody>
      </p:sp>
      <p:sp>
        <p:nvSpPr>
          <p:cNvPr id="26" name="Text 24"/>
          <p:cNvSpPr/>
          <p:nvPr/>
        </p:nvSpPr>
        <p:spPr>
          <a:xfrm>
            <a:off x="4800600" y="2651760"/>
            <a:ext cx="1828800" cy="502920"/>
          </a:xfrm>
          <a:prstGeom prst="rect">
            <a:avLst/>
          </a:prstGeom>
          <a:noFill/>
          <a:ln/>
        </p:spPr>
        <p:txBody>
          <a:bodyPr wrap="square" rtlCol="0" anchor="ctr"/>
          <a:lstStyle/>
          <a:p>
            <a:pPr marL="0" indent="0" algn="ctr">
              <a:buNone/>
            </a:pPr>
            <a:r>
              <a:rPr lang="en-US" sz="1200" b="1" dirty="0">
                <a:solidFill>
                  <a:srgbClr val="1A1F3C"/>
                </a:solidFill>
                <a:latin typeface="Calibri" pitchFamily="34" charset="0"/>
                <a:ea typeface="Calibri" pitchFamily="34" charset="-122"/>
                <a:cs typeface="Calibri" pitchFamily="34" charset="-120"/>
              </a:rPr>
              <a:t>Expert Support</a:t>
            </a:r>
            <a:endParaRPr lang="en-US" sz="1200" dirty="0"/>
          </a:p>
        </p:txBody>
      </p:sp>
      <p:sp>
        <p:nvSpPr>
          <p:cNvPr id="27" name="Text 25"/>
          <p:cNvSpPr/>
          <p:nvPr/>
        </p:nvSpPr>
        <p:spPr>
          <a:xfrm>
            <a:off x="4800600" y="3200400"/>
            <a:ext cx="1828800" cy="1371600"/>
          </a:xfrm>
          <a:prstGeom prst="rect">
            <a:avLst/>
          </a:prstGeom>
          <a:noFill/>
          <a:ln/>
        </p:spPr>
        <p:txBody>
          <a:bodyPr wrap="square" rtlCol="0" anchor="ctr"/>
          <a:lstStyle/>
          <a:p>
            <a:pPr marL="0" indent="0" algn="ctr">
              <a:buNone/>
            </a:pPr>
            <a:r>
              <a:rPr lang="en-US" sz="1050" dirty="0">
                <a:solidFill>
                  <a:srgbClr val="8290A8"/>
                </a:solidFill>
                <a:latin typeface="Calibri" pitchFamily="34" charset="0"/>
                <a:ea typeface="Calibri" pitchFamily="34" charset="-122"/>
                <a:cs typeface="Calibri" pitchFamily="34" charset="-120"/>
              </a:rPr>
              <a:t>Staff provide guidance, lessons, and repair services to enhance experience</a:t>
            </a:r>
            <a:endParaRPr lang="en-US" sz="1050" dirty="0"/>
          </a:p>
        </p:txBody>
      </p:sp>
      <p:sp>
        <p:nvSpPr>
          <p:cNvPr id="28" name="Shape 26"/>
          <p:cNvSpPr/>
          <p:nvPr/>
        </p:nvSpPr>
        <p:spPr>
          <a:xfrm>
            <a:off x="6720840" y="2011680"/>
            <a:ext cx="182880" cy="36576"/>
          </a:xfrm>
          <a:prstGeom prst="rect">
            <a:avLst/>
          </a:prstGeom>
          <a:solidFill>
            <a:srgbClr val="F5A623"/>
          </a:solidFill>
          <a:ln/>
        </p:spPr>
        <p:txBody>
          <a:bodyPr/>
          <a:lstStyle/>
          <a:p>
            <a:endParaRPr lang="en-IN"/>
          </a:p>
        </p:txBody>
      </p:sp>
      <p:sp>
        <p:nvSpPr>
          <p:cNvPr id="29" name="Shape 27"/>
          <p:cNvSpPr/>
          <p:nvPr/>
        </p:nvSpPr>
        <p:spPr>
          <a:xfrm>
            <a:off x="6903720" y="822960"/>
            <a:ext cx="2011680" cy="39319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30" name="Shape 28"/>
          <p:cNvSpPr/>
          <p:nvPr/>
        </p:nvSpPr>
        <p:spPr>
          <a:xfrm>
            <a:off x="7452360" y="914400"/>
            <a:ext cx="914400" cy="914400"/>
          </a:xfrm>
          <a:prstGeom prst="ellipse">
            <a:avLst/>
          </a:prstGeom>
          <a:solidFill>
            <a:srgbClr val="F5A623"/>
          </a:solidFill>
          <a:ln/>
        </p:spPr>
        <p:txBody>
          <a:bodyPr/>
          <a:lstStyle/>
          <a:p>
            <a:endParaRPr lang="en-IN"/>
          </a:p>
        </p:txBody>
      </p:sp>
      <p:sp>
        <p:nvSpPr>
          <p:cNvPr id="31" name="Text 29"/>
          <p:cNvSpPr/>
          <p:nvPr/>
        </p:nvSpPr>
        <p:spPr>
          <a:xfrm>
            <a:off x="7452360" y="914400"/>
            <a:ext cx="914400" cy="9144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32" name="Text 30"/>
          <p:cNvSpPr/>
          <p:nvPr/>
        </p:nvSpPr>
        <p:spPr>
          <a:xfrm>
            <a:off x="6995160" y="1965960"/>
            <a:ext cx="1828800" cy="502920"/>
          </a:xfrm>
          <a:prstGeom prst="rect">
            <a:avLst/>
          </a:prstGeom>
          <a:noFill/>
          <a:ln/>
        </p:spPr>
        <p:txBody>
          <a:bodyPr wrap="square"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33" name="Shape 31"/>
          <p:cNvSpPr/>
          <p:nvPr/>
        </p:nvSpPr>
        <p:spPr>
          <a:xfrm>
            <a:off x="7040880" y="2560320"/>
            <a:ext cx="1737360" cy="27432"/>
          </a:xfrm>
          <a:prstGeom prst="rect">
            <a:avLst/>
          </a:prstGeom>
          <a:solidFill>
            <a:srgbClr val="F5A623"/>
          </a:solidFill>
          <a:ln/>
        </p:spPr>
        <p:txBody>
          <a:bodyPr/>
          <a:lstStyle/>
          <a:p>
            <a:endParaRPr lang="en-IN"/>
          </a:p>
        </p:txBody>
      </p:sp>
      <p:sp>
        <p:nvSpPr>
          <p:cNvPr id="34" name="Text 32"/>
          <p:cNvSpPr/>
          <p:nvPr/>
        </p:nvSpPr>
        <p:spPr>
          <a:xfrm>
            <a:off x="6995160" y="2651760"/>
            <a:ext cx="1828800" cy="502920"/>
          </a:xfrm>
          <a:prstGeom prst="rect">
            <a:avLst/>
          </a:prstGeom>
          <a:noFill/>
          <a:ln/>
        </p:spPr>
        <p:txBody>
          <a:bodyPr wrap="square" rtlCol="0" anchor="ctr"/>
          <a:lstStyle/>
          <a:p>
            <a:pPr marL="0" indent="0" algn="ctr">
              <a:buNone/>
            </a:pPr>
            <a:r>
              <a:rPr lang="en-US" sz="1200" b="1" dirty="0">
                <a:solidFill>
                  <a:srgbClr val="1A1F3C"/>
                </a:solidFill>
                <a:latin typeface="Calibri" pitchFamily="34" charset="0"/>
                <a:ea typeface="Calibri" pitchFamily="34" charset="-122"/>
                <a:cs typeface="Calibri" pitchFamily="34" charset="-120"/>
              </a:rPr>
              <a:t>Skill Growth &amp; Retention</a:t>
            </a:r>
            <a:endParaRPr lang="en-US" sz="1200" dirty="0"/>
          </a:p>
        </p:txBody>
      </p:sp>
      <p:sp>
        <p:nvSpPr>
          <p:cNvPr id="35" name="Text 33"/>
          <p:cNvSpPr/>
          <p:nvPr/>
        </p:nvSpPr>
        <p:spPr>
          <a:xfrm>
            <a:off x="6995160" y="3200400"/>
            <a:ext cx="1828800" cy="1371600"/>
          </a:xfrm>
          <a:prstGeom prst="rect">
            <a:avLst/>
          </a:prstGeom>
          <a:noFill/>
          <a:ln/>
        </p:spPr>
        <p:txBody>
          <a:bodyPr wrap="square" rtlCol="0" anchor="ctr"/>
          <a:lstStyle/>
          <a:p>
            <a:pPr marL="0" indent="0" algn="ctr">
              <a:buNone/>
            </a:pPr>
            <a:r>
              <a:rPr lang="en-US" sz="1050" dirty="0">
                <a:solidFill>
                  <a:srgbClr val="8290A8"/>
                </a:solidFill>
                <a:latin typeface="Calibri" pitchFamily="34" charset="0"/>
                <a:ea typeface="Calibri" pitchFamily="34" charset="-122"/>
                <a:cs typeface="Calibri" pitchFamily="34" charset="-120"/>
              </a:rPr>
              <a:t>Programs and repeat rentals help customers improve and stay engaged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Overview – Database Tables</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5</a:t>
            </a:r>
            <a:endParaRPr lang="en-US" sz="1300" dirty="0"/>
          </a:p>
        </p:txBody>
      </p:sp>
      <p:sp>
        <p:nvSpPr>
          <p:cNvPr id="5" name="Shape 3"/>
          <p:cNvSpPr/>
          <p:nvPr/>
        </p:nvSpPr>
        <p:spPr>
          <a:xfrm>
            <a:off x="228600" y="822960"/>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228600" y="822960"/>
            <a:ext cx="164592" cy="621792"/>
          </a:xfrm>
          <a:prstGeom prst="rect">
            <a:avLst/>
          </a:prstGeom>
          <a:solidFill>
            <a:srgbClr val="F5A623"/>
          </a:solidFill>
          <a:ln/>
        </p:spPr>
        <p:txBody>
          <a:bodyPr/>
          <a:lstStyle/>
          <a:p>
            <a:endParaRPr lang="en-IN"/>
          </a:p>
        </p:txBody>
      </p:sp>
      <p:sp>
        <p:nvSpPr>
          <p:cNvPr id="7" name="Text 5"/>
          <p:cNvSpPr/>
          <p:nvPr/>
        </p:nvSpPr>
        <p:spPr>
          <a:xfrm>
            <a:off x="484632" y="868680"/>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Employee</a:t>
            </a:r>
            <a:endParaRPr lang="en-US" sz="1200" dirty="0"/>
          </a:p>
        </p:txBody>
      </p:sp>
      <p:sp>
        <p:nvSpPr>
          <p:cNvPr id="8" name="Text 6"/>
          <p:cNvSpPr/>
          <p:nvPr/>
        </p:nvSpPr>
        <p:spPr>
          <a:xfrm>
            <a:off x="484632" y="1133856"/>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EmployeeId · LastName · FirstName · Title · ReportsTo · BirthDate · HireDate · Address · Country</a:t>
            </a:r>
            <a:endParaRPr lang="en-US" sz="900" dirty="0"/>
          </a:p>
        </p:txBody>
      </p:sp>
      <p:sp>
        <p:nvSpPr>
          <p:cNvPr id="9" name="Shape 7"/>
          <p:cNvSpPr/>
          <p:nvPr/>
        </p:nvSpPr>
        <p:spPr>
          <a:xfrm>
            <a:off x="228600" y="1527048"/>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228600" y="1527048"/>
            <a:ext cx="164592" cy="621792"/>
          </a:xfrm>
          <a:prstGeom prst="rect">
            <a:avLst/>
          </a:prstGeom>
          <a:solidFill>
            <a:srgbClr val="E05A44"/>
          </a:solidFill>
          <a:ln/>
        </p:spPr>
        <p:txBody>
          <a:bodyPr/>
          <a:lstStyle/>
          <a:p>
            <a:endParaRPr lang="en-IN"/>
          </a:p>
        </p:txBody>
      </p:sp>
      <p:sp>
        <p:nvSpPr>
          <p:cNvPr id="11" name="Text 9"/>
          <p:cNvSpPr/>
          <p:nvPr/>
        </p:nvSpPr>
        <p:spPr>
          <a:xfrm>
            <a:off x="484632" y="1572768"/>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Customer</a:t>
            </a:r>
            <a:endParaRPr lang="en-US" sz="1200" dirty="0"/>
          </a:p>
        </p:txBody>
      </p:sp>
      <p:sp>
        <p:nvSpPr>
          <p:cNvPr id="12" name="Text 10"/>
          <p:cNvSpPr/>
          <p:nvPr/>
        </p:nvSpPr>
        <p:spPr>
          <a:xfrm>
            <a:off x="484632" y="1837944"/>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CustomerId · FirstName · LastName · Company · Address · City · State · Country · SupportRepId</a:t>
            </a:r>
            <a:endParaRPr lang="en-US" sz="900" dirty="0"/>
          </a:p>
        </p:txBody>
      </p:sp>
      <p:sp>
        <p:nvSpPr>
          <p:cNvPr id="13" name="Shape 11"/>
          <p:cNvSpPr/>
          <p:nvPr/>
        </p:nvSpPr>
        <p:spPr>
          <a:xfrm>
            <a:off x="228600" y="2231136"/>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228600" y="2231136"/>
            <a:ext cx="164592" cy="621792"/>
          </a:xfrm>
          <a:prstGeom prst="rect">
            <a:avLst/>
          </a:prstGeom>
          <a:solidFill>
            <a:srgbClr val="3A7BD5"/>
          </a:solidFill>
          <a:ln/>
        </p:spPr>
        <p:txBody>
          <a:bodyPr/>
          <a:lstStyle/>
          <a:p>
            <a:endParaRPr lang="en-IN"/>
          </a:p>
        </p:txBody>
      </p:sp>
      <p:sp>
        <p:nvSpPr>
          <p:cNvPr id="15" name="Text 13"/>
          <p:cNvSpPr/>
          <p:nvPr/>
        </p:nvSpPr>
        <p:spPr>
          <a:xfrm>
            <a:off x="484632" y="2276856"/>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Invoice</a:t>
            </a:r>
            <a:endParaRPr lang="en-US" sz="1200" dirty="0"/>
          </a:p>
        </p:txBody>
      </p:sp>
      <p:sp>
        <p:nvSpPr>
          <p:cNvPr id="16" name="Text 14"/>
          <p:cNvSpPr/>
          <p:nvPr/>
        </p:nvSpPr>
        <p:spPr>
          <a:xfrm>
            <a:off x="484632" y="2542032"/>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InvoiceId · CustomerId · InvoiceDate · BillingAddress · BillingCity · BillingCountry · Total</a:t>
            </a:r>
            <a:endParaRPr lang="en-US" sz="900" dirty="0"/>
          </a:p>
        </p:txBody>
      </p:sp>
      <p:sp>
        <p:nvSpPr>
          <p:cNvPr id="17" name="Shape 15"/>
          <p:cNvSpPr/>
          <p:nvPr/>
        </p:nvSpPr>
        <p:spPr>
          <a:xfrm>
            <a:off x="228600" y="2935224"/>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6"/>
          <p:cNvSpPr/>
          <p:nvPr/>
        </p:nvSpPr>
        <p:spPr>
          <a:xfrm>
            <a:off x="228600" y="2935224"/>
            <a:ext cx="164592" cy="621792"/>
          </a:xfrm>
          <a:prstGeom prst="rect">
            <a:avLst/>
          </a:prstGeom>
          <a:solidFill>
            <a:srgbClr val="2ECC71"/>
          </a:solidFill>
          <a:ln/>
        </p:spPr>
        <p:txBody>
          <a:bodyPr/>
          <a:lstStyle/>
          <a:p>
            <a:endParaRPr lang="en-IN"/>
          </a:p>
        </p:txBody>
      </p:sp>
      <p:sp>
        <p:nvSpPr>
          <p:cNvPr id="19" name="Text 17"/>
          <p:cNvSpPr/>
          <p:nvPr/>
        </p:nvSpPr>
        <p:spPr>
          <a:xfrm>
            <a:off x="484632" y="2980944"/>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Invoice Line</a:t>
            </a:r>
            <a:endParaRPr lang="en-US" sz="1200" dirty="0"/>
          </a:p>
        </p:txBody>
      </p:sp>
      <p:sp>
        <p:nvSpPr>
          <p:cNvPr id="20" name="Text 18"/>
          <p:cNvSpPr/>
          <p:nvPr/>
        </p:nvSpPr>
        <p:spPr>
          <a:xfrm>
            <a:off x="484632" y="3246120"/>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InvoiceLineId · InvoiceId · TrackId · UnitPrice · Quantity</a:t>
            </a:r>
            <a:endParaRPr lang="en-US" sz="900" dirty="0"/>
          </a:p>
        </p:txBody>
      </p:sp>
      <p:sp>
        <p:nvSpPr>
          <p:cNvPr id="21" name="Shape 19"/>
          <p:cNvSpPr/>
          <p:nvPr/>
        </p:nvSpPr>
        <p:spPr>
          <a:xfrm>
            <a:off x="228600" y="3639312"/>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2" name="Shape 20"/>
          <p:cNvSpPr/>
          <p:nvPr/>
        </p:nvSpPr>
        <p:spPr>
          <a:xfrm>
            <a:off x="228600" y="3639312"/>
            <a:ext cx="164592" cy="621792"/>
          </a:xfrm>
          <a:prstGeom prst="rect">
            <a:avLst/>
          </a:prstGeom>
          <a:solidFill>
            <a:srgbClr val="9B59B6"/>
          </a:solidFill>
          <a:ln/>
        </p:spPr>
        <p:txBody>
          <a:bodyPr/>
          <a:lstStyle/>
          <a:p>
            <a:endParaRPr lang="en-IN"/>
          </a:p>
        </p:txBody>
      </p:sp>
      <p:sp>
        <p:nvSpPr>
          <p:cNvPr id="23" name="Text 21"/>
          <p:cNvSpPr/>
          <p:nvPr/>
        </p:nvSpPr>
        <p:spPr>
          <a:xfrm>
            <a:off x="484632" y="3685032"/>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Track</a:t>
            </a:r>
            <a:endParaRPr lang="en-US" sz="1200" dirty="0"/>
          </a:p>
        </p:txBody>
      </p:sp>
      <p:sp>
        <p:nvSpPr>
          <p:cNvPr id="24" name="Text 22"/>
          <p:cNvSpPr/>
          <p:nvPr/>
        </p:nvSpPr>
        <p:spPr>
          <a:xfrm>
            <a:off x="484632" y="3950208"/>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TrackId · Name · AlbumId · MediaTypeId · GenreId · Composer · Milliseconds · UnitPrice</a:t>
            </a:r>
            <a:endParaRPr lang="en-US" sz="900" dirty="0"/>
          </a:p>
        </p:txBody>
      </p:sp>
      <p:sp>
        <p:nvSpPr>
          <p:cNvPr id="25" name="Shape 23"/>
          <p:cNvSpPr/>
          <p:nvPr/>
        </p:nvSpPr>
        <p:spPr>
          <a:xfrm>
            <a:off x="228600" y="4343400"/>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228600" y="4343400"/>
            <a:ext cx="164592" cy="621792"/>
          </a:xfrm>
          <a:prstGeom prst="rect">
            <a:avLst/>
          </a:prstGeom>
          <a:solidFill>
            <a:srgbClr val="E67E22"/>
          </a:solidFill>
          <a:ln/>
        </p:spPr>
        <p:txBody>
          <a:bodyPr/>
          <a:lstStyle/>
          <a:p>
            <a:endParaRPr lang="en-IN"/>
          </a:p>
        </p:txBody>
      </p:sp>
      <p:sp>
        <p:nvSpPr>
          <p:cNvPr id="27" name="Text 25"/>
          <p:cNvSpPr/>
          <p:nvPr/>
        </p:nvSpPr>
        <p:spPr>
          <a:xfrm>
            <a:off x="484632" y="4389120"/>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Album</a:t>
            </a:r>
            <a:endParaRPr lang="en-US" sz="1200" dirty="0"/>
          </a:p>
        </p:txBody>
      </p:sp>
      <p:sp>
        <p:nvSpPr>
          <p:cNvPr id="28" name="Text 26"/>
          <p:cNvSpPr/>
          <p:nvPr/>
        </p:nvSpPr>
        <p:spPr>
          <a:xfrm>
            <a:off x="484632" y="4654296"/>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AlbumId · Title · ArtistId</a:t>
            </a:r>
            <a:endParaRPr lang="en-US" sz="900" dirty="0"/>
          </a:p>
        </p:txBody>
      </p:sp>
      <p:sp>
        <p:nvSpPr>
          <p:cNvPr id="29" name="Shape 27"/>
          <p:cNvSpPr/>
          <p:nvPr/>
        </p:nvSpPr>
        <p:spPr>
          <a:xfrm>
            <a:off x="4663440" y="822960"/>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30" name="Shape 28"/>
          <p:cNvSpPr/>
          <p:nvPr/>
        </p:nvSpPr>
        <p:spPr>
          <a:xfrm>
            <a:off x="4663440" y="822960"/>
            <a:ext cx="164592" cy="621792"/>
          </a:xfrm>
          <a:prstGeom prst="rect">
            <a:avLst/>
          </a:prstGeom>
          <a:solidFill>
            <a:srgbClr val="1ABC9C"/>
          </a:solidFill>
          <a:ln/>
        </p:spPr>
        <p:txBody>
          <a:bodyPr/>
          <a:lstStyle/>
          <a:p>
            <a:endParaRPr lang="en-IN"/>
          </a:p>
        </p:txBody>
      </p:sp>
      <p:sp>
        <p:nvSpPr>
          <p:cNvPr id="31" name="Text 29"/>
          <p:cNvSpPr/>
          <p:nvPr/>
        </p:nvSpPr>
        <p:spPr>
          <a:xfrm>
            <a:off x="4919472" y="868680"/>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Artist</a:t>
            </a:r>
            <a:endParaRPr lang="en-US" sz="1200" dirty="0"/>
          </a:p>
        </p:txBody>
      </p:sp>
      <p:sp>
        <p:nvSpPr>
          <p:cNvPr id="32" name="Text 30"/>
          <p:cNvSpPr/>
          <p:nvPr/>
        </p:nvSpPr>
        <p:spPr>
          <a:xfrm>
            <a:off x="4919472" y="1133856"/>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ArtistId · Name</a:t>
            </a:r>
            <a:endParaRPr lang="en-US" sz="900" dirty="0"/>
          </a:p>
        </p:txBody>
      </p:sp>
      <p:sp>
        <p:nvSpPr>
          <p:cNvPr id="33" name="Shape 31"/>
          <p:cNvSpPr/>
          <p:nvPr/>
        </p:nvSpPr>
        <p:spPr>
          <a:xfrm>
            <a:off x="4663440" y="1527048"/>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34" name="Shape 32"/>
          <p:cNvSpPr/>
          <p:nvPr/>
        </p:nvSpPr>
        <p:spPr>
          <a:xfrm>
            <a:off x="4663440" y="1527048"/>
            <a:ext cx="164592" cy="621792"/>
          </a:xfrm>
          <a:prstGeom prst="rect">
            <a:avLst/>
          </a:prstGeom>
          <a:solidFill>
            <a:srgbClr val="E74C3C"/>
          </a:solidFill>
          <a:ln/>
        </p:spPr>
        <p:txBody>
          <a:bodyPr/>
          <a:lstStyle/>
          <a:p>
            <a:endParaRPr lang="en-IN"/>
          </a:p>
        </p:txBody>
      </p:sp>
      <p:sp>
        <p:nvSpPr>
          <p:cNvPr id="35" name="Text 33"/>
          <p:cNvSpPr/>
          <p:nvPr/>
        </p:nvSpPr>
        <p:spPr>
          <a:xfrm>
            <a:off x="4919472" y="1572768"/>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Genre</a:t>
            </a:r>
            <a:endParaRPr lang="en-US" sz="1200" dirty="0"/>
          </a:p>
        </p:txBody>
      </p:sp>
      <p:sp>
        <p:nvSpPr>
          <p:cNvPr id="36" name="Text 34"/>
          <p:cNvSpPr/>
          <p:nvPr/>
        </p:nvSpPr>
        <p:spPr>
          <a:xfrm>
            <a:off x="4919472" y="1837944"/>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GenreId · Name</a:t>
            </a:r>
            <a:endParaRPr lang="en-US" sz="900" dirty="0"/>
          </a:p>
        </p:txBody>
      </p:sp>
      <p:sp>
        <p:nvSpPr>
          <p:cNvPr id="37" name="Shape 35"/>
          <p:cNvSpPr/>
          <p:nvPr/>
        </p:nvSpPr>
        <p:spPr>
          <a:xfrm>
            <a:off x="4663440" y="2231136"/>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38" name="Shape 36"/>
          <p:cNvSpPr/>
          <p:nvPr/>
        </p:nvSpPr>
        <p:spPr>
          <a:xfrm>
            <a:off x="4663440" y="2231136"/>
            <a:ext cx="164592" cy="621792"/>
          </a:xfrm>
          <a:prstGeom prst="rect">
            <a:avLst/>
          </a:prstGeom>
          <a:solidFill>
            <a:srgbClr val="3498DB"/>
          </a:solidFill>
          <a:ln/>
        </p:spPr>
        <p:txBody>
          <a:bodyPr/>
          <a:lstStyle/>
          <a:p>
            <a:endParaRPr lang="en-IN"/>
          </a:p>
        </p:txBody>
      </p:sp>
      <p:sp>
        <p:nvSpPr>
          <p:cNvPr id="39" name="Text 37"/>
          <p:cNvSpPr/>
          <p:nvPr/>
        </p:nvSpPr>
        <p:spPr>
          <a:xfrm>
            <a:off x="4919472" y="2276856"/>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Media Type</a:t>
            </a:r>
            <a:endParaRPr lang="en-US" sz="1200" dirty="0"/>
          </a:p>
        </p:txBody>
      </p:sp>
      <p:sp>
        <p:nvSpPr>
          <p:cNvPr id="40" name="Text 38"/>
          <p:cNvSpPr/>
          <p:nvPr/>
        </p:nvSpPr>
        <p:spPr>
          <a:xfrm>
            <a:off x="4919472" y="2542032"/>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MediaTypeId · Name</a:t>
            </a:r>
            <a:endParaRPr lang="en-US" sz="900" dirty="0"/>
          </a:p>
        </p:txBody>
      </p:sp>
      <p:sp>
        <p:nvSpPr>
          <p:cNvPr id="41" name="Shape 39"/>
          <p:cNvSpPr/>
          <p:nvPr/>
        </p:nvSpPr>
        <p:spPr>
          <a:xfrm>
            <a:off x="4663440" y="2935224"/>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42" name="Shape 40"/>
          <p:cNvSpPr/>
          <p:nvPr/>
        </p:nvSpPr>
        <p:spPr>
          <a:xfrm>
            <a:off x="4663440" y="2935224"/>
            <a:ext cx="164592" cy="621792"/>
          </a:xfrm>
          <a:prstGeom prst="rect">
            <a:avLst/>
          </a:prstGeom>
          <a:solidFill>
            <a:srgbClr val="F39C12"/>
          </a:solidFill>
          <a:ln/>
        </p:spPr>
        <p:txBody>
          <a:bodyPr/>
          <a:lstStyle/>
          <a:p>
            <a:endParaRPr lang="en-IN"/>
          </a:p>
        </p:txBody>
      </p:sp>
      <p:sp>
        <p:nvSpPr>
          <p:cNvPr id="43" name="Text 41"/>
          <p:cNvSpPr/>
          <p:nvPr/>
        </p:nvSpPr>
        <p:spPr>
          <a:xfrm>
            <a:off x="4919472" y="2980944"/>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Playlist</a:t>
            </a:r>
            <a:endParaRPr lang="en-US" sz="1200" dirty="0"/>
          </a:p>
        </p:txBody>
      </p:sp>
      <p:sp>
        <p:nvSpPr>
          <p:cNvPr id="44" name="Text 42"/>
          <p:cNvSpPr/>
          <p:nvPr/>
        </p:nvSpPr>
        <p:spPr>
          <a:xfrm>
            <a:off x="4919472" y="3246120"/>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PlaylistId · Name</a:t>
            </a:r>
            <a:endParaRPr lang="en-US" sz="900" dirty="0"/>
          </a:p>
        </p:txBody>
      </p:sp>
      <p:sp>
        <p:nvSpPr>
          <p:cNvPr id="45" name="Shape 43"/>
          <p:cNvSpPr/>
          <p:nvPr/>
        </p:nvSpPr>
        <p:spPr>
          <a:xfrm>
            <a:off x="4663440" y="3639312"/>
            <a:ext cx="4251960" cy="62179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46" name="Shape 44"/>
          <p:cNvSpPr/>
          <p:nvPr/>
        </p:nvSpPr>
        <p:spPr>
          <a:xfrm>
            <a:off x="4663440" y="3639312"/>
            <a:ext cx="164592" cy="621792"/>
          </a:xfrm>
          <a:prstGeom prst="rect">
            <a:avLst/>
          </a:prstGeom>
          <a:solidFill>
            <a:srgbClr val="27AE60"/>
          </a:solidFill>
          <a:ln/>
        </p:spPr>
        <p:txBody>
          <a:bodyPr/>
          <a:lstStyle/>
          <a:p>
            <a:endParaRPr lang="en-IN"/>
          </a:p>
        </p:txBody>
      </p:sp>
      <p:sp>
        <p:nvSpPr>
          <p:cNvPr id="47" name="Text 45"/>
          <p:cNvSpPr/>
          <p:nvPr/>
        </p:nvSpPr>
        <p:spPr>
          <a:xfrm>
            <a:off x="4919472" y="3685032"/>
            <a:ext cx="3840480" cy="256032"/>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Playlist Track</a:t>
            </a:r>
            <a:endParaRPr lang="en-US" sz="1200" dirty="0"/>
          </a:p>
        </p:txBody>
      </p:sp>
      <p:sp>
        <p:nvSpPr>
          <p:cNvPr id="48" name="Text 46"/>
          <p:cNvSpPr/>
          <p:nvPr/>
        </p:nvSpPr>
        <p:spPr>
          <a:xfrm>
            <a:off x="4919472" y="3950208"/>
            <a:ext cx="3840480" cy="274320"/>
          </a:xfrm>
          <a:prstGeom prst="rect">
            <a:avLst/>
          </a:prstGeom>
          <a:noFill/>
          <a:ln/>
        </p:spPr>
        <p:txBody>
          <a:bodyPr wrap="square" rtlCol="0" anchor="ctr"/>
          <a:lstStyle/>
          <a:p>
            <a:pPr marL="0" indent="0">
              <a:buNone/>
            </a:pPr>
            <a:r>
              <a:rPr lang="en-US" sz="900" dirty="0">
                <a:solidFill>
                  <a:srgbClr val="8290A8"/>
                </a:solidFill>
                <a:latin typeface="Calibri" pitchFamily="34" charset="0"/>
                <a:ea typeface="Calibri" pitchFamily="34" charset="-122"/>
                <a:cs typeface="Calibri" pitchFamily="34" charset="-120"/>
              </a:rPr>
              <a:t>PlaylistId · TrackId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Chinook Database Schema</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6</a:t>
            </a:r>
            <a:endParaRPr lang="en-US" sz="1300" dirty="0"/>
          </a:p>
        </p:txBody>
      </p:sp>
      <p:sp>
        <p:nvSpPr>
          <p:cNvPr id="5" name="Text 3"/>
          <p:cNvSpPr/>
          <p:nvPr/>
        </p:nvSpPr>
        <p:spPr>
          <a:xfrm>
            <a:off x="320040" y="777240"/>
            <a:ext cx="8503920" cy="347472"/>
          </a:xfrm>
          <a:prstGeom prst="rect">
            <a:avLst/>
          </a:prstGeom>
          <a:noFill/>
          <a:ln/>
        </p:spPr>
        <p:txBody>
          <a:bodyPr wrap="square" rtlCol="0" anchor="ctr"/>
          <a:lstStyle/>
          <a:p>
            <a:pPr marL="0" indent="0">
              <a:buNone/>
            </a:pPr>
            <a:r>
              <a:rPr lang="en-US" sz="1300" i="1" dirty="0">
                <a:solidFill>
                  <a:srgbClr val="8290A8"/>
                </a:solidFill>
                <a:latin typeface="Calibri" pitchFamily="34" charset="0"/>
                <a:ea typeface="Calibri" pitchFamily="34" charset="-122"/>
                <a:cs typeface="Calibri" pitchFamily="34" charset="-120"/>
              </a:rPr>
              <a:t>Entity Relationship Overview</a:t>
            </a:r>
            <a:endParaRPr lang="en-US" sz="1300" dirty="0"/>
          </a:p>
        </p:txBody>
      </p:sp>
      <p:sp>
        <p:nvSpPr>
          <p:cNvPr id="6" name="Shape 4"/>
          <p:cNvSpPr/>
          <p:nvPr/>
        </p:nvSpPr>
        <p:spPr>
          <a:xfrm>
            <a:off x="274320" y="1280160"/>
            <a:ext cx="1463040" cy="548640"/>
          </a:xfrm>
          <a:prstGeom prst="rect">
            <a:avLst/>
          </a:prstGeom>
          <a:solidFill>
            <a:srgbClr val="F5A623"/>
          </a:solidFill>
          <a:ln/>
          <a:effectLst>
            <a:outerShdw blurRad="101600" dist="38100" dir="8100000" algn="bl" rotWithShape="0">
              <a:srgbClr val="000000">
                <a:alpha val="12000"/>
              </a:srgbClr>
            </a:outerShdw>
          </a:effectLst>
        </p:spPr>
        <p:txBody>
          <a:bodyPr/>
          <a:lstStyle/>
          <a:p>
            <a:endParaRPr lang="en-IN"/>
          </a:p>
        </p:txBody>
      </p:sp>
      <p:sp>
        <p:nvSpPr>
          <p:cNvPr id="7" name="Text 5"/>
          <p:cNvSpPr/>
          <p:nvPr/>
        </p:nvSpPr>
        <p:spPr>
          <a:xfrm>
            <a:off x="274320" y="128016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Artist</a:t>
            </a:r>
            <a:endParaRPr lang="en-US" sz="1100" dirty="0"/>
          </a:p>
        </p:txBody>
      </p:sp>
      <p:sp>
        <p:nvSpPr>
          <p:cNvPr id="8" name="Shape 6"/>
          <p:cNvSpPr/>
          <p:nvPr/>
        </p:nvSpPr>
        <p:spPr>
          <a:xfrm>
            <a:off x="2103120" y="1280160"/>
            <a:ext cx="1463040" cy="548640"/>
          </a:xfrm>
          <a:prstGeom prst="rect">
            <a:avLst/>
          </a:prstGeom>
          <a:solidFill>
            <a:srgbClr val="3A7BD5"/>
          </a:solidFill>
          <a:ln/>
          <a:effectLst>
            <a:outerShdw blurRad="101600" dist="38100" dir="8100000" algn="bl" rotWithShape="0">
              <a:srgbClr val="000000">
                <a:alpha val="12000"/>
              </a:srgbClr>
            </a:outerShdw>
          </a:effectLst>
        </p:spPr>
        <p:txBody>
          <a:bodyPr/>
          <a:lstStyle/>
          <a:p>
            <a:endParaRPr lang="en-IN"/>
          </a:p>
        </p:txBody>
      </p:sp>
      <p:sp>
        <p:nvSpPr>
          <p:cNvPr id="9" name="Text 7"/>
          <p:cNvSpPr/>
          <p:nvPr/>
        </p:nvSpPr>
        <p:spPr>
          <a:xfrm>
            <a:off x="2103120" y="128016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Album</a:t>
            </a:r>
            <a:endParaRPr lang="en-US" sz="1100" dirty="0"/>
          </a:p>
        </p:txBody>
      </p:sp>
      <p:sp>
        <p:nvSpPr>
          <p:cNvPr id="10" name="Shape 8"/>
          <p:cNvSpPr/>
          <p:nvPr/>
        </p:nvSpPr>
        <p:spPr>
          <a:xfrm>
            <a:off x="3931920" y="1280160"/>
            <a:ext cx="1463040" cy="548640"/>
          </a:xfrm>
          <a:prstGeom prst="rect">
            <a:avLst/>
          </a:prstGeom>
          <a:solidFill>
            <a:srgbClr val="2ECC71"/>
          </a:solidFill>
          <a:ln/>
          <a:effectLst>
            <a:outerShdw blurRad="101600" dist="38100" dir="8100000" algn="bl" rotWithShape="0">
              <a:srgbClr val="000000">
                <a:alpha val="12000"/>
              </a:srgbClr>
            </a:outerShdw>
          </a:effectLst>
        </p:spPr>
        <p:txBody>
          <a:bodyPr/>
          <a:lstStyle/>
          <a:p>
            <a:endParaRPr lang="en-IN"/>
          </a:p>
        </p:txBody>
      </p:sp>
      <p:sp>
        <p:nvSpPr>
          <p:cNvPr id="11" name="Text 9"/>
          <p:cNvSpPr/>
          <p:nvPr/>
        </p:nvSpPr>
        <p:spPr>
          <a:xfrm>
            <a:off x="3931920" y="128016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Track</a:t>
            </a:r>
            <a:endParaRPr lang="en-US" sz="1100" dirty="0"/>
          </a:p>
        </p:txBody>
      </p:sp>
      <p:sp>
        <p:nvSpPr>
          <p:cNvPr id="12" name="Shape 10"/>
          <p:cNvSpPr/>
          <p:nvPr/>
        </p:nvSpPr>
        <p:spPr>
          <a:xfrm>
            <a:off x="5760720" y="1280160"/>
            <a:ext cx="1463040" cy="548640"/>
          </a:xfrm>
          <a:prstGeom prst="rect">
            <a:avLst/>
          </a:prstGeom>
          <a:solidFill>
            <a:srgbClr val="9B59B6"/>
          </a:solidFill>
          <a:ln/>
          <a:effectLst>
            <a:outerShdw blurRad="101600" dist="38100" dir="8100000" algn="bl" rotWithShape="0">
              <a:srgbClr val="000000">
                <a:alpha val="12000"/>
              </a:srgbClr>
            </a:outerShdw>
          </a:effectLst>
        </p:spPr>
        <p:txBody>
          <a:bodyPr/>
          <a:lstStyle/>
          <a:p>
            <a:endParaRPr lang="en-IN"/>
          </a:p>
        </p:txBody>
      </p:sp>
      <p:sp>
        <p:nvSpPr>
          <p:cNvPr id="13" name="Text 11"/>
          <p:cNvSpPr/>
          <p:nvPr/>
        </p:nvSpPr>
        <p:spPr>
          <a:xfrm>
            <a:off x="5760720" y="128016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Genre</a:t>
            </a:r>
            <a:endParaRPr lang="en-US" sz="1100" dirty="0"/>
          </a:p>
        </p:txBody>
      </p:sp>
      <p:sp>
        <p:nvSpPr>
          <p:cNvPr id="14" name="Shape 12"/>
          <p:cNvSpPr/>
          <p:nvPr/>
        </p:nvSpPr>
        <p:spPr>
          <a:xfrm>
            <a:off x="7315200" y="1280160"/>
            <a:ext cx="1554480" cy="548640"/>
          </a:xfrm>
          <a:prstGeom prst="rect">
            <a:avLst/>
          </a:prstGeom>
          <a:solidFill>
            <a:srgbClr val="E67E22"/>
          </a:solidFill>
          <a:ln/>
          <a:effectLst>
            <a:outerShdw blurRad="101600" dist="38100" dir="8100000" algn="bl" rotWithShape="0">
              <a:srgbClr val="000000">
                <a:alpha val="12000"/>
              </a:srgbClr>
            </a:outerShdw>
          </a:effectLst>
        </p:spPr>
        <p:txBody>
          <a:bodyPr/>
          <a:lstStyle/>
          <a:p>
            <a:endParaRPr lang="en-IN"/>
          </a:p>
        </p:txBody>
      </p:sp>
      <p:sp>
        <p:nvSpPr>
          <p:cNvPr id="15" name="Text 13"/>
          <p:cNvSpPr/>
          <p:nvPr/>
        </p:nvSpPr>
        <p:spPr>
          <a:xfrm>
            <a:off x="7315200" y="1280160"/>
            <a:ext cx="155448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Media Type</a:t>
            </a:r>
            <a:endParaRPr lang="en-US" sz="1100" dirty="0"/>
          </a:p>
        </p:txBody>
      </p:sp>
      <p:sp>
        <p:nvSpPr>
          <p:cNvPr id="16" name="Shape 14"/>
          <p:cNvSpPr/>
          <p:nvPr/>
        </p:nvSpPr>
        <p:spPr>
          <a:xfrm>
            <a:off x="3931920" y="2560320"/>
            <a:ext cx="1463040" cy="548640"/>
          </a:xfrm>
          <a:prstGeom prst="rect">
            <a:avLst/>
          </a:prstGeom>
          <a:solidFill>
            <a:srgbClr val="E05A44"/>
          </a:solidFill>
          <a:ln/>
          <a:effectLst>
            <a:outerShdw blurRad="101600" dist="38100" dir="8100000" algn="bl" rotWithShape="0">
              <a:srgbClr val="000000">
                <a:alpha val="12000"/>
              </a:srgbClr>
            </a:outerShdw>
          </a:effectLst>
        </p:spPr>
        <p:txBody>
          <a:bodyPr/>
          <a:lstStyle/>
          <a:p>
            <a:endParaRPr lang="en-IN"/>
          </a:p>
        </p:txBody>
      </p:sp>
      <p:sp>
        <p:nvSpPr>
          <p:cNvPr id="17" name="Text 15"/>
          <p:cNvSpPr/>
          <p:nvPr/>
        </p:nvSpPr>
        <p:spPr>
          <a:xfrm>
            <a:off x="3931920" y="256032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Invoice Line</a:t>
            </a:r>
            <a:endParaRPr lang="en-US" sz="1100" dirty="0"/>
          </a:p>
        </p:txBody>
      </p:sp>
      <p:sp>
        <p:nvSpPr>
          <p:cNvPr id="18" name="Shape 16"/>
          <p:cNvSpPr/>
          <p:nvPr/>
        </p:nvSpPr>
        <p:spPr>
          <a:xfrm>
            <a:off x="2103120" y="2560320"/>
            <a:ext cx="1463040" cy="548640"/>
          </a:xfrm>
          <a:prstGeom prst="rect">
            <a:avLst/>
          </a:prstGeom>
          <a:solidFill>
            <a:srgbClr val="1ABC9C"/>
          </a:solidFill>
          <a:ln/>
          <a:effectLst>
            <a:outerShdw blurRad="101600" dist="38100" dir="8100000" algn="bl" rotWithShape="0">
              <a:srgbClr val="000000">
                <a:alpha val="12000"/>
              </a:srgbClr>
            </a:outerShdw>
          </a:effectLst>
        </p:spPr>
        <p:txBody>
          <a:bodyPr/>
          <a:lstStyle/>
          <a:p>
            <a:endParaRPr lang="en-IN"/>
          </a:p>
        </p:txBody>
      </p:sp>
      <p:sp>
        <p:nvSpPr>
          <p:cNvPr id="19" name="Text 17"/>
          <p:cNvSpPr/>
          <p:nvPr/>
        </p:nvSpPr>
        <p:spPr>
          <a:xfrm>
            <a:off x="2103120" y="256032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Invoice</a:t>
            </a:r>
            <a:endParaRPr lang="en-US" sz="1100" dirty="0"/>
          </a:p>
        </p:txBody>
      </p:sp>
      <p:sp>
        <p:nvSpPr>
          <p:cNvPr id="20" name="Shape 18"/>
          <p:cNvSpPr/>
          <p:nvPr/>
        </p:nvSpPr>
        <p:spPr>
          <a:xfrm>
            <a:off x="274320" y="2560320"/>
            <a:ext cx="1463040" cy="548640"/>
          </a:xfrm>
          <a:prstGeom prst="rect">
            <a:avLst/>
          </a:prstGeom>
          <a:solidFill>
            <a:srgbClr val="E74C3C"/>
          </a:solidFill>
          <a:ln/>
          <a:effectLst>
            <a:outerShdw blurRad="101600" dist="38100" dir="8100000" algn="bl" rotWithShape="0">
              <a:srgbClr val="000000">
                <a:alpha val="12000"/>
              </a:srgbClr>
            </a:outerShdw>
          </a:effectLst>
        </p:spPr>
        <p:txBody>
          <a:bodyPr/>
          <a:lstStyle/>
          <a:p>
            <a:endParaRPr lang="en-IN"/>
          </a:p>
        </p:txBody>
      </p:sp>
      <p:sp>
        <p:nvSpPr>
          <p:cNvPr id="21" name="Text 19"/>
          <p:cNvSpPr/>
          <p:nvPr/>
        </p:nvSpPr>
        <p:spPr>
          <a:xfrm>
            <a:off x="274320" y="256032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22" name="Shape 20"/>
          <p:cNvSpPr/>
          <p:nvPr/>
        </p:nvSpPr>
        <p:spPr>
          <a:xfrm>
            <a:off x="274320" y="3840480"/>
            <a:ext cx="1463040" cy="548640"/>
          </a:xfrm>
          <a:prstGeom prst="rect">
            <a:avLst/>
          </a:prstGeom>
          <a:solidFill>
            <a:srgbClr val="3498DB"/>
          </a:solidFill>
          <a:ln/>
          <a:effectLst>
            <a:outerShdw blurRad="101600" dist="38100" dir="8100000" algn="bl" rotWithShape="0">
              <a:srgbClr val="000000">
                <a:alpha val="12000"/>
              </a:srgbClr>
            </a:outerShdw>
          </a:effectLst>
        </p:spPr>
        <p:txBody>
          <a:bodyPr/>
          <a:lstStyle/>
          <a:p>
            <a:endParaRPr lang="en-IN"/>
          </a:p>
        </p:txBody>
      </p:sp>
      <p:sp>
        <p:nvSpPr>
          <p:cNvPr id="23" name="Text 21"/>
          <p:cNvSpPr/>
          <p:nvPr/>
        </p:nvSpPr>
        <p:spPr>
          <a:xfrm>
            <a:off x="274320" y="384048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Employee</a:t>
            </a:r>
            <a:endParaRPr lang="en-US" sz="1100" dirty="0"/>
          </a:p>
        </p:txBody>
      </p:sp>
      <p:sp>
        <p:nvSpPr>
          <p:cNvPr id="24" name="Shape 22"/>
          <p:cNvSpPr/>
          <p:nvPr/>
        </p:nvSpPr>
        <p:spPr>
          <a:xfrm>
            <a:off x="5760720" y="2560320"/>
            <a:ext cx="1463040" cy="548640"/>
          </a:xfrm>
          <a:prstGeom prst="rect">
            <a:avLst/>
          </a:prstGeom>
          <a:solidFill>
            <a:srgbClr val="27AE60"/>
          </a:solidFill>
          <a:ln/>
          <a:effectLst>
            <a:outerShdw blurRad="101600" dist="38100" dir="8100000" algn="bl" rotWithShape="0">
              <a:srgbClr val="000000">
                <a:alpha val="12000"/>
              </a:srgbClr>
            </a:outerShdw>
          </a:effectLst>
        </p:spPr>
        <p:txBody>
          <a:bodyPr/>
          <a:lstStyle/>
          <a:p>
            <a:endParaRPr lang="en-IN"/>
          </a:p>
        </p:txBody>
      </p:sp>
      <p:sp>
        <p:nvSpPr>
          <p:cNvPr id="25" name="Text 23"/>
          <p:cNvSpPr/>
          <p:nvPr/>
        </p:nvSpPr>
        <p:spPr>
          <a:xfrm>
            <a:off x="5760720" y="2560320"/>
            <a:ext cx="14630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Playlist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Track</a:t>
            </a:r>
            <a:endParaRPr lang="en-US" sz="1100" dirty="0"/>
          </a:p>
        </p:txBody>
      </p:sp>
      <p:sp>
        <p:nvSpPr>
          <p:cNvPr id="26" name="Shape 24"/>
          <p:cNvSpPr/>
          <p:nvPr/>
        </p:nvSpPr>
        <p:spPr>
          <a:xfrm>
            <a:off x="7315200" y="2560320"/>
            <a:ext cx="1554480" cy="548640"/>
          </a:xfrm>
          <a:prstGeom prst="rect">
            <a:avLst/>
          </a:prstGeom>
          <a:solidFill>
            <a:srgbClr val="F39C12"/>
          </a:solidFill>
          <a:ln/>
          <a:effectLst>
            <a:outerShdw blurRad="101600" dist="38100" dir="8100000" algn="bl" rotWithShape="0">
              <a:srgbClr val="000000">
                <a:alpha val="12000"/>
              </a:srgbClr>
            </a:outerShdw>
          </a:effectLst>
        </p:spPr>
        <p:txBody>
          <a:bodyPr/>
          <a:lstStyle/>
          <a:p>
            <a:endParaRPr lang="en-IN"/>
          </a:p>
        </p:txBody>
      </p:sp>
      <p:sp>
        <p:nvSpPr>
          <p:cNvPr id="27" name="Text 25"/>
          <p:cNvSpPr/>
          <p:nvPr/>
        </p:nvSpPr>
        <p:spPr>
          <a:xfrm>
            <a:off x="7315200" y="2560320"/>
            <a:ext cx="155448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Playlist</a:t>
            </a:r>
            <a:endParaRPr lang="en-US" sz="1100" dirty="0"/>
          </a:p>
        </p:txBody>
      </p:sp>
      <p:sp>
        <p:nvSpPr>
          <p:cNvPr id="28" name="Shape 26"/>
          <p:cNvSpPr/>
          <p:nvPr/>
        </p:nvSpPr>
        <p:spPr>
          <a:xfrm>
            <a:off x="1737360" y="1554480"/>
            <a:ext cx="365760" cy="0"/>
          </a:xfrm>
          <a:prstGeom prst="line">
            <a:avLst/>
          </a:prstGeom>
          <a:noFill/>
          <a:ln w="19050">
            <a:solidFill>
              <a:srgbClr val="8290A8"/>
            </a:solidFill>
            <a:prstDash val="dash"/>
          </a:ln>
        </p:spPr>
        <p:txBody>
          <a:bodyPr/>
          <a:lstStyle/>
          <a:p>
            <a:endParaRPr lang="en-IN"/>
          </a:p>
        </p:txBody>
      </p:sp>
      <p:sp>
        <p:nvSpPr>
          <p:cNvPr id="29" name="Shape 27"/>
          <p:cNvSpPr/>
          <p:nvPr/>
        </p:nvSpPr>
        <p:spPr>
          <a:xfrm>
            <a:off x="3566160" y="1554480"/>
            <a:ext cx="365760" cy="0"/>
          </a:xfrm>
          <a:prstGeom prst="line">
            <a:avLst/>
          </a:prstGeom>
          <a:noFill/>
          <a:ln w="19050">
            <a:solidFill>
              <a:srgbClr val="8290A8"/>
            </a:solidFill>
            <a:prstDash val="dash"/>
          </a:ln>
        </p:spPr>
        <p:txBody>
          <a:bodyPr/>
          <a:lstStyle/>
          <a:p>
            <a:endParaRPr lang="en-IN"/>
          </a:p>
        </p:txBody>
      </p:sp>
      <p:sp>
        <p:nvSpPr>
          <p:cNvPr id="30" name="Shape 28"/>
          <p:cNvSpPr/>
          <p:nvPr/>
        </p:nvSpPr>
        <p:spPr>
          <a:xfrm>
            <a:off x="5394960" y="1554480"/>
            <a:ext cx="365760" cy="0"/>
          </a:xfrm>
          <a:prstGeom prst="line">
            <a:avLst/>
          </a:prstGeom>
          <a:noFill/>
          <a:ln w="19050">
            <a:solidFill>
              <a:srgbClr val="8290A8"/>
            </a:solidFill>
            <a:prstDash val="dash"/>
          </a:ln>
        </p:spPr>
        <p:txBody>
          <a:bodyPr/>
          <a:lstStyle/>
          <a:p>
            <a:endParaRPr lang="en-IN"/>
          </a:p>
        </p:txBody>
      </p:sp>
      <p:sp>
        <p:nvSpPr>
          <p:cNvPr id="31" name="Shape 29"/>
          <p:cNvSpPr/>
          <p:nvPr/>
        </p:nvSpPr>
        <p:spPr>
          <a:xfrm>
            <a:off x="7223760" y="1554480"/>
            <a:ext cx="365760" cy="0"/>
          </a:xfrm>
          <a:prstGeom prst="line">
            <a:avLst/>
          </a:prstGeom>
          <a:noFill/>
          <a:ln w="19050">
            <a:solidFill>
              <a:srgbClr val="8290A8"/>
            </a:solidFill>
            <a:prstDash val="dash"/>
          </a:ln>
        </p:spPr>
        <p:txBody>
          <a:bodyPr/>
          <a:lstStyle/>
          <a:p>
            <a:endParaRPr lang="en-IN"/>
          </a:p>
        </p:txBody>
      </p:sp>
      <p:sp>
        <p:nvSpPr>
          <p:cNvPr id="32" name="Shape 30"/>
          <p:cNvSpPr/>
          <p:nvPr/>
        </p:nvSpPr>
        <p:spPr>
          <a:xfrm>
            <a:off x="4663440" y="1828800"/>
            <a:ext cx="0" cy="731520"/>
          </a:xfrm>
          <a:prstGeom prst="line">
            <a:avLst/>
          </a:prstGeom>
          <a:noFill/>
          <a:ln w="19050">
            <a:solidFill>
              <a:srgbClr val="8290A8"/>
            </a:solidFill>
            <a:prstDash val="dash"/>
          </a:ln>
        </p:spPr>
        <p:txBody>
          <a:bodyPr/>
          <a:lstStyle/>
          <a:p>
            <a:endParaRPr lang="en-IN"/>
          </a:p>
        </p:txBody>
      </p:sp>
      <p:sp>
        <p:nvSpPr>
          <p:cNvPr id="33" name="Shape 31"/>
          <p:cNvSpPr/>
          <p:nvPr/>
        </p:nvSpPr>
        <p:spPr>
          <a:xfrm>
            <a:off x="3566160" y="2834640"/>
            <a:ext cx="365760" cy="0"/>
          </a:xfrm>
          <a:prstGeom prst="line">
            <a:avLst/>
          </a:prstGeom>
          <a:noFill/>
          <a:ln w="19050">
            <a:solidFill>
              <a:srgbClr val="8290A8"/>
            </a:solidFill>
            <a:prstDash val="dash"/>
          </a:ln>
        </p:spPr>
        <p:txBody>
          <a:bodyPr/>
          <a:lstStyle/>
          <a:p>
            <a:endParaRPr lang="en-IN"/>
          </a:p>
        </p:txBody>
      </p:sp>
      <p:sp>
        <p:nvSpPr>
          <p:cNvPr id="34" name="Shape 32"/>
          <p:cNvSpPr/>
          <p:nvPr/>
        </p:nvSpPr>
        <p:spPr>
          <a:xfrm>
            <a:off x="1737360" y="2834640"/>
            <a:ext cx="365760" cy="0"/>
          </a:xfrm>
          <a:prstGeom prst="line">
            <a:avLst/>
          </a:prstGeom>
          <a:noFill/>
          <a:ln w="19050">
            <a:solidFill>
              <a:srgbClr val="8290A8"/>
            </a:solidFill>
            <a:prstDash val="dash"/>
          </a:ln>
        </p:spPr>
        <p:txBody>
          <a:bodyPr/>
          <a:lstStyle/>
          <a:p>
            <a:endParaRPr lang="en-IN"/>
          </a:p>
        </p:txBody>
      </p:sp>
      <p:sp>
        <p:nvSpPr>
          <p:cNvPr id="35" name="Shape 33"/>
          <p:cNvSpPr/>
          <p:nvPr/>
        </p:nvSpPr>
        <p:spPr>
          <a:xfrm>
            <a:off x="1005840" y="3108960"/>
            <a:ext cx="0" cy="731520"/>
          </a:xfrm>
          <a:prstGeom prst="line">
            <a:avLst/>
          </a:prstGeom>
          <a:noFill/>
          <a:ln w="19050">
            <a:solidFill>
              <a:srgbClr val="8290A8"/>
            </a:solidFill>
            <a:prstDash val="dash"/>
          </a:ln>
        </p:spPr>
        <p:txBody>
          <a:bodyPr/>
          <a:lstStyle/>
          <a:p>
            <a:endParaRPr lang="en-IN"/>
          </a:p>
        </p:txBody>
      </p:sp>
      <p:sp>
        <p:nvSpPr>
          <p:cNvPr id="36" name="Shape 34"/>
          <p:cNvSpPr/>
          <p:nvPr/>
        </p:nvSpPr>
        <p:spPr>
          <a:xfrm>
            <a:off x="5394960" y="2834640"/>
            <a:ext cx="365760" cy="0"/>
          </a:xfrm>
          <a:prstGeom prst="line">
            <a:avLst/>
          </a:prstGeom>
          <a:noFill/>
          <a:ln w="19050">
            <a:solidFill>
              <a:srgbClr val="8290A8"/>
            </a:solidFill>
            <a:prstDash val="dash"/>
          </a:ln>
        </p:spPr>
        <p:txBody>
          <a:bodyPr/>
          <a:lstStyle/>
          <a:p>
            <a:endParaRPr lang="en-IN"/>
          </a:p>
        </p:txBody>
      </p:sp>
      <p:sp>
        <p:nvSpPr>
          <p:cNvPr id="37" name="Shape 35"/>
          <p:cNvSpPr/>
          <p:nvPr/>
        </p:nvSpPr>
        <p:spPr>
          <a:xfrm>
            <a:off x="7223760" y="2834640"/>
            <a:ext cx="365760" cy="0"/>
          </a:xfrm>
          <a:prstGeom prst="line">
            <a:avLst/>
          </a:prstGeom>
          <a:noFill/>
          <a:ln w="19050">
            <a:solidFill>
              <a:srgbClr val="8290A8"/>
            </a:solidFill>
            <a:prstDash val="dash"/>
          </a:ln>
        </p:spPr>
        <p:txBody>
          <a:bodyPr/>
          <a:lstStyle/>
          <a:p>
            <a:endParaRPr lang="en-IN"/>
          </a:p>
        </p:txBody>
      </p:sp>
      <p:sp>
        <p:nvSpPr>
          <p:cNvPr id="38" name="Text 36"/>
          <p:cNvSpPr/>
          <p:nvPr/>
        </p:nvSpPr>
        <p:spPr>
          <a:xfrm>
            <a:off x="274320" y="4617720"/>
            <a:ext cx="8595360" cy="320040"/>
          </a:xfrm>
          <a:prstGeom prst="rect">
            <a:avLst/>
          </a:prstGeom>
          <a:noFill/>
          <a:ln/>
        </p:spPr>
        <p:txBody>
          <a:bodyPr wrap="square" rtlCol="0" anchor="ctr"/>
          <a:lstStyle/>
          <a:p>
            <a:pPr marL="0" indent="0" algn="ctr">
              <a:buNone/>
            </a:pPr>
            <a:r>
              <a:rPr lang="en-US" sz="1000" i="1" dirty="0">
                <a:solidFill>
                  <a:srgbClr val="8290A8"/>
                </a:solidFill>
                <a:latin typeface="Calibri" pitchFamily="34" charset="0"/>
                <a:ea typeface="Calibri" pitchFamily="34" charset="-122"/>
                <a:cs typeface="Calibri" pitchFamily="34" charset="-120"/>
              </a:rPr>
              <a:t>Tables are connected via foreign keys forming a star-schema around Track and Invoice entities.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Methodology</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7</a:t>
            </a:r>
            <a:endParaRPr lang="en-US" sz="1300" dirty="0"/>
          </a:p>
        </p:txBody>
      </p:sp>
      <p:sp>
        <p:nvSpPr>
          <p:cNvPr id="5" name="Shape 3"/>
          <p:cNvSpPr/>
          <p:nvPr/>
        </p:nvSpPr>
        <p:spPr>
          <a:xfrm>
            <a:off x="274320" y="822960"/>
            <a:ext cx="85953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274320" y="822960"/>
            <a:ext cx="1280160" cy="914400"/>
          </a:xfrm>
          <a:prstGeom prst="rect">
            <a:avLst/>
          </a:prstGeom>
          <a:solidFill>
            <a:srgbClr val="1A1F3C"/>
          </a:solidFill>
          <a:ln/>
        </p:spPr>
        <p:txBody>
          <a:bodyPr/>
          <a:lstStyle/>
          <a:p>
            <a:endParaRPr lang="en-IN"/>
          </a:p>
        </p:txBody>
      </p:sp>
      <p:sp>
        <p:nvSpPr>
          <p:cNvPr id="7" name="Text 5"/>
          <p:cNvSpPr/>
          <p:nvPr/>
        </p:nvSpPr>
        <p:spPr>
          <a:xfrm>
            <a:off x="274320" y="822960"/>
            <a:ext cx="1280160" cy="502920"/>
          </a:xfrm>
          <a:prstGeom prst="rect">
            <a:avLst/>
          </a:prstGeom>
          <a:noFill/>
          <a:ln/>
        </p:spPr>
        <p:txBody>
          <a:bodyPr wrap="square"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274320" y="1325880"/>
            <a:ext cx="1280160" cy="365760"/>
          </a:xfrm>
          <a:prstGeom prst="rect">
            <a:avLst/>
          </a:prstGeom>
          <a:noFill/>
          <a:ln/>
        </p:spPr>
        <p:txBody>
          <a:bodyPr wrap="square" rtlCol="0" anchor="ctr"/>
          <a:lstStyle/>
          <a:p>
            <a:pPr marL="0" indent="0" algn="ctr">
              <a:buNone/>
            </a:pPr>
            <a:r>
              <a:rPr lang="en-US" sz="900" kern="0" spc="200" dirty="0">
                <a:solidFill>
                  <a:srgbClr val="AABCE0"/>
                </a:solidFill>
                <a:latin typeface="Calibri" pitchFamily="34" charset="0"/>
                <a:ea typeface="Calibri" pitchFamily="34" charset="-122"/>
                <a:cs typeface="Calibri" pitchFamily="34" charset="-120"/>
              </a:rPr>
              <a:t>STEP</a:t>
            </a:r>
            <a:endParaRPr lang="en-US" sz="900" dirty="0"/>
          </a:p>
        </p:txBody>
      </p:sp>
      <p:sp>
        <p:nvSpPr>
          <p:cNvPr id="9" name="Text 7"/>
          <p:cNvSpPr/>
          <p:nvPr/>
        </p:nvSpPr>
        <p:spPr>
          <a:xfrm>
            <a:off x="1691640" y="914400"/>
            <a:ext cx="640080" cy="6858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2377440" y="896112"/>
            <a:ext cx="621792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Data Extraction</a:t>
            </a:r>
            <a:endParaRPr lang="en-US" sz="1400" dirty="0"/>
          </a:p>
        </p:txBody>
      </p:sp>
      <p:sp>
        <p:nvSpPr>
          <p:cNvPr id="11" name="Text 9"/>
          <p:cNvSpPr/>
          <p:nvPr/>
        </p:nvSpPr>
        <p:spPr>
          <a:xfrm>
            <a:off x="2377440" y="1261872"/>
            <a:ext cx="6217920" cy="41148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Collected data from Chinook database tables. Focused on customers, invoices, tracks, albums, and artists.</a:t>
            </a:r>
            <a:endParaRPr lang="en-US" sz="1100" dirty="0"/>
          </a:p>
        </p:txBody>
      </p:sp>
      <p:sp>
        <p:nvSpPr>
          <p:cNvPr id="12" name="Shape 10"/>
          <p:cNvSpPr/>
          <p:nvPr/>
        </p:nvSpPr>
        <p:spPr>
          <a:xfrm>
            <a:off x="274320" y="1847088"/>
            <a:ext cx="85953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3" name="Shape 11"/>
          <p:cNvSpPr/>
          <p:nvPr/>
        </p:nvSpPr>
        <p:spPr>
          <a:xfrm>
            <a:off x="274320" y="1847088"/>
            <a:ext cx="1280160" cy="914400"/>
          </a:xfrm>
          <a:prstGeom prst="rect">
            <a:avLst/>
          </a:prstGeom>
          <a:solidFill>
            <a:srgbClr val="F5A623"/>
          </a:solidFill>
          <a:ln/>
        </p:spPr>
        <p:txBody>
          <a:bodyPr/>
          <a:lstStyle/>
          <a:p>
            <a:endParaRPr lang="en-IN"/>
          </a:p>
        </p:txBody>
      </p:sp>
      <p:sp>
        <p:nvSpPr>
          <p:cNvPr id="14" name="Text 12"/>
          <p:cNvSpPr/>
          <p:nvPr/>
        </p:nvSpPr>
        <p:spPr>
          <a:xfrm>
            <a:off x="274320" y="1847088"/>
            <a:ext cx="1280160" cy="502920"/>
          </a:xfrm>
          <a:prstGeom prst="rect">
            <a:avLst/>
          </a:prstGeom>
          <a:noFill/>
          <a:ln/>
        </p:spPr>
        <p:txBody>
          <a:bodyPr wrap="square"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5" name="Text 13"/>
          <p:cNvSpPr/>
          <p:nvPr/>
        </p:nvSpPr>
        <p:spPr>
          <a:xfrm>
            <a:off x="274320" y="2350008"/>
            <a:ext cx="1280160" cy="365760"/>
          </a:xfrm>
          <a:prstGeom prst="rect">
            <a:avLst/>
          </a:prstGeom>
          <a:noFill/>
          <a:ln/>
        </p:spPr>
        <p:txBody>
          <a:bodyPr wrap="square" rtlCol="0" anchor="ctr"/>
          <a:lstStyle/>
          <a:p>
            <a:pPr marL="0" indent="0" algn="ctr">
              <a:buNone/>
            </a:pPr>
            <a:r>
              <a:rPr lang="en-US" sz="900" kern="0" spc="200" dirty="0">
                <a:solidFill>
                  <a:srgbClr val="F5E6C0"/>
                </a:solidFill>
                <a:latin typeface="Calibri" pitchFamily="34" charset="0"/>
                <a:ea typeface="Calibri" pitchFamily="34" charset="-122"/>
                <a:cs typeface="Calibri" pitchFamily="34" charset="-120"/>
              </a:rPr>
              <a:t>STEP</a:t>
            </a:r>
            <a:endParaRPr lang="en-US" sz="900" dirty="0"/>
          </a:p>
        </p:txBody>
      </p:sp>
      <p:sp>
        <p:nvSpPr>
          <p:cNvPr id="16" name="Text 14"/>
          <p:cNvSpPr/>
          <p:nvPr/>
        </p:nvSpPr>
        <p:spPr>
          <a:xfrm>
            <a:off x="1691640" y="1938528"/>
            <a:ext cx="640080" cy="6858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2377440" y="1920240"/>
            <a:ext cx="621792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Data Cleaning</a:t>
            </a:r>
            <a:endParaRPr lang="en-US" sz="1400" dirty="0"/>
          </a:p>
        </p:txBody>
      </p:sp>
      <p:sp>
        <p:nvSpPr>
          <p:cNvPr id="18" name="Text 16"/>
          <p:cNvSpPr/>
          <p:nvPr/>
        </p:nvSpPr>
        <p:spPr>
          <a:xfrm>
            <a:off x="2377440" y="2286000"/>
            <a:ext cx="6217920" cy="41148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Handled NULL values, removed duplicates, standardized text in composer column using REGEXP_REPLACE.</a:t>
            </a:r>
            <a:endParaRPr lang="en-US" sz="1100" dirty="0"/>
          </a:p>
        </p:txBody>
      </p:sp>
      <p:sp>
        <p:nvSpPr>
          <p:cNvPr id="19" name="Shape 17"/>
          <p:cNvSpPr/>
          <p:nvPr/>
        </p:nvSpPr>
        <p:spPr>
          <a:xfrm>
            <a:off x="274320" y="2871216"/>
            <a:ext cx="85953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0" name="Shape 18"/>
          <p:cNvSpPr/>
          <p:nvPr/>
        </p:nvSpPr>
        <p:spPr>
          <a:xfrm>
            <a:off x="274320" y="2871216"/>
            <a:ext cx="1280160" cy="914400"/>
          </a:xfrm>
          <a:prstGeom prst="rect">
            <a:avLst/>
          </a:prstGeom>
          <a:solidFill>
            <a:srgbClr val="1A1F3C"/>
          </a:solidFill>
          <a:ln/>
        </p:spPr>
        <p:txBody>
          <a:bodyPr/>
          <a:lstStyle/>
          <a:p>
            <a:endParaRPr lang="en-IN"/>
          </a:p>
        </p:txBody>
      </p:sp>
      <p:sp>
        <p:nvSpPr>
          <p:cNvPr id="21" name="Text 19"/>
          <p:cNvSpPr/>
          <p:nvPr/>
        </p:nvSpPr>
        <p:spPr>
          <a:xfrm>
            <a:off x="274320" y="2871216"/>
            <a:ext cx="1280160" cy="502920"/>
          </a:xfrm>
          <a:prstGeom prst="rect">
            <a:avLst/>
          </a:prstGeom>
          <a:noFill/>
          <a:ln/>
        </p:spPr>
        <p:txBody>
          <a:bodyPr wrap="square"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22" name="Text 20"/>
          <p:cNvSpPr/>
          <p:nvPr/>
        </p:nvSpPr>
        <p:spPr>
          <a:xfrm>
            <a:off x="274320" y="3374136"/>
            <a:ext cx="1280160" cy="365760"/>
          </a:xfrm>
          <a:prstGeom prst="rect">
            <a:avLst/>
          </a:prstGeom>
          <a:noFill/>
          <a:ln/>
        </p:spPr>
        <p:txBody>
          <a:bodyPr wrap="square" rtlCol="0" anchor="ctr"/>
          <a:lstStyle/>
          <a:p>
            <a:pPr marL="0" indent="0" algn="ctr">
              <a:buNone/>
            </a:pPr>
            <a:r>
              <a:rPr lang="en-US" sz="900" kern="0" spc="200" dirty="0">
                <a:solidFill>
                  <a:srgbClr val="AABCE0"/>
                </a:solidFill>
                <a:latin typeface="Calibri" pitchFamily="34" charset="0"/>
                <a:ea typeface="Calibri" pitchFamily="34" charset="-122"/>
                <a:cs typeface="Calibri" pitchFamily="34" charset="-120"/>
              </a:rPr>
              <a:t>STEP</a:t>
            </a:r>
            <a:endParaRPr lang="en-US" sz="900" dirty="0"/>
          </a:p>
        </p:txBody>
      </p:sp>
      <p:sp>
        <p:nvSpPr>
          <p:cNvPr id="23" name="Text 21"/>
          <p:cNvSpPr/>
          <p:nvPr/>
        </p:nvSpPr>
        <p:spPr>
          <a:xfrm>
            <a:off x="1691640" y="2962656"/>
            <a:ext cx="640080" cy="6858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4" name="Text 22"/>
          <p:cNvSpPr/>
          <p:nvPr/>
        </p:nvSpPr>
        <p:spPr>
          <a:xfrm>
            <a:off x="2377440" y="2944368"/>
            <a:ext cx="621792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Data Analysis</a:t>
            </a:r>
            <a:endParaRPr lang="en-US" sz="1400" dirty="0"/>
          </a:p>
        </p:txBody>
      </p:sp>
      <p:sp>
        <p:nvSpPr>
          <p:cNvPr id="25" name="Text 23"/>
          <p:cNvSpPr/>
          <p:nvPr/>
        </p:nvSpPr>
        <p:spPr>
          <a:xfrm>
            <a:off x="2377440" y="3310128"/>
            <a:ext cx="6217920" cy="41148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Computed KPIs: revenue, top genres, churn rate, CLV, country-level spending, and purchase patterns.</a:t>
            </a:r>
            <a:endParaRPr lang="en-US" sz="1100" dirty="0"/>
          </a:p>
        </p:txBody>
      </p:sp>
      <p:sp>
        <p:nvSpPr>
          <p:cNvPr id="26" name="Shape 24"/>
          <p:cNvSpPr/>
          <p:nvPr/>
        </p:nvSpPr>
        <p:spPr>
          <a:xfrm>
            <a:off x="274320" y="3895344"/>
            <a:ext cx="85953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7" name="Shape 25"/>
          <p:cNvSpPr/>
          <p:nvPr/>
        </p:nvSpPr>
        <p:spPr>
          <a:xfrm>
            <a:off x="274320" y="3895344"/>
            <a:ext cx="1280160" cy="914400"/>
          </a:xfrm>
          <a:prstGeom prst="rect">
            <a:avLst/>
          </a:prstGeom>
          <a:solidFill>
            <a:srgbClr val="F5A623"/>
          </a:solidFill>
          <a:ln/>
        </p:spPr>
        <p:txBody>
          <a:bodyPr/>
          <a:lstStyle/>
          <a:p>
            <a:endParaRPr lang="en-IN"/>
          </a:p>
        </p:txBody>
      </p:sp>
      <p:sp>
        <p:nvSpPr>
          <p:cNvPr id="28" name="Text 26"/>
          <p:cNvSpPr/>
          <p:nvPr/>
        </p:nvSpPr>
        <p:spPr>
          <a:xfrm>
            <a:off x="274320" y="3895344"/>
            <a:ext cx="1280160" cy="502920"/>
          </a:xfrm>
          <a:prstGeom prst="rect">
            <a:avLst/>
          </a:prstGeom>
          <a:noFill/>
          <a:ln/>
        </p:spPr>
        <p:txBody>
          <a:bodyPr wrap="square"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29" name="Text 27"/>
          <p:cNvSpPr/>
          <p:nvPr/>
        </p:nvSpPr>
        <p:spPr>
          <a:xfrm>
            <a:off x="274320" y="4398264"/>
            <a:ext cx="1280160" cy="365760"/>
          </a:xfrm>
          <a:prstGeom prst="rect">
            <a:avLst/>
          </a:prstGeom>
          <a:noFill/>
          <a:ln/>
        </p:spPr>
        <p:txBody>
          <a:bodyPr wrap="square" rtlCol="0" anchor="ctr"/>
          <a:lstStyle/>
          <a:p>
            <a:pPr marL="0" indent="0" algn="ctr">
              <a:buNone/>
            </a:pPr>
            <a:r>
              <a:rPr lang="en-US" sz="900" kern="0" spc="200" dirty="0">
                <a:solidFill>
                  <a:srgbClr val="F5E6C0"/>
                </a:solidFill>
                <a:latin typeface="Calibri" pitchFamily="34" charset="0"/>
                <a:ea typeface="Calibri" pitchFamily="34" charset="-122"/>
                <a:cs typeface="Calibri" pitchFamily="34" charset="-120"/>
              </a:rPr>
              <a:t>STEP</a:t>
            </a:r>
            <a:endParaRPr lang="en-US" sz="900" dirty="0"/>
          </a:p>
        </p:txBody>
      </p:sp>
      <p:sp>
        <p:nvSpPr>
          <p:cNvPr id="30" name="Text 28"/>
          <p:cNvSpPr/>
          <p:nvPr/>
        </p:nvSpPr>
        <p:spPr>
          <a:xfrm>
            <a:off x="1691640" y="3986784"/>
            <a:ext cx="640080" cy="6858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1" name="Text 29"/>
          <p:cNvSpPr/>
          <p:nvPr/>
        </p:nvSpPr>
        <p:spPr>
          <a:xfrm>
            <a:off x="2377440" y="3968496"/>
            <a:ext cx="621792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Visualization</a:t>
            </a:r>
            <a:endParaRPr lang="en-US" sz="1400" dirty="0"/>
          </a:p>
        </p:txBody>
      </p:sp>
      <p:sp>
        <p:nvSpPr>
          <p:cNvPr id="32" name="Text 30"/>
          <p:cNvSpPr/>
          <p:nvPr/>
        </p:nvSpPr>
        <p:spPr>
          <a:xfrm>
            <a:off x="2377440" y="4334256"/>
            <a:ext cx="6217920" cy="41148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Used charts (bar, pie, line) to present insights. Summarized findings for actionable stakeholder decisions.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Revenue &amp; Customer Insight by Country</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8</a:t>
            </a:r>
            <a:endParaRPr lang="en-US" sz="1300" dirty="0"/>
          </a:p>
        </p:txBody>
      </p:sp>
      <p:graphicFrame>
        <p:nvGraphicFramePr>
          <p:cNvPr id="5" name="Chart 0"/>
          <p:cNvGraphicFramePr/>
          <p:nvPr/>
        </p:nvGraphicFramePr>
        <p:xfrm>
          <a:off x="274320" y="777240"/>
          <a:ext cx="54864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89320" y="822960"/>
            <a:ext cx="283464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7" name="Text 4"/>
          <p:cNvSpPr/>
          <p:nvPr/>
        </p:nvSpPr>
        <p:spPr>
          <a:xfrm>
            <a:off x="6126480" y="868680"/>
            <a:ext cx="2560320" cy="457200"/>
          </a:xfrm>
          <a:prstGeom prst="rect">
            <a:avLst/>
          </a:prstGeom>
          <a:noFill/>
          <a:ln/>
        </p:spPr>
        <p:txBody>
          <a:bodyPr wrap="square" rtlCol="0" anchor="ctr"/>
          <a:lstStyle/>
          <a:p>
            <a:pPr marL="0" indent="0">
              <a:buNone/>
            </a:pPr>
            <a:r>
              <a:rPr lang="en-US" sz="2600" b="1" dirty="0">
                <a:solidFill>
                  <a:srgbClr val="E05A44"/>
                </a:solidFill>
                <a:latin typeface="Calibri" pitchFamily="34" charset="0"/>
                <a:ea typeface="Calibri" pitchFamily="34" charset="-122"/>
                <a:cs typeface="Calibri" pitchFamily="34" charset="-120"/>
              </a:rPr>
              <a:t>$1,040</a:t>
            </a:r>
            <a:endParaRPr lang="en-US" sz="2600" dirty="0"/>
          </a:p>
        </p:txBody>
      </p:sp>
      <p:sp>
        <p:nvSpPr>
          <p:cNvPr id="8" name="Text 5"/>
          <p:cNvSpPr/>
          <p:nvPr/>
        </p:nvSpPr>
        <p:spPr>
          <a:xfrm>
            <a:off x="6126480" y="1325880"/>
            <a:ext cx="256032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USA Revenue</a:t>
            </a:r>
            <a:endParaRPr lang="en-US" sz="1100" dirty="0"/>
          </a:p>
        </p:txBody>
      </p:sp>
      <p:sp>
        <p:nvSpPr>
          <p:cNvPr id="9" name="Text 6"/>
          <p:cNvSpPr/>
          <p:nvPr/>
        </p:nvSpPr>
        <p:spPr>
          <a:xfrm>
            <a:off x="6126480" y="1572768"/>
            <a:ext cx="2560320" cy="201168"/>
          </a:xfrm>
          <a:prstGeom prst="rect">
            <a:avLst/>
          </a:prstGeom>
          <a:noFill/>
          <a:ln/>
        </p:spPr>
        <p:txBody>
          <a:bodyPr wrap="square" rtlCol="0" anchor="ctr"/>
          <a:lstStyle/>
          <a:p>
            <a:pPr marL="0" indent="0">
              <a:buNone/>
            </a:pPr>
            <a:r>
              <a:rPr lang="en-US" sz="950" dirty="0">
                <a:solidFill>
                  <a:srgbClr val="8290A8"/>
                </a:solidFill>
                <a:latin typeface="Calibri" pitchFamily="34" charset="0"/>
                <a:ea typeface="Calibri" pitchFamily="34" charset="-122"/>
                <a:cs typeface="Calibri" pitchFamily="34" charset="-120"/>
              </a:rPr>
              <a:t>#1 Market</a:t>
            </a:r>
            <a:endParaRPr lang="en-US" sz="950" dirty="0"/>
          </a:p>
        </p:txBody>
      </p:sp>
      <p:sp>
        <p:nvSpPr>
          <p:cNvPr id="10" name="Shape 7"/>
          <p:cNvSpPr/>
          <p:nvPr/>
        </p:nvSpPr>
        <p:spPr>
          <a:xfrm>
            <a:off x="5989320" y="1847088"/>
            <a:ext cx="283464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1" name="Text 8"/>
          <p:cNvSpPr/>
          <p:nvPr/>
        </p:nvSpPr>
        <p:spPr>
          <a:xfrm>
            <a:off x="6126480" y="1892808"/>
            <a:ext cx="2560320" cy="457200"/>
          </a:xfrm>
          <a:prstGeom prst="rect">
            <a:avLst/>
          </a:prstGeom>
          <a:noFill/>
          <a:ln/>
        </p:spPr>
        <p:txBody>
          <a:bodyPr wrap="square" rtlCol="0" anchor="ctr"/>
          <a:lstStyle/>
          <a:p>
            <a:pPr marL="0" indent="0">
              <a:buNone/>
            </a:pPr>
            <a:r>
              <a:rPr lang="en-US" sz="2600" b="1" dirty="0">
                <a:solidFill>
                  <a:srgbClr val="E05A44"/>
                </a:solidFill>
                <a:latin typeface="Calibri" pitchFamily="34" charset="0"/>
                <a:ea typeface="Calibri" pitchFamily="34" charset="-122"/>
                <a:cs typeface="Calibri" pitchFamily="34" charset="-120"/>
              </a:rPr>
              <a:t>13</a:t>
            </a:r>
            <a:endParaRPr lang="en-US" sz="2600" dirty="0"/>
          </a:p>
        </p:txBody>
      </p:sp>
      <p:sp>
        <p:nvSpPr>
          <p:cNvPr id="12" name="Text 9"/>
          <p:cNvSpPr/>
          <p:nvPr/>
        </p:nvSpPr>
        <p:spPr>
          <a:xfrm>
            <a:off x="6126480" y="2350008"/>
            <a:ext cx="256032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US Customers</a:t>
            </a:r>
            <a:endParaRPr lang="en-US" sz="1100" dirty="0"/>
          </a:p>
        </p:txBody>
      </p:sp>
      <p:sp>
        <p:nvSpPr>
          <p:cNvPr id="13" name="Text 10"/>
          <p:cNvSpPr/>
          <p:nvPr/>
        </p:nvSpPr>
        <p:spPr>
          <a:xfrm>
            <a:off x="6126480" y="2596896"/>
            <a:ext cx="2560320" cy="201168"/>
          </a:xfrm>
          <a:prstGeom prst="rect">
            <a:avLst/>
          </a:prstGeom>
          <a:noFill/>
          <a:ln/>
        </p:spPr>
        <p:txBody>
          <a:bodyPr wrap="square" rtlCol="0" anchor="ctr"/>
          <a:lstStyle/>
          <a:p>
            <a:pPr marL="0" indent="0">
              <a:buNone/>
            </a:pPr>
            <a:r>
              <a:rPr lang="en-US" sz="950" dirty="0">
                <a:solidFill>
                  <a:srgbClr val="8290A8"/>
                </a:solidFill>
                <a:latin typeface="Calibri" pitchFamily="34" charset="0"/>
                <a:ea typeface="Calibri" pitchFamily="34" charset="-122"/>
                <a:cs typeface="Calibri" pitchFamily="34" charset="-120"/>
              </a:rPr>
              <a:t>Largest base</a:t>
            </a:r>
            <a:endParaRPr lang="en-US" sz="950" dirty="0"/>
          </a:p>
        </p:txBody>
      </p:sp>
      <p:sp>
        <p:nvSpPr>
          <p:cNvPr id="14" name="Shape 11"/>
          <p:cNvSpPr/>
          <p:nvPr/>
        </p:nvSpPr>
        <p:spPr>
          <a:xfrm>
            <a:off x="5989320" y="2871216"/>
            <a:ext cx="283464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5" name="Text 12"/>
          <p:cNvSpPr/>
          <p:nvPr/>
        </p:nvSpPr>
        <p:spPr>
          <a:xfrm>
            <a:off x="6126480" y="2916936"/>
            <a:ext cx="2560320" cy="457200"/>
          </a:xfrm>
          <a:prstGeom prst="rect">
            <a:avLst/>
          </a:prstGeom>
          <a:noFill/>
          <a:ln/>
        </p:spPr>
        <p:txBody>
          <a:bodyPr wrap="square" rtlCol="0" anchor="ctr"/>
          <a:lstStyle/>
          <a:p>
            <a:pPr marL="0" indent="0">
              <a:buNone/>
            </a:pPr>
            <a:r>
              <a:rPr lang="en-US" sz="2600" b="1" dirty="0">
                <a:solidFill>
                  <a:srgbClr val="E05A44"/>
                </a:solidFill>
                <a:latin typeface="Calibri" pitchFamily="34" charset="0"/>
                <a:ea typeface="Calibri" pitchFamily="34" charset="-122"/>
                <a:cs typeface="Calibri" pitchFamily="34" charset="-120"/>
              </a:rPr>
              <a:t>22</a:t>
            </a:r>
            <a:endParaRPr lang="en-US" sz="2600" dirty="0"/>
          </a:p>
        </p:txBody>
      </p:sp>
      <p:sp>
        <p:nvSpPr>
          <p:cNvPr id="16" name="Text 13"/>
          <p:cNvSpPr/>
          <p:nvPr/>
        </p:nvSpPr>
        <p:spPr>
          <a:xfrm>
            <a:off x="6126480" y="3374136"/>
            <a:ext cx="256032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Countries</a:t>
            </a:r>
            <a:endParaRPr lang="en-US" sz="1100" dirty="0"/>
          </a:p>
        </p:txBody>
      </p:sp>
      <p:sp>
        <p:nvSpPr>
          <p:cNvPr id="17" name="Text 14"/>
          <p:cNvSpPr/>
          <p:nvPr/>
        </p:nvSpPr>
        <p:spPr>
          <a:xfrm>
            <a:off x="6126480" y="3621024"/>
            <a:ext cx="2560320" cy="201168"/>
          </a:xfrm>
          <a:prstGeom prst="rect">
            <a:avLst/>
          </a:prstGeom>
          <a:noFill/>
          <a:ln/>
        </p:spPr>
        <p:txBody>
          <a:bodyPr wrap="square" rtlCol="0" anchor="ctr"/>
          <a:lstStyle/>
          <a:p>
            <a:pPr marL="0" indent="0">
              <a:buNone/>
            </a:pPr>
            <a:r>
              <a:rPr lang="en-US" sz="950" dirty="0">
                <a:solidFill>
                  <a:srgbClr val="8290A8"/>
                </a:solidFill>
                <a:latin typeface="Calibri" pitchFamily="34" charset="0"/>
                <a:ea typeface="Calibri" pitchFamily="34" charset="-122"/>
                <a:cs typeface="Calibri" pitchFamily="34" charset="-120"/>
              </a:rPr>
              <a:t>Served globally</a:t>
            </a:r>
            <a:endParaRPr lang="en-US" sz="950" dirty="0"/>
          </a:p>
        </p:txBody>
      </p:sp>
      <p:sp>
        <p:nvSpPr>
          <p:cNvPr id="18" name="Shape 15"/>
          <p:cNvSpPr/>
          <p:nvPr/>
        </p:nvSpPr>
        <p:spPr>
          <a:xfrm>
            <a:off x="5989320" y="3895344"/>
            <a:ext cx="283464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9" name="Text 16"/>
          <p:cNvSpPr/>
          <p:nvPr/>
        </p:nvSpPr>
        <p:spPr>
          <a:xfrm>
            <a:off x="6126480" y="3941064"/>
            <a:ext cx="2560320" cy="457200"/>
          </a:xfrm>
          <a:prstGeom prst="rect">
            <a:avLst/>
          </a:prstGeom>
          <a:noFill/>
          <a:ln/>
        </p:spPr>
        <p:txBody>
          <a:bodyPr wrap="square" rtlCol="0" anchor="ctr"/>
          <a:lstStyle/>
          <a:p>
            <a:pPr marL="0" indent="0">
              <a:buNone/>
            </a:pPr>
            <a:r>
              <a:rPr lang="en-US" sz="2600" b="1" dirty="0">
                <a:solidFill>
                  <a:srgbClr val="E05A44"/>
                </a:solidFill>
                <a:latin typeface="Calibri" pitchFamily="34" charset="0"/>
                <a:ea typeface="Calibri" pitchFamily="34" charset="-122"/>
                <a:cs typeface="Calibri" pitchFamily="34" charset="-120"/>
              </a:rPr>
              <a:t>$80.04</a:t>
            </a:r>
            <a:endParaRPr lang="en-US" sz="2600" dirty="0"/>
          </a:p>
        </p:txBody>
      </p:sp>
      <p:sp>
        <p:nvSpPr>
          <p:cNvPr id="20" name="Text 17"/>
          <p:cNvSpPr/>
          <p:nvPr/>
        </p:nvSpPr>
        <p:spPr>
          <a:xfrm>
            <a:off x="6126480" y="4398264"/>
            <a:ext cx="256032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Avg/Customer</a:t>
            </a:r>
            <a:endParaRPr lang="en-US" sz="1100" dirty="0"/>
          </a:p>
        </p:txBody>
      </p:sp>
      <p:sp>
        <p:nvSpPr>
          <p:cNvPr id="21" name="Text 18"/>
          <p:cNvSpPr/>
          <p:nvPr/>
        </p:nvSpPr>
        <p:spPr>
          <a:xfrm>
            <a:off x="6126480" y="4645152"/>
            <a:ext cx="2560320" cy="201168"/>
          </a:xfrm>
          <a:prstGeom prst="rect">
            <a:avLst/>
          </a:prstGeom>
          <a:noFill/>
          <a:ln/>
        </p:spPr>
        <p:txBody>
          <a:bodyPr wrap="square" rtlCol="0" anchor="ctr"/>
          <a:lstStyle/>
          <a:p>
            <a:pPr marL="0" indent="0">
              <a:buNone/>
            </a:pPr>
            <a:r>
              <a:rPr lang="en-US" sz="950" dirty="0">
                <a:solidFill>
                  <a:srgbClr val="8290A8"/>
                </a:solidFill>
                <a:latin typeface="Calibri" pitchFamily="34" charset="0"/>
                <a:ea typeface="Calibri" pitchFamily="34" charset="-122"/>
                <a:cs typeface="Calibri" pitchFamily="34" charset="-120"/>
              </a:rPr>
              <a:t>USA avg spend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Genre Sales Analysis – USA Market</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9</a:t>
            </a:r>
            <a:endParaRPr lang="en-US" sz="1300" dirty="0"/>
          </a:p>
        </p:txBody>
      </p:sp>
      <p:graphicFrame>
        <p:nvGraphicFramePr>
          <p:cNvPr id="5" name="Chart 0"/>
          <p:cNvGraphicFramePr/>
          <p:nvPr/>
        </p:nvGraphicFramePr>
        <p:xfrm>
          <a:off x="274320" y="777240"/>
          <a:ext cx="50292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486400" y="804672"/>
            <a:ext cx="338328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Top Genres – USA</a:t>
            </a:r>
            <a:endParaRPr lang="en-US" sz="1400" dirty="0"/>
          </a:p>
        </p:txBody>
      </p:sp>
      <p:sp>
        <p:nvSpPr>
          <p:cNvPr id="7" name="Shape 4"/>
          <p:cNvSpPr/>
          <p:nvPr/>
        </p:nvSpPr>
        <p:spPr>
          <a:xfrm>
            <a:off x="5486400" y="1234440"/>
            <a:ext cx="3383280" cy="6583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5"/>
          <p:cNvSpPr/>
          <p:nvPr/>
        </p:nvSpPr>
        <p:spPr>
          <a:xfrm>
            <a:off x="5577840" y="1307592"/>
            <a:ext cx="457200" cy="457200"/>
          </a:xfrm>
          <a:prstGeom prst="ellipse">
            <a:avLst/>
          </a:prstGeom>
          <a:solidFill>
            <a:srgbClr val="F5A623"/>
          </a:solidFill>
          <a:ln/>
        </p:spPr>
        <p:txBody>
          <a:bodyPr/>
          <a:lstStyle/>
          <a:p>
            <a:endParaRPr lang="en-IN"/>
          </a:p>
        </p:txBody>
      </p:sp>
      <p:sp>
        <p:nvSpPr>
          <p:cNvPr id="9" name="Text 6"/>
          <p:cNvSpPr/>
          <p:nvPr/>
        </p:nvSpPr>
        <p:spPr>
          <a:xfrm>
            <a:off x="5577840" y="1307592"/>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6126480" y="1325880"/>
            <a:ext cx="182880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Rock</a:t>
            </a:r>
            <a:endParaRPr lang="en-US" sz="1100" dirty="0"/>
          </a:p>
        </p:txBody>
      </p:sp>
      <p:sp>
        <p:nvSpPr>
          <p:cNvPr id="11" name="Text 8"/>
          <p:cNvSpPr/>
          <p:nvPr/>
        </p:nvSpPr>
        <p:spPr>
          <a:xfrm>
            <a:off x="6126480" y="1600200"/>
            <a:ext cx="2560320" cy="22860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53.38%  ·  $555.39</a:t>
            </a:r>
            <a:endParaRPr lang="en-US" sz="1000" dirty="0"/>
          </a:p>
        </p:txBody>
      </p:sp>
      <p:sp>
        <p:nvSpPr>
          <p:cNvPr id="12" name="Shape 9"/>
          <p:cNvSpPr/>
          <p:nvPr/>
        </p:nvSpPr>
        <p:spPr>
          <a:xfrm>
            <a:off x="5486400" y="1984248"/>
            <a:ext cx="3383280" cy="6583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3" name="Shape 10"/>
          <p:cNvSpPr/>
          <p:nvPr/>
        </p:nvSpPr>
        <p:spPr>
          <a:xfrm>
            <a:off x="5577840" y="2057400"/>
            <a:ext cx="457200" cy="457200"/>
          </a:xfrm>
          <a:prstGeom prst="ellipse">
            <a:avLst/>
          </a:prstGeom>
          <a:solidFill>
            <a:srgbClr val="2E3D6F"/>
          </a:solidFill>
          <a:ln/>
        </p:spPr>
        <p:txBody>
          <a:bodyPr/>
          <a:lstStyle/>
          <a:p>
            <a:endParaRPr lang="en-IN"/>
          </a:p>
        </p:txBody>
      </p:sp>
      <p:sp>
        <p:nvSpPr>
          <p:cNvPr id="14" name="Text 11"/>
          <p:cNvSpPr/>
          <p:nvPr/>
        </p:nvSpPr>
        <p:spPr>
          <a:xfrm>
            <a:off x="5577840" y="2057400"/>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6126480" y="2075688"/>
            <a:ext cx="182880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Alternative &amp; Punk</a:t>
            </a:r>
            <a:endParaRPr lang="en-US" sz="1100" dirty="0"/>
          </a:p>
        </p:txBody>
      </p:sp>
      <p:sp>
        <p:nvSpPr>
          <p:cNvPr id="16" name="Text 13"/>
          <p:cNvSpPr/>
          <p:nvPr/>
        </p:nvSpPr>
        <p:spPr>
          <a:xfrm>
            <a:off x="6126480" y="2350008"/>
            <a:ext cx="2560320" cy="22860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12.37%  ·  $128.70</a:t>
            </a:r>
            <a:endParaRPr lang="en-US" sz="1000" dirty="0"/>
          </a:p>
        </p:txBody>
      </p:sp>
      <p:sp>
        <p:nvSpPr>
          <p:cNvPr id="17" name="Shape 14"/>
          <p:cNvSpPr/>
          <p:nvPr/>
        </p:nvSpPr>
        <p:spPr>
          <a:xfrm>
            <a:off x="5486400" y="2734056"/>
            <a:ext cx="3383280" cy="6583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5"/>
          <p:cNvSpPr/>
          <p:nvPr/>
        </p:nvSpPr>
        <p:spPr>
          <a:xfrm>
            <a:off x="5577840" y="2807208"/>
            <a:ext cx="457200" cy="457200"/>
          </a:xfrm>
          <a:prstGeom prst="ellipse">
            <a:avLst/>
          </a:prstGeom>
          <a:solidFill>
            <a:srgbClr val="2E3D6F"/>
          </a:solidFill>
          <a:ln/>
        </p:spPr>
        <p:txBody>
          <a:bodyPr/>
          <a:lstStyle/>
          <a:p>
            <a:endParaRPr lang="en-IN"/>
          </a:p>
        </p:txBody>
      </p:sp>
      <p:sp>
        <p:nvSpPr>
          <p:cNvPr id="19" name="Text 16"/>
          <p:cNvSpPr/>
          <p:nvPr/>
        </p:nvSpPr>
        <p:spPr>
          <a:xfrm>
            <a:off x="5577840" y="2807208"/>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6126480" y="2825496"/>
            <a:ext cx="182880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Metal</a:t>
            </a:r>
            <a:endParaRPr lang="en-US" sz="1100" dirty="0"/>
          </a:p>
        </p:txBody>
      </p:sp>
      <p:sp>
        <p:nvSpPr>
          <p:cNvPr id="21" name="Text 18"/>
          <p:cNvSpPr/>
          <p:nvPr/>
        </p:nvSpPr>
        <p:spPr>
          <a:xfrm>
            <a:off x="6126480" y="3099816"/>
            <a:ext cx="2560320" cy="22860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11.80%  ·  $122.76</a:t>
            </a:r>
            <a:endParaRPr lang="en-US" sz="1000" dirty="0"/>
          </a:p>
        </p:txBody>
      </p:sp>
      <p:sp>
        <p:nvSpPr>
          <p:cNvPr id="22" name="Shape 19"/>
          <p:cNvSpPr/>
          <p:nvPr/>
        </p:nvSpPr>
        <p:spPr>
          <a:xfrm>
            <a:off x="5486400" y="3483864"/>
            <a:ext cx="3383280" cy="6583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20"/>
          <p:cNvSpPr/>
          <p:nvPr/>
        </p:nvSpPr>
        <p:spPr>
          <a:xfrm>
            <a:off x="5577840" y="3557016"/>
            <a:ext cx="457200" cy="457200"/>
          </a:xfrm>
          <a:prstGeom prst="ellipse">
            <a:avLst/>
          </a:prstGeom>
          <a:solidFill>
            <a:srgbClr val="2E3D6F"/>
          </a:solidFill>
          <a:ln/>
        </p:spPr>
        <p:txBody>
          <a:bodyPr/>
          <a:lstStyle/>
          <a:p>
            <a:endParaRPr lang="en-IN"/>
          </a:p>
        </p:txBody>
      </p:sp>
      <p:sp>
        <p:nvSpPr>
          <p:cNvPr id="24" name="Text 21"/>
          <p:cNvSpPr/>
          <p:nvPr/>
        </p:nvSpPr>
        <p:spPr>
          <a:xfrm>
            <a:off x="5577840" y="3557016"/>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6126480" y="3575304"/>
            <a:ext cx="182880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R&amp;B/Soul</a:t>
            </a:r>
            <a:endParaRPr lang="en-US" sz="1100" dirty="0"/>
          </a:p>
        </p:txBody>
      </p:sp>
      <p:sp>
        <p:nvSpPr>
          <p:cNvPr id="26" name="Text 23"/>
          <p:cNvSpPr/>
          <p:nvPr/>
        </p:nvSpPr>
        <p:spPr>
          <a:xfrm>
            <a:off x="6126480" y="3849624"/>
            <a:ext cx="2560320" cy="22860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5.04%  ·  $52.47</a:t>
            </a:r>
            <a:endParaRPr lang="en-US" sz="1000" dirty="0"/>
          </a:p>
        </p:txBody>
      </p:sp>
      <p:sp>
        <p:nvSpPr>
          <p:cNvPr id="27" name="Shape 24"/>
          <p:cNvSpPr/>
          <p:nvPr/>
        </p:nvSpPr>
        <p:spPr>
          <a:xfrm>
            <a:off x="5486400" y="4233672"/>
            <a:ext cx="3383280" cy="6583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5"/>
          <p:cNvSpPr/>
          <p:nvPr/>
        </p:nvSpPr>
        <p:spPr>
          <a:xfrm>
            <a:off x="5577840" y="4306824"/>
            <a:ext cx="457200" cy="457200"/>
          </a:xfrm>
          <a:prstGeom prst="ellipse">
            <a:avLst/>
          </a:prstGeom>
          <a:solidFill>
            <a:srgbClr val="2E3D6F"/>
          </a:solidFill>
          <a:ln/>
        </p:spPr>
        <p:txBody>
          <a:bodyPr/>
          <a:lstStyle/>
          <a:p>
            <a:endParaRPr lang="en-IN"/>
          </a:p>
        </p:txBody>
      </p:sp>
      <p:sp>
        <p:nvSpPr>
          <p:cNvPr id="29" name="Text 26"/>
          <p:cNvSpPr/>
          <p:nvPr/>
        </p:nvSpPr>
        <p:spPr>
          <a:xfrm>
            <a:off x="5577840" y="4306824"/>
            <a:ext cx="457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p:nvPr/>
        </p:nvSpPr>
        <p:spPr>
          <a:xfrm>
            <a:off x="6126480" y="4325112"/>
            <a:ext cx="182880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Blues</a:t>
            </a:r>
            <a:endParaRPr lang="en-US" sz="1100" dirty="0"/>
          </a:p>
        </p:txBody>
      </p:sp>
      <p:sp>
        <p:nvSpPr>
          <p:cNvPr id="31" name="Text 28"/>
          <p:cNvSpPr/>
          <p:nvPr/>
        </p:nvSpPr>
        <p:spPr>
          <a:xfrm>
            <a:off x="6126480" y="4599432"/>
            <a:ext cx="2560320" cy="22860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3.43%  ·  $35.64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Customer Purchasing Behavior</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10</a:t>
            </a:r>
            <a:endParaRPr lang="en-US" sz="1300" dirty="0"/>
          </a:p>
        </p:txBody>
      </p:sp>
      <p:graphicFrame>
        <p:nvGraphicFramePr>
          <p:cNvPr id="5" name="Chart 0"/>
          <p:cNvGraphicFramePr/>
          <p:nvPr/>
        </p:nvGraphicFramePr>
        <p:xfrm>
          <a:off x="274320" y="777240"/>
          <a:ext cx="53035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822960"/>
            <a:ext cx="31089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7" name="Text 4"/>
          <p:cNvSpPr/>
          <p:nvPr/>
        </p:nvSpPr>
        <p:spPr>
          <a:xfrm>
            <a:off x="5806440" y="868680"/>
            <a:ext cx="548640" cy="7772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5"/>
          <p:cNvSpPr/>
          <p:nvPr/>
        </p:nvSpPr>
        <p:spPr>
          <a:xfrm>
            <a:off x="6400800" y="896112"/>
            <a:ext cx="2377440" cy="301752"/>
          </a:xfrm>
          <a:prstGeom prst="rect">
            <a:avLst/>
          </a:prstGeom>
          <a:noFill/>
          <a:ln/>
        </p:spPr>
        <p:txBody>
          <a:bodyPr wrap="square" rtlCol="0" anchor="ctr"/>
          <a:lstStyle/>
          <a:p>
            <a:pPr marL="0" indent="0">
              <a:buNone/>
            </a:pPr>
            <a:r>
              <a:rPr lang="en-US" sz="1150" b="1" dirty="0">
                <a:solidFill>
                  <a:srgbClr val="1A1F3C"/>
                </a:solidFill>
                <a:latin typeface="Calibri" pitchFamily="34" charset="0"/>
                <a:ea typeface="Calibri" pitchFamily="34" charset="-122"/>
                <a:cs typeface="Calibri" pitchFamily="34" charset="-120"/>
              </a:rPr>
              <a:t>Basket Size Grows</a:t>
            </a:r>
            <a:endParaRPr lang="en-US" sz="1150" dirty="0"/>
          </a:p>
        </p:txBody>
      </p:sp>
      <p:sp>
        <p:nvSpPr>
          <p:cNvPr id="9" name="Text 6"/>
          <p:cNvSpPr/>
          <p:nvPr/>
        </p:nvSpPr>
        <p:spPr>
          <a:xfrm>
            <a:off x="6400800" y="1188720"/>
            <a:ext cx="2377440" cy="50292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Long-term customers buy 11 orders avg vs 6 for new — loyalty = frequency</a:t>
            </a:r>
            <a:endParaRPr lang="en-US" sz="1000" dirty="0"/>
          </a:p>
        </p:txBody>
      </p:sp>
      <p:sp>
        <p:nvSpPr>
          <p:cNvPr id="10" name="Shape 7"/>
          <p:cNvSpPr/>
          <p:nvPr/>
        </p:nvSpPr>
        <p:spPr>
          <a:xfrm>
            <a:off x="5760720" y="1847088"/>
            <a:ext cx="31089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1" name="Text 8"/>
          <p:cNvSpPr/>
          <p:nvPr/>
        </p:nvSpPr>
        <p:spPr>
          <a:xfrm>
            <a:off x="5806440" y="1892808"/>
            <a:ext cx="548640" cy="7772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2" name="Text 9"/>
          <p:cNvSpPr/>
          <p:nvPr/>
        </p:nvSpPr>
        <p:spPr>
          <a:xfrm>
            <a:off x="6400800" y="1920240"/>
            <a:ext cx="2377440" cy="301752"/>
          </a:xfrm>
          <a:prstGeom prst="rect">
            <a:avLst/>
          </a:prstGeom>
          <a:noFill/>
          <a:ln/>
        </p:spPr>
        <p:txBody>
          <a:bodyPr wrap="square" rtlCol="0" anchor="ctr"/>
          <a:lstStyle/>
          <a:p>
            <a:pPr marL="0" indent="0">
              <a:buNone/>
            </a:pPr>
            <a:r>
              <a:rPr lang="en-US" sz="1150" b="1" dirty="0">
                <a:solidFill>
                  <a:srgbClr val="1A1F3C"/>
                </a:solidFill>
                <a:latin typeface="Calibri" pitchFamily="34" charset="0"/>
                <a:ea typeface="Calibri" pitchFamily="34" charset="-122"/>
                <a:cs typeface="Calibri" pitchFamily="34" charset="-120"/>
              </a:rPr>
              <a:t>Spend Scales Up</a:t>
            </a:r>
            <a:endParaRPr lang="en-US" sz="1150" dirty="0"/>
          </a:p>
        </p:txBody>
      </p:sp>
      <p:sp>
        <p:nvSpPr>
          <p:cNvPr id="13" name="Text 10"/>
          <p:cNvSpPr/>
          <p:nvPr/>
        </p:nvSpPr>
        <p:spPr>
          <a:xfrm>
            <a:off x="6400800" y="2212848"/>
            <a:ext cx="2377440" cy="50292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Total spend rises: New $50 → Mid $75 → Long-Term $85.45 per customer</a:t>
            </a:r>
            <a:endParaRPr lang="en-US" sz="1000" dirty="0"/>
          </a:p>
        </p:txBody>
      </p:sp>
      <p:sp>
        <p:nvSpPr>
          <p:cNvPr id="14" name="Shape 11"/>
          <p:cNvSpPr/>
          <p:nvPr/>
        </p:nvSpPr>
        <p:spPr>
          <a:xfrm>
            <a:off x="5760720" y="2871216"/>
            <a:ext cx="31089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5" name="Text 12"/>
          <p:cNvSpPr/>
          <p:nvPr/>
        </p:nvSpPr>
        <p:spPr>
          <a:xfrm>
            <a:off x="5806440" y="2916936"/>
            <a:ext cx="548640" cy="7772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3"/>
          <p:cNvSpPr/>
          <p:nvPr/>
        </p:nvSpPr>
        <p:spPr>
          <a:xfrm>
            <a:off x="6400800" y="2944368"/>
            <a:ext cx="2377440" cy="301752"/>
          </a:xfrm>
          <a:prstGeom prst="rect">
            <a:avLst/>
          </a:prstGeom>
          <a:noFill/>
          <a:ln/>
        </p:spPr>
        <p:txBody>
          <a:bodyPr wrap="square" rtlCol="0" anchor="ctr"/>
          <a:lstStyle/>
          <a:p>
            <a:pPr marL="0" indent="0">
              <a:buNone/>
            </a:pPr>
            <a:r>
              <a:rPr lang="en-US" sz="1150" b="1" dirty="0">
                <a:solidFill>
                  <a:srgbClr val="1A1F3C"/>
                </a:solidFill>
                <a:latin typeface="Calibri" pitchFamily="34" charset="0"/>
                <a:ea typeface="Calibri" pitchFamily="34" charset="-122"/>
                <a:cs typeface="Calibri" pitchFamily="34" charset="-120"/>
              </a:rPr>
              <a:t>AOV Stays Stable</a:t>
            </a:r>
            <a:endParaRPr lang="en-US" sz="1150" dirty="0"/>
          </a:p>
        </p:txBody>
      </p:sp>
      <p:sp>
        <p:nvSpPr>
          <p:cNvPr id="17" name="Text 14"/>
          <p:cNvSpPr/>
          <p:nvPr/>
        </p:nvSpPr>
        <p:spPr>
          <a:xfrm>
            <a:off x="6400800" y="3236976"/>
            <a:ext cx="2377440" cy="50292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Average Order Value barely changes ($7.66–$8.27) across all segments</a:t>
            </a:r>
            <a:endParaRPr lang="en-US" sz="1000" dirty="0"/>
          </a:p>
        </p:txBody>
      </p:sp>
      <p:sp>
        <p:nvSpPr>
          <p:cNvPr id="18" name="Shape 15"/>
          <p:cNvSpPr/>
          <p:nvPr/>
        </p:nvSpPr>
        <p:spPr>
          <a:xfrm>
            <a:off x="5760720" y="3895344"/>
            <a:ext cx="3108960" cy="91440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9" name="Text 16"/>
          <p:cNvSpPr/>
          <p:nvPr/>
        </p:nvSpPr>
        <p:spPr>
          <a:xfrm>
            <a:off x="5806440" y="3941064"/>
            <a:ext cx="548640" cy="77724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0" name="Text 17"/>
          <p:cNvSpPr/>
          <p:nvPr/>
        </p:nvSpPr>
        <p:spPr>
          <a:xfrm>
            <a:off x="6400800" y="3968496"/>
            <a:ext cx="2377440" cy="301752"/>
          </a:xfrm>
          <a:prstGeom prst="rect">
            <a:avLst/>
          </a:prstGeom>
          <a:noFill/>
          <a:ln/>
        </p:spPr>
        <p:txBody>
          <a:bodyPr wrap="square" rtlCol="0" anchor="ctr"/>
          <a:lstStyle/>
          <a:p>
            <a:pPr marL="0" indent="0">
              <a:buNone/>
            </a:pPr>
            <a:r>
              <a:rPr lang="en-US" sz="1150" b="1" dirty="0">
                <a:solidFill>
                  <a:srgbClr val="1A1F3C"/>
                </a:solidFill>
                <a:latin typeface="Calibri" pitchFamily="34" charset="0"/>
                <a:ea typeface="Calibri" pitchFamily="34" charset="-122"/>
                <a:cs typeface="Calibri" pitchFamily="34" charset="-120"/>
              </a:rPr>
              <a:t>Repeat Behavior</a:t>
            </a:r>
            <a:endParaRPr lang="en-US" sz="1150" dirty="0"/>
          </a:p>
        </p:txBody>
      </p:sp>
      <p:sp>
        <p:nvSpPr>
          <p:cNvPr id="21" name="Text 18"/>
          <p:cNvSpPr/>
          <p:nvPr/>
        </p:nvSpPr>
        <p:spPr>
          <a:xfrm>
            <a:off x="6400800" y="4261104"/>
            <a:ext cx="2377440" cy="50292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Avg 106–147 days between purchases; customers return on a quarterly rhythm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Customer Churn Rate Analysis</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11</a:t>
            </a:r>
            <a:endParaRPr lang="en-US" sz="1300" dirty="0"/>
          </a:p>
        </p:txBody>
      </p:sp>
      <p:sp>
        <p:nvSpPr>
          <p:cNvPr id="5" name="Shape 3"/>
          <p:cNvSpPr/>
          <p:nvPr/>
        </p:nvSpPr>
        <p:spPr>
          <a:xfrm>
            <a:off x="274320" y="822960"/>
            <a:ext cx="3200400" cy="25603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Text 4"/>
          <p:cNvSpPr/>
          <p:nvPr/>
        </p:nvSpPr>
        <p:spPr>
          <a:xfrm>
            <a:off x="274320" y="914400"/>
            <a:ext cx="3200400" cy="1280160"/>
          </a:xfrm>
          <a:prstGeom prst="rect">
            <a:avLst/>
          </a:prstGeom>
          <a:noFill/>
          <a:ln/>
        </p:spPr>
        <p:txBody>
          <a:bodyPr wrap="square" rtlCol="0" anchor="ctr"/>
          <a:lstStyle/>
          <a:p>
            <a:pPr marL="0" indent="0" algn="ctr">
              <a:buNone/>
            </a:pPr>
            <a:r>
              <a:rPr lang="en-US" sz="5600" b="1" dirty="0">
                <a:solidFill>
                  <a:srgbClr val="E05A44"/>
                </a:solidFill>
                <a:latin typeface="Calibri" pitchFamily="34" charset="0"/>
                <a:ea typeface="Calibri" pitchFamily="34" charset="-122"/>
                <a:cs typeface="Calibri" pitchFamily="34" charset="-120"/>
              </a:rPr>
              <a:t>33.90%</a:t>
            </a:r>
            <a:endParaRPr lang="en-US" sz="5600" dirty="0"/>
          </a:p>
        </p:txBody>
      </p:sp>
      <p:sp>
        <p:nvSpPr>
          <p:cNvPr id="7" name="Text 5"/>
          <p:cNvSpPr/>
          <p:nvPr/>
        </p:nvSpPr>
        <p:spPr>
          <a:xfrm>
            <a:off x="274320" y="2194560"/>
            <a:ext cx="3200400" cy="411480"/>
          </a:xfrm>
          <a:prstGeom prst="rect">
            <a:avLst/>
          </a:prstGeom>
          <a:noFill/>
          <a:ln/>
        </p:spPr>
        <p:txBody>
          <a:bodyPr wrap="square" rtlCol="0" anchor="ctr"/>
          <a:lstStyle/>
          <a:p>
            <a:pPr marL="0" indent="0" algn="ctr">
              <a:buNone/>
            </a:pPr>
            <a:r>
              <a:rPr lang="en-US" sz="1300" b="1" dirty="0">
                <a:solidFill>
                  <a:srgbClr val="1A1F3C"/>
                </a:solidFill>
                <a:latin typeface="Calibri" pitchFamily="34" charset="0"/>
                <a:ea typeface="Calibri" pitchFamily="34" charset="-122"/>
                <a:cs typeface="Calibri" pitchFamily="34" charset="-120"/>
              </a:rPr>
              <a:t>Overall Churn Rate</a:t>
            </a:r>
            <a:endParaRPr lang="en-US" sz="1300" dirty="0"/>
          </a:p>
        </p:txBody>
      </p:sp>
      <p:sp>
        <p:nvSpPr>
          <p:cNvPr id="8" name="Text 6"/>
          <p:cNvSpPr/>
          <p:nvPr/>
        </p:nvSpPr>
        <p:spPr>
          <a:xfrm>
            <a:off x="274320" y="2606040"/>
            <a:ext cx="3200400" cy="320040"/>
          </a:xfrm>
          <a:prstGeom prst="rect">
            <a:avLst/>
          </a:prstGeom>
          <a:noFill/>
          <a:ln/>
        </p:spPr>
        <p:txBody>
          <a:bodyPr wrap="square" rtlCol="0" anchor="ctr"/>
          <a:lstStyle/>
          <a:p>
            <a:pPr marL="0" indent="0" algn="ctr">
              <a:buNone/>
            </a:pPr>
            <a:r>
              <a:rPr lang="en-US" sz="1000" dirty="0">
                <a:solidFill>
                  <a:srgbClr val="8290A8"/>
                </a:solidFill>
                <a:latin typeface="Calibri" pitchFamily="34" charset="0"/>
                <a:ea typeface="Calibri" pitchFamily="34" charset="-122"/>
                <a:cs typeface="Calibri" pitchFamily="34" charset="-120"/>
              </a:rPr>
              <a:t>Customers inactive &gt; 3 months</a:t>
            </a:r>
            <a:endParaRPr lang="en-US" sz="1000" dirty="0"/>
          </a:p>
        </p:txBody>
      </p:sp>
      <p:graphicFrame>
        <p:nvGraphicFramePr>
          <p:cNvPr id="9" name="Chart 0"/>
          <p:cNvGraphicFramePr/>
          <p:nvPr/>
        </p:nvGraphicFramePr>
        <p:xfrm>
          <a:off x="3657600" y="804672"/>
          <a:ext cx="521208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320040" y="3703320"/>
            <a:ext cx="201168" cy="201168"/>
          </a:xfrm>
          <a:prstGeom prst="ellipse">
            <a:avLst/>
          </a:prstGeom>
          <a:solidFill>
            <a:srgbClr val="F5A623"/>
          </a:solidFill>
          <a:ln/>
        </p:spPr>
        <p:txBody>
          <a:bodyPr/>
          <a:lstStyle/>
          <a:p>
            <a:endParaRPr lang="en-IN"/>
          </a:p>
        </p:txBody>
      </p:sp>
      <p:sp>
        <p:nvSpPr>
          <p:cNvPr id="11" name="Text 8"/>
          <p:cNvSpPr/>
          <p:nvPr/>
        </p:nvSpPr>
        <p:spPr>
          <a:xfrm>
            <a:off x="594360" y="3675888"/>
            <a:ext cx="8229600" cy="256032"/>
          </a:xfrm>
          <a:prstGeom prst="rect">
            <a:avLst/>
          </a:prstGeom>
          <a:noFill/>
          <a:ln/>
        </p:spPr>
        <p:txBody>
          <a:bodyPr wrap="square" rtlCol="0" anchor="ctr"/>
          <a:lstStyle/>
          <a:p>
            <a:pPr marL="0" indent="0">
              <a:buNone/>
            </a:pPr>
            <a:r>
              <a:rPr lang="en-US" sz="1050" dirty="0">
                <a:solidFill>
                  <a:srgbClr val="1A1F3C"/>
                </a:solidFill>
                <a:latin typeface="Calibri" pitchFamily="34" charset="0"/>
                <a:ea typeface="Calibri" pitchFamily="34" charset="-122"/>
                <a:cs typeface="Calibri" pitchFamily="34" charset="-120"/>
              </a:rPr>
              <a:t>Churn defined as no purchase in the last 3 months using TIMESTAMPDIFF()</a:t>
            </a:r>
            <a:endParaRPr lang="en-US" sz="1050" dirty="0"/>
          </a:p>
        </p:txBody>
      </p:sp>
      <p:sp>
        <p:nvSpPr>
          <p:cNvPr id="12" name="Shape 9"/>
          <p:cNvSpPr/>
          <p:nvPr/>
        </p:nvSpPr>
        <p:spPr>
          <a:xfrm>
            <a:off x="320040" y="3995928"/>
            <a:ext cx="201168" cy="201168"/>
          </a:xfrm>
          <a:prstGeom prst="ellipse">
            <a:avLst/>
          </a:prstGeom>
          <a:solidFill>
            <a:srgbClr val="F5A623"/>
          </a:solidFill>
          <a:ln/>
        </p:spPr>
        <p:txBody>
          <a:bodyPr/>
          <a:lstStyle/>
          <a:p>
            <a:endParaRPr lang="en-IN"/>
          </a:p>
        </p:txBody>
      </p:sp>
      <p:sp>
        <p:nvSpPr>
          <p:cNvPr id="13" name="Text 10"/>
          <p:cNvSpPr/>
          <p:nvPr/>
        </p:nvSpPr>
        <p:spPr>
          <a:xfrm>
            <a:off x="594360" y="3968496"/>
            <a:ext cx="8229600" cy="256032"/>
          </a:xfrm>
          <a:prstGeom prst="rect">
            <a:avLst/>
          </a:prstGeom>
          <a:noFill/>
          <a:ln/>
        </p:spPr>
        <p:txBody>
          <a:bodyPr wrap="square" rtlCol="0" anchor="ctr"/>
          <a:lstStyle/>
          <a:p>
            <a:pPr marL="0" indent="0">
              <a:buNone/>
            </a:pPr>
            <a:r>
              <a:rPr lang="en-US" sz="1050" dirty="0">
                <a:solidFill>
                  <a:srgbClr val="1A1F3C"/>
                </a:solidFill>
                <a:latin typeface="Calibri" pitchFamily="34" charset="0"/>
                <a:ea typeface="Calibri" pitchFamily="34" charset="-122"/>
                <a:cs typeface="Calibri" pitchFamily="34" charset="-120"/>
              </a:rPr>
              <a:t>High-risk customers show lower spend, fewer orders &amp; longer inactivity</a:t>
            </a:r>
            <a:endParaRPr lang="en-US" sz="1050" dirty="0"/>
          </a:p>
        </p:txBody>
      </p:sp>
      <p:sp>
        <p:nvSpPr>
          <p:cNvPr id="14" name="Shape 11"/>
          <p:cNvSpPr/>
          <p:nvPr/>
        </p:nvSpPr>
        <p:spPr>
          <a:xfrm>
            <a:off x="320040" y="4288536"/>
            <a:ext cx="201168" cy="201168"/>
          </a:xfrm>
          <a:prstGeom prst="ellipse">
            <a:avLst/>
          </a:prstGeom>
          <a:solidFill>
            <a:srgbClr val="F5A623"/>
          </a:solidFill>
          <a:ln/>
        </p:spPr>
        <p:txBody>
          <a:bodyPr/>
          <a:lstStyle/>
          <a:p>
            <a:endParaRPr lang="en-IN"/>
          </a:p>
        </p:txBody>
      </p:sp>
      <p:sp>
        <p:nvSpPr>
          <p:cNvPr id="15" name="Text 12"/>
          <p:cNvSpPr/>
          <p:nvPr/>
        </p:nvSpPr>
        <p:spPr>
          <a:xfrm>
            <a:off x="594360" y="4261104"/>
            <a:ext cx="8229600" cy="256032"/>
          </a:xfrm>
          <a:prstGeom prst="rect">
            <a:avLst/>
          </a:prstGeom>
          <a:noFill/>
          <a:ln/>
        </p:spPr>
        <p:txBody>
          <a:bodyPr wrap="square" rtlCol="0" anchor="ctr"/>
          <a:lstStyle/>
          <a:p>
            <a:pPr marL="0" indent="0">
              <a:buNone/>
            </a:pPr>
            <a:r>
              <a:rPr lang="en-US" sz="1050" dirty="0">
                <a:solidFill>
                  <a:srgbClr val="1A1F3C"/>
                </a:solidFill>
                <a:latin typeface="Calibri" pitchFamily="34" charset="0"/>
                <a:ea typeface="Calibri" pitchFamily="34" charset="-122"/>
                <a:cs typeface="Calibri" pitchFamily="34" charset="-120"/>
              </a:rPr>
              <a:t>Single-customer countries (Belgium, Chile, Denmark) show 100% churn</a:t>
            </a:r>
            <a:endParaRPr lang="en-US" sz="1050" dirty="0"/>
          </a:p>
        </p:txBody>
      </p:sp>
      <p:sp>
        <p:nvSpPr>
          <p:cNvPr id="16" name="Shape 13"/>
          <p:cNvSpPr/>
          <p:nvPr/>
        </p:nvSpPr>
        <p:spPr>
          <a:xfrm>
            <a:off x="320040" y="4581144"/>
            <a:ext cx="201168" cy="201168"/>
          </a:xfrm>
          <a:prstGeom prst="ellipse">
            <a:avLst/>
          </a:prstGeom>
          <a:solidFill>
            <a:srgbClr val="F5A623"/>
          </a:solidFill>
          <a:ln/>
        </p:spPr>
        <p:txBody>
          <a:bodyPr/>
          <a:lstStyle/>
          <a:p>
            <a:endParaRPr lang="en-IN"/>
          </a:p>
        </p:txBody>
      </p:sp>
      <p:sp>
        <p:nvSpPr>
          <p:cNvPr id="17" name="Text 14"/>
          <p:cNvSpPr/>
          <p:nvPr/>
        </p:nvSpPr>
        <p:spPr>
          <a:xfrm>
            <a:off x="594360" y="4553712"/>
            <a:ext cx="8229600" cy="256032"/>
          </a:xfrm>
          <a:prstGeom prst="rect">
            <a:avLst/>
          </a:prstGeom>
          <a:noFill/>
          <a:ln/>
        </p:spPr>
        <p:txBody>
          <a:bodyPr wrap="square" rtlCol="0" anchor="ctr"/>
          <a:lstStyle/>
          <a:p>
            <a:pPr marL="0" indent="0">
              <a:buNone/>
            </a:pPr>
            <a:r>
              <a:rPr lang="en-US" sz="1050" dirty="0">
                <a:solidFill>
                  <a:srgbClr val="1A1F3C"/>
                </a:solidFill>
                <a:latin typeface="Calibri" pitchFamily="34" charset="0"/>
                <a:ea typeface="Calibri" pitchFamily="34" charset="-122"/>
                <a:cs typeface="Calibri" pitchFamily="34" charset="-120"/>
              </a:rPr>
              <a:t>USA and Canada are priority markets for retention campaigns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Top-Selling Artists in the USA</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12</a:t>
            </a:r>
            <a:endParaRPr lang="en-US" sz="1300" dirty="0"/>
          </a:p>
        </p:txBody>
      </p:sp>
      <p:graphicFrame>
        <p:nvGraphicFramePr>
          <p:cNvPr id="5" name="Chart 0"/>
          <p:cNvGraphicFramePr/>
          <p:nvPr/>
        </p:nvGraphicFramePr>
        <p:xfrm>
          <a:off x="274320" y="777240"/>
          <a:ext cx="56692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126480" y="822960"/>
            <a:ext cx="274320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Key Takeaways</a:t>
            </a:r>
            <a:endParaRPr lang="en-US" sz="1400" dirty="0"/>
          </a:p>
        </p:txBody>
      </p:sp>
      <p:sp>
        <p:nvSpPr>
          <p:cNvPr id="7" name="Shape 4"/>
          <p:cNvSpPr/>
          <p:nvPr/>
        </p:nvSpPr>
        <p:spPr>
          <a:xfrm>
            <a:off x="6080760" y="1234440"/>
            <a:ext cx="2788920" cy="84124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8" name="Text 5"/>
          <p:cNvSpPr/>
          <p:nvPr/>
        </p:nvSpPr>
        <p:spPr>
          <a:xfrm>
            <a:off x="6126480" y="1280160"/>
            <a:ext cx="457200" cy="68580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9" name="Text 6"/>
          <p:cNvSpPr/>
          <p:nvPr/>
        </p:nvSpPr>
        <p:spPr>
          <a:xfrm>
            <a:off x="6629400" y="1307592"/>
            <a:ext cx="219456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Van Halen leads</a:t>
            </a:r>
            <a:endParaRPr lang="en-US" sz="1100" dirty="0"/>
          </a:p>
        </p:txBody>
      </p:sp>
      <p:sp>
        <p:nvSpPr>
          <p:cNvPr id="10" name="Text 7"/>
          <p:cNvSpPr/>
          <p:nvPr/>
        </p:nvSpPr>
        <p:spPr>
          <a:xfrm>
            <a:off x="6629400" y="1581912"/>
            <a:ext cx="2194560" cy="43891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$42.57 revenue — Rock's strongest performer</a:t>
            </a:r>
            <a:endParaRPr lang="en-US" sz="1000" dirty="0"/>
          </a:p>
        </p:txBody>
      </p:sp>
      <p:sp>
        <p:nvSpPr>
          <p:cNvPr id="11" name="Shape 8"/>
          <p:cNvSpPr/>
          <p:nvPr/>
        </p:nvSpPr>
        <p:spPr>
          <a:xfrm>
            <a:off x="6080760" y="2194560"/>
            <a:ext cx="2788920" cy="84124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2" name="Text 9"/>
          <p:cNvSpPr/>
          <p:nvPr/>
        </p:nvSpPr>
        <p:spPr>
          <a:xfrm>
            <a:off x="6126480" y="2240280"/>
            <a:ext cx="457200" cy="68580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3" name="Text 10"/>
          <p:cNvSpPr/>
          <p:nvPr/>
        </p:nvSpPr>
        <p:spPr>
          <a:xfrm>
            <a:off x="6629400" y="2267712"/>
            <a:ext cx="219456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Rock Dominates</a:t>
            </a:r>
            <a:endParaRPr lang="en-US" sz="1100" dirty="0"/>
          </a:p>
        </p:txBody>
      </p:sp>
      <p:sp>
        <p:nvSpPr>
          <p:cNvPr id="14" name="Text 11"/>
          <p:cNvSpPr/>
          <p:nvPr/>
        </p:nvSpPr>
        <p:spPr>
          <a:xfrm>
            <a:off x="6629400" y="2542032"/>
            <a:ext cx="2194560" cy="43891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8 of top 10 artists are Rock genre</a:t>
            </a:r>
            <a:endParaRPr lang="en-US" sz="1000" dirty="0"/>
          </a:p>
        </p:txBody>
      </p:sp>
      <p:sp>
        <p:nvSpPr>
          <p:cNvPr id="15" name="Shape 12"/>
          <p:cNvSpPr/>
          <p:nvPr/>
        </p:nvSpPr>
        <p:spPr>
          <a:xfrm>
            <a:off x="6080760" y="3154680"/>
            <a:ext cx="2788920" cy="84124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6" name="Text 13"/>
          <p:cNvSpPr/>
          <p:nvPr/>
        </p:nvSpPr>
        <p:spPr>
          <a:xfrm>
            <a:off x="6126480" y="3200400"/>
            <a:ext cx="457200" cy="68580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7" name="Text 14"/>
          <p:cNvSpPr/>
          <p:nvPr/>
        </p:nvSpPr>
        <p:spPr>
          <a:xfrm>
            <a:off x="6629400" y="3227832"/>
            <a:ext cx="219456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Alt &amp; Punk strong</a:t>
            </a:r>
            <a:endParaRPr lang="en-US" sz="1100" dirty="0"/>
          </a:p>
        </p:txBody>
      </p:sp>
      <p:sp>
        <p:nvSpPr>
          <p:cNvPr id="18" name="Text 15"/>
          <p:cNvSpPr/>
          <p:nvPr/>
        </p:nvSpPr>
        <p:spPr>
          <a:xfrm>
            <a:off x="6629400" y="3502152"/>
            <a:ext cx="2194560" cy="43891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Green Day &amp; R.E.M. show crossover appeal</a:t>
            </a:r>
            <a:endParaRPr lang="en-US" sz="1000" dirty="0"/>
          </a:p>
        </p:txBody>
      </p:sp>
      <p:sp>
        <p:nvSpPr>
          <p:cNvPr id="19" name="Shape 16"/>
          <p:cNvSpPr/>
          <p:nvPr/>
        </p:nvSpPr>
        <p:spPr>
          <a:xfrm>
            <a:off x="6080760" y="4114800"/>
            <a:ext cx="2788920" cy="84124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0" name="Text 17"/>
          <p:cNvSpPr/>
          <p:nvPr/>
        </p:nvSpPr>
        <p:spPr>
          <a:xfrm>
            <a:off x="6126480" y="4160520"/>
            <a:ext cx="457200" cy="68580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1" name="Text 18"/>
          <p:cNvSpPr/>
          <p:nvPr/>
        </p:nvSpPr>
        <p:spPr>
          <a:xfrm>
            <a:off x="6629400" y="4187952"/>
            <a:ext cx="2194560" cy="274320"/>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Blues represented</a:t>
            </a:r>
            <a:endParaRPr lang="en-US" sz="1100" dirty="0"/>
          </a:p>
        </p:txBody>
      </p:sp>
      <p:sp>
        <p:nvSpPr>
          <p:cNvPr id="22" name="Text 19"/>
          <p:cNvSpPr/>
          <p:nvPr/>
        </p:nvSpPr>
        <p:spPr>
          <a:xfrm>
            <a:off x="6629400" y="4462272"/>
            <a:ext cx="2194560" cy="43891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Eric Clapton the sole Blues entry at #6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Customer Lifetime Value (CLV) Segmentation</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13</a:t>
            </a:r>
            <a:endParaRPr lang="en-US" sz="1300" dirty="0"/>
          </a:p>
        </p:txBody>
      </p:sp>
      <p:graphicFrame>
        <p:nvGraphicFramePr>
          <p:cNvPr id="5" name="Chart 0"/>
          <p:cNvGraphicFramePr/>
          <p:nvPr/>
        </p:nvGraphicFramePr>
        <p:xfrm>
          <a:off x="274320" y="777240"/>
          <a:ext cx="41148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663440" y="822960"/>
            <a:ext cx="4206240" cy="123444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7" name="Shape 4"/>
          <p:cNvSpPr/>
          <p:nvPr/>
        </p:nvSpPr>
        <p:spPr>
          <a:xfrm>
            <a:off x="4663440" y="822960"/>
            <a:ext cx="164592" cy="1234440"/>
          </a:xfrm>
          <a:prstGeom prst="rect">
            <a:avLst/>
          </a:prstGeom>
          <a:solidFill>
            <a:srgbClr val="2ECC71"/>
          </a:solidFill>
          <a:ln/>
        </p:spPr>
        <p:txBody>
          <a:bodyPr/>
          <a:lstStyle/>
          <a:p>
            <a:endParaRPr lang="en-IN"/>
          </a:p>
        </p:txBody>
      </p:sp>
      <p:sp>
        <p:nvSpPr>
          <p:cNvPr id="8" name="Text 5"/>
          <p:cNvSpPr/>
          <p:nvPr/>
        </p:nvSpPr>
        <p:spPr>
          <a:xfrm>
            <a:off x="4937760" y="896112"/>
            <a:ext cx="374904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High Value</a:t>
            </a:r>
            <a:endParaRPr lang="en-US" sz="1400" dirty="0"/>
          </a:p>
        </p:txBody>
      </p:sp>
      <p:sp>
        <p:nvSpPr>
          <p:cNvPr id="9" name="Text 6"/>
          <p:cNvSpPr/>
          <p:nvPr/>
        </p:nvSpPr>
        <p:spPr>
          <a:xfrm>
            <a:off x="4937760" y="1234440"/>
            <a:ext cx="3749040" cy="256032"/>
          </a:xfrm>
          <a:prstGeom prst="rect">
            <a:avLst/>
          </a:prstGeom>
          <a:noFill/>
          <a:ln/>
        </p:spPr>
        <p:txBody>
          <a:bodyPr wrap="square" rtlCol="0" anchor="ctr"/>
          <a:lstStyle/>
          <a:p>
            <a:pPr marL="0" indent="0">
              <a:buNone/>
            </a:pPr>
            <a:r>
              <a:rPr lang="en-US" sz="1050" dirty="0">
                <a:solidFill>
                  <a:srgbClr val="8290A8"/>
                </a:solidFill>
                <a:latin typeface="Calibri" pitchFamily="34" charset="0"/>
                <a:ea typeface="Calibri" pitchFamily="34" charset="-122"/>
                <a:cs typeface="Calibri" pitchFamily="34" charset="-120"/>
              </a:rPr>
              <a:t>Recency: ≤ 3 months  ·  Orders: ≥ 10  ·  CLV: $87.93</a:t>
            </a:r>
            <a:endParaRPr lang="en-US" sz="1050" dirty="0"/>
          </a:p>
        </p:txBody>
      </p:sp>
      <p:sp>
        <p:nvSpPr>
          <p:cNvPr id="10" name="Text 7"/>
          <p:cNvSpPr/>
          <p:nvPr/>
        </p:nvSpPr>
        <p:spPr>
          <a:xfrm>
            <a:off x="4937760" y="1508760"/>
            <a:ext cx="3749040" cy="411480"/>
          </a:xfrm>
          <a:prstGeom prst="rect">
            <a:avLst/>
          </a:prstGeom>
          <a:noFill/>
          <a:ln/>
        </p:spPr>
        <p:txBody>
          <a:bodyPr wrap="square" rtlCol="0" anchor="ctr"/>
          <a:lstStyle/>
          <a:p>
            <a:pPr marL="0" indent="0">
              <a:buNone/>
            </a:pPr>
            <a:r>
              <a:rPr lang="en-US" sz="1050" i="1" dirty="0">
                <a:solidFill>
                  <a:srgbClr val="E05A44"/>
                </a:solidFill>
                <a:latin typeface="Calibri" pitchFamily="34" charset="0"/>
                <a:ea typeface="Calibri" pitchFamily="34" charset="-122"/>
                <a:cs typeface="Calibri" pitchFamily="34" charset="-120"/>
              </a:rPr>
              <a:t>→ VIP loyalty perks &amp; early-access releases</a:t>
            </a:r>
            <a:endParaRPr lang="en-US" sz="1050" dirty="0"/>
          </a:p>
        </p:txBody>
      </p:sp>
      <p:sp>
        <p:nvSpPr>
          <p:cNvPr id="11" name="Shape 8"/>
          <p:cNvSpPr/>
          <p:nvPr/>
        </p:nvSpPr>
        <p:spPr>
          <a:xfrm>
            <a:off x="4663440" y="2194560"/>
            <a:ext cx="4206240" cy="123444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9"/>
          <p:cNvSpPr/>
          <p:nvPr/>
        </p:nvSpPr>
        <p:spPr>
          <a:xfrm>
            <a:off x="4663440" y="2194560"/>
            <a:ext cx="164592" cy="1234440"/>
          </a:xfrm>
          <a:prstGeom prst="rect">
            <a:avLst/>
          </a:prstGeom>
          <a:solidFill>
            <a:srgbClr val="3A7BD5"/>
          </a:solidFill>
          <a:ln/>
        </p:spPr>
        <p:txBody>
          <a:bodyPr/>
          <a:lstStyle/>
          <a:p>
            <a:endParaRPr lang="en-IN"/>
          </a:p>
        </p:txBody>
      </p:sp>
      <p:sp>
        <p:nvSpPr>
          <p:cNvPr id="13" name="Text 10"/>
          <p:cNvSpPr/>
          <p:nvPr/>
        </p:nvSpPr>
        <p:spPr>
          <a:xfrm>
            <a:off x="4937760" y="2267712"/>
            <a:ext cx="374904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Mid Value</a:t>
            </a:r>
            <a:endParaRPr lang="en-US" sz="1400" dirty="0"/>
          </a:p>
        </p:txBody>
      </p:sp>
      <p:sp>
        <p:nvSpPr>
          <p:cNvPr id="14" name="Text 11"/>
          <p:cNvSpPr/>
          <p:nvPr/>
        </p:nvSpPr>
        <p:spPr>
          <a:xfrm>
            <a:off x="4937760" y="2606040"/>
            <a:ext cx="3749040" cy="256032"/>
          </a:xfrm>
          <a:prstGeom prst="rect">
            <a:avLst/>
          </a:prstGeom>
          <a:noFill/>
          <a:ln/>
        </p:spPr>
        <p:txBody>
          <a:bodyPr wrap="square" rtlCol="0" anchor="ctr"/>
          <a:lstStyle/>
          <a:p>
            <a:pPr marL="0" indent="0">
              <a:buNone/>
            </a:pPr>
            <a:r>
              <a:rPr lang="en-US" sz="1050" dirty="0">
                <a:solidFill>
                  <a:srgbClr val="8290A8"/>
                </a:solidFill>
                <a:latin typeface="Calibri" pitchFamily="34" charset="0"/>
                <a:ea typeface="Calibri" pitchFamily="34" charset="-122"/>
                <a:cs typeface="Calibri" pitchFamily="34" charset="-120"/>
              </a:rPr>
              <a:t>Recency: 3–6 months  ·  Orders: 4–9  ·  CLV: $73.05</a:t>
            </a:r>
            <a:endParaRPr lang="en-US" sz="1050" dirty="0"/>
          </a:p>
        </p:txBody>
      </p:sp>
      <p:sp>
        <p:nvSpPr>
          <p:cNvPr id="15" name="Text 12"/>
          <p:cNvSpPr/>
          <p:nvPr/>
        </p:nvSpPr>
        <p:spPr>
          <a:xfrm>
            <a:off x="4937760" y="2880360"/>
            <a:ext cx="3749040" cy="411480"/>
          </a:xfrm>
          <a:prstGeom prst="rect">
            <a:avLst/>
          </a:prstGeom>
          <a:noFill/>
          <a:ln/>
        </p:spPr>
        <p:txBody>
          <a:bodyPr wrap="square" rtlCol="0" anchor="ctr"/>
          <a:lstStyle/>
          <a:p>
            <a:pPr marL="0" indent="0">
              <a:buNone/>
            </a:pPr>
            <a:r>
              <a:rPr lang="en-US" sz="1050" i="1" dirty="0">
                <a:solidFill>
                  <a:srgbClr val="E05A44"/>
                </a:solidFill>
                <a:latin typeface="Calibri" pitchFamily="34" charset="0"/>
                <a:ea typeface="Calibri" pitchFamily="34" charset="-122"/>
                <a:cs typeface="Calibri" pitchFamily="34" charset="-120"/>
              </a:rPr>
              <a:t>→ Upsell &amp; cross-sell campaigns</a:t>
            </a:r>
            <a:endParaRPr lang="en-US" sz="1050" dirty="0"/>
          </a:p>
        </p:txBody>
      </p:sp>
      <p:sp>
        <p:nvSpPr>
          <p:cNvPr id="16" name="Shape 13"/>
          <p:cNvSpPr/>
          <p:nvPr/>
        </p:nvSpPr>
        <p:spPr>
          <a:xfrm>
            <a:off x="4663440" y="3566160"/>
            <a:ext cx="4206240" cy="123444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7" name="Shape 14"/>
          <p:cNvSpPr/>
          <p:nvPr/>
        </p:nvSpPr>
        <p:spPr>
          <a:xfrm>
            <a:off x="4663440" y="3566160"/>
            <a:ext cx="164592" cy="1234440"/>
          </a:xfrm>
          <a:prstGeom prst="rect">
            <a:avLst/>
          </a:prstGeom>
          <a:solidFill>
            <a:srgbClr val="E05A44"/>
          </a:solidFill>
          <a:ln/>
        </p:spPr>
        <p:txBody>
          <a:bodyPr/>
          <a:lstStyle/>
          <a:p>
            <a:endParaRPr lang="en-IN"/>
          </a:p>
        </p:txBody>
      </p:sp>
      <p:sp>
        <p:nvSpPr>
          <p:cNvPr id="18" name="Text 15"/>
          <p:cNvSpPr/>
          <p:nvPr/>
        </p:nvSpPr>
        <p:spPr>
          <a:xfrm>
            <a:off x="4937760" y="3639312"/>
            <a:ext cx="3749040" cy="347472"/>
          </a:xfrm>
          <a:prstGeom prst="rect">
            <a:avLst/>
          </a:prstGeom>
          <a:noFill/>
          <a:ln/>
        </p:spPr>
        <p:txBody>
          <a:bodyPr wrap="square" rtlCol="0" anchor="ctr"/>
          <a:lstStyle/>
          <a:p>
            <a:pPr marL="0" indent="0">
              <a:buNone/>
            </a:pPr>
            <a:r>
              <a:rPr lang="en-US" sz="1400" b="1" dirty="0">
                <a:solidFill>
                  <a:srgbClr val="1A1F3C"/>
                </a:solidFill>
                <a:latin typeface="Calibri" pitchFamily="34" charset="0"/>
                <a:ea typeface="Calibri" pitchFamily="34" charset="-122"/>
                <a:cs typeface="Calibri" pitchFamily="34" charset="-120"/>
              </a:rPr>
              <a:t>Churned</a:t>
            </a:r>
            <a:endParaRPr lang="en-US" sz="1400" dirty="0"/>
          </a:p>
        </p:txBody>
      </p:sp>
      <p:sp>
        <p:nvSpPr>
          <p:cNvPr id="19" name="Text 16"/>
          <p:cNvSpPr/>
          <p:nvPr/>
        </p:nvSpPr>
        <p:spPr>
          <a:xfrm>
            <a:off x="4937760" y="3977640"/>
            <a:ext cx="3749040" cy="256032"/>
          </a:xfrm>
          <a:prstGeom prst="rect">
            <a:avLst/>
          </a:prstGeom>
          <a:noFill/>
          <a:ln/>
        </p:spPr>
        <p:txBody>
          <a:bodyPr wrap="square" rtlCol="0" anchor="ctr"/>
          <a:lstStyle/>
          <a:p>
            <a:pPr marL="0" indent="0">
              <a:buNone/>
            </a:pPr>
            <a:r>
              <a:rPr lang="en-US" sz="1050" dirty="0">
                <a:solidFill>
                  <a:srgbClr val="8290A8"/>
                </a:solidFill>
                <a:latin typeface="Calibri" pitchFamily="34" charset="0"/>
                <a:ea typeface="Calibri" pitchFamily="34" charset="-122"/>
                <a:cs typeface="Calibri" pitchFamily="34" charset="-120"/>
              </a:rPr>
              <a:t>Recency: &gt; 6 months  ·  Orders: Any  ·  CLV: $71.61</a:t>
            </a:r>
            <a:endParaRPr lang="en-US" sz="1050" dirty="0"/>
          </a:p>
        </p:txBody>
      </p:sp>
      <p:sp>
        <p:nvSpPr>
          <p:cNvPr id="20" name="Text 17"/>
          <p:cNvSpPr/>
          <p:nvPr/>
        </p:nvSpPr>
        <p:spPr>
          <a:xfrm>
            <a:off x="4937760" y="4251960"/>
            <a:ext cx="3749040" cy="411480"/>
          </a:xfrm>
          <a:prstGeom prst="rect">
            <a:avLst/>
          </a:prstGeom>
          <a:noFill/>
          <a:ln/>
        </p:spPr>
        <p:txBody>
          <a:bodyPr wrap="square" rtlCol="0" anchor="ctr"/>
          <a:lstStyle/>
          <a:p>
            <a:pPr marL="0" indent="0">
              <a:buNone/>
            </a:pPr>
            <a:r>
              <a:rPr lang="en-US" sz="1050" i="1" dirty="0">
                <a:solidFill>
                  <a:srgbClr val="E05A44"/>
                </a:solidFill>
                <a:latin typeface="Calibri" pitchFamily="34" charset="0"/>
                <a:ea typeface="Calibri" pitchFamily="34" charset="-122"/>
                <a:cs typeface="Calibri" pitchFamily="34" charset="-120"/>
              </a:rPr>
              <a:t>→ Win-back emails with genre-based offers</a:t>
            </a:r>
            <a:endParaRPr lang="en-US" sz="1050" dirty="0"/>
          </a:p>
        </p:txBody>
      </p:sp>
      <p:sp>
        <p:nvSpPr>
          <p:cNvPr id="21" name="Text 18"/>
          <p:cNvSpPr/>
          <p:nvPr/>
        </p:nvSpPr>
        <p:spPr>
          <a:xfrm>
            <a:off x="274320" y="4709160"/>
            <a:ext cx="8595360" cy="274320"/>
          </a:xfrm>
          <a:prstGeom prst="rect">
            <a:avLst/>
          </a:prstGeom>
          <a:noFill/>
          <a:ln/>
        </p:spPr>
        <p:txBody>
          <a:bodyPr wrap="square" rtlCol="0" anchor="ctr"/>
          <a:lstStyle/>
          <a:p>
            <a:pPr marL="0" indent="0" algn="ctr">
              <a:buNone/>
            </a:pPr>
            <a:r>
              <a:rPr lang="en-US" sz="950" i="1" dirty="0">
                <a:solidFill>
                  <a:srgbClr val="8290A8"/>
                </a:solidFill>
                <a:latin typeface="Calibri" pitchFamily="34" charset="0"/>
                <a:ea typeface="Calibri" pitchFamily="34" charset="-122"/>
                <a:cs typeface="Calibri" pitchFamily="34" charset="-120"/>
              </a:rPr>
              <a:t>CLV = avg_order_value × order_count  |  Segments defined by recency &amp; order count thresholds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Product Affinity Analysis – Genre Co-Purchasing</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14</a:t>
            </a:r>
            <a:endParaRPr lang="en-US" sz="1300" dirty="0"/>
          </a:p>
        </p:txBody>
      </p:sp>
      <p:sp>
        <p:nvSpPr>
          <p:cNvPr id="5" name="Text 3"/>
          <p:cNvSpPr/>
          <p:nvPr/>
        </p:nvSpPr>
        <p:spPr>
          <a:xfrm>
            <a:off x="320040" y="749808"/>
            <a:ext cx="8503920" cy="320040"/>
          </a:xfrm>
          <a:prstGeom prst="rect">
            <a:avLst/>
          </a:prstGeom>
          <a:noFill/>
          <a:ln/>
        </p:spPr>
        <p:txBody>
          <a:bodyPr wrap="square" rtlCol="0" anchor="ctr"/>
          <a:lstStyle/>
          <a:p>
            <a:pPr marL="0" indent="0">
              <a:buNone/>
            </a:pPr>
            <a:r>
              <a:rPr lang="en-US" sz="1200" i="1" dirty="0">
                <a:solidFill>
                  <a:srgbClr val="8290A8"/>
                </a:solidFill>
                <a:latin typeface="Calibri" pitchFamily="34" charset="0"/>
                <a:ea typeface="Calibri" pitchFamily="34" charset="-122"/>
                <a:cs typeface="Calibri" pitchFamily="34" charset="-120"/>
              </a:rPr>
              <a:t>Which genres are most frequently purchased together?</a:t>
            </a:r>
            <a:endParaRPr lang="en-US" sz="1200" dirty="0"/>
          </a:p>
        </p:txBody>
      </p:sp>
      <p:graphicFrame>
        <p:nvGraphicFramePr>
          <p:cNvPr id="6" name="Chart 0"/>
          <p:cNvGraphicFramePr/>
          <p:nvPr/>
        </p:nvGraphicFramePr>
        <p:xfrm>
          <a:off x="274320" y="1143000"/>
          <a:ext cx="50292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577840" y="1143000"/>
            <a:ext cx="3291840" cy="11155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8" name="Text 5"/>
          <p:cNvSpPr/>
          <p:nvPr/>
        </p:nvSpPr>
        <p:spPr>
          <a:xfrm>
            <a:off x="5669280" y="1207008"/>
            <a:ext cx="3108960" cy="365760"/>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Metal + Rock</a:t>
            </a:r>
            <a:endParaRPr lang="en-US" sz="1300" dirty="0"/>
          </a:p>
        </p:txBody>
      </p:sp>
      <p:sp>
        <p:nvSpPr>
          <p:cNvPr id="9" name="Text 6"/>
          <p:cNvSpPr/>
          <p:nvPr/>
        </p:nvSpPr>
        <p:spPr>
          <a:xfrm>
            <a:off x="5669280" y="1554480"/>
            <a:ext cx="3108960" cy="228600"/>
          </a:xfrm>
          <a:prstGeom prst="rect">
            <a:avLst/>
          </a:prstGeom>
          <a:noFill/>
          <a:ln/>
        </p:spPr>
        <p:txBody>
          <a:bodyPr wrap="square" rtlCol="0" anchor="ctr"/>
          <a:lstStyle/>
          <a:p>
            <a:pPr marL="0" indent="0">
              <a:buNone/>
            </a:pPr>
            <a:r>
              <a:rPr lang="en-US" sz="1050" b="1" dirty="0">
                <a:solidFill>
                  <a:srgbClr val="F5A623"/>
                </a:solidFill>
                <a:latin typeface="Calibri" pitchFamily="34" charset="0"/>
                <a:ea typeface="Calibri" pitchFamily="34" charset="-122"/>
                <a:cs typeface="Calibri" pitchFamily="34" charset="-120"/>
              </a:rPr>
              <a:t>Freq: 268</a:t>
            </a:r>
            <a:endParaRPr lang="en-US" sz="1050" dirty="0"/>
          </a:p>
        </p:txBody>
      </p:sp>
      <p:sp>
        <p:nvSpPr>
          <p:cNvPr id="10" name="Text 7"/>
          <p:cNvSpPr/>
          <p:nvPr/>
        </p:nvSpPr>
        <p:spPr>
          <a:xfrm>
            <a:off x="5669280" y="1764792"/>
            <a:ext cx="3108960" cy="43891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Bundle Metal &amp; Rock albums; cross-promote in checkout</a:t>
            </a:r>
            <a:endParaRPr lang="en-US" sz="1000" dirty="0"/>
          </a:p>
        </p:txBody>
      </p:sp>
      <p:sp>
        <p:nvSpPr>
          <p:cNvPr id="11" name="Shape 8"/>
          <p:cNvSpPr/>
          <p:nvPr/>
        </p:nvSpPr>
        <p:spPr>
          <a:xfrm>
            <a:off x="5577840" y="2404872"/>
            <a:ext cx="3291840" cy="11155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2" name="Text 9"/>
          <p:cNvSpPr/>
          <p:nvPr/>
        </p:nvSpPr>
        <p:spPr>
          <a:xfrm>
            <a:off x="5669280" y="2468880"/>
            <a:ext cx="3108960" cy="365760"/>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Alt/Punk + Rock</a:t>
            </a:r>
            <a:endParaRPr lang="en-US" sz="1300" dirty="0"/>
          </a:p>
        </p:txBody>
      </p:sp>
      <p:sp>
        <p:nvSpPr>
          <p:cNvPr id="13" name="Text 10"/>
          <p:cNvSpPr/>
          <p:nvPr/>
        </p:nvSpPr>
        <p:spPr>
          <a:xfrm>
            <a:off x="5669280" y="2816352"/>
            <a:ext cx="3108960" cy="228600"/>
          </a:xfrm>
          <a:prstGeom prst="rect">
            <a:avLst/>
          </a:prstGeom>
          <a:noFill/>
          <a:ln/>
        </p:spPr>
        <p:txBody>
          <a:bodyPr wrap="square" rtlCol="0" anchor="ctr"/>
          <a:lstStyle/>
          <a:p>
            <a:pPr marL="0" indent="0">
              <a:buNone/>
            </a:pPr>
            <a:r>
              <a:rPr lang="en-US" sz="1050" b="1" dirty="0">
                <a:solidFill>
                  <a:srgbClr val="F5A623"/>
                </a:solidFill>
                <a:latin typeface="Calibri" pitchFamily="34" charset="0"/>
                <a:ea typeface="Calibri" pitchFamily="34" charset="-122"/>
                <a:cs typeface="Calibri" pitchFamily="34" charset="-120"/>
              </a:rPr>
              <a:t>Freq: 202</a:t>
            </a:r>
            <a:endParaRPr lang="en-US" sz="1050" dirty="0"/>
          </a:p>
        </p:txBody>
      </p:sp>
      <p:sp>
        <p:nvSpPr>
          <p:cNvPr id="14" name="Text 11"/>
          <p:cNvSpPr/>
          <p:nvPr/>
        </p:nvSpPr>
        <p:spPr>
          <a:xfrm>
            <a:off x="5669280" y="3026664"/>
            <a:ext cx="3108960" cy="43891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Curate 'Rock &amp; Rebellion' playlists; promote Alt artists to Rock buyers</a:t>
            </a:r>
            <a:endParaRPr lang="en-US" sz="1000" dirty="0"/>
          </a:p>
        </p:txBody>
      </p:sp>
      <p:sp>
        <p:nvSpPr>
          <p:cNvPr id="15" name="Shape 12"/>
          <p:cNvSpPr/>
          <p:nvPr/>
        </p:nvSpPr>
        <p:spPr>
          <a:xfrm>
            <a:off x="5577840" y="3666744"/>
            <a:ext cx="3291840" cy="111556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6" name="Text 13"/>
          <p:cNvSpPr/>
          <p:nvPr/>
        </p:nvSpPr>
        <p:spPr>
          <a:xfrm>
            <a:off x="5669280" y="3730752"/>
            <a:ext cx="3108960" cy="365760"/>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Alt/Punk + Metal</a:t>
            </a:r>
            <a:endParaRPr lang="en-US" sz="1300" dirty="0"/>
          </a:p>
        </p:txBody>
      </p:sp>
      <p:sp>
        <p:nvSpPr>
          <p:cNvPr id="17" name="Text 14"/>
          <p:cNvSpPr/>
          <p:nvPr/>
        </p:nvSpPr>
        <p:spPr>
          <a:xfrm>
            <a:off x="5669280" y="4078224"/>
            <a:ext cx="3108960" cy="228600"/>
          </a:xfrm>
          <a:prstGeom prst="rect">
            <a:avLst/>
          </a:prstGeom>
          <a:noFill/>
          <a:ln/>
        </p:spPr>
        <p:txBody>
          <a:bodyPr wrap="square" rtlCol="0" anchor="ctr"/>
          <a:lstStyle/>
          <a:p>
            <a:pPr marL="0" indent="0">
              <a:buNone/>
            </a:pPr>
            <a:r>
              <a:rPr lang="en-US" sz="1050" b="1" dirty="0">
                <a:solidFill>
                  <a:srgbClr val="F5A623"/>
                </a:solidFill>
                <a:latin typeface="Calibri" pitchFamily="34" charset="0"/>
                <a:ea typeface="Calibri" pitchFamily="34" charset="-122"/>
                <a:cs typeface="Calibri" pitchFamily="34" charset="-120"/>
              </a:rPr>
              <a:t>Freq: 144</a:t>
            </a:r>
            <a:endParaRPr lang="en-US" sz="1050" dirty="0"/>
          </a:p>
        </p:txBody>
      </p:sp>
      <p:sp>
        <p:nvSpPr>
          <p:cNvPr id="18" name="Text 15"/>
          <p:cNvSpPr/>
          <p:nvPr/>
        </p:nvSpPr>
        <p:spPr>
          <a:xfrm>
            <a:off x="5669280" y="4288536"/>
            <a:ext cx="3108960" cy="43891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Target crossover fans with exclusive multi-genre bundles</a:t>
            </a:r>
            <a:endParaRPr lang="en-US" sz="1000" dirty="0"/>
          </a:p>
        </p:txBody>
      </p:sp>
      <p:sp>
        <p:nvSpPr>
          <p:cNvPr id="19" name="Text 16"/>
          <p:cNvSpPr/>
          <p:nvPr/>
        </p:nvSpPr>
        <p:spPr>
          <a:xfrm>
            <a:off x="274320" y="4023360"/>
            <a:ext cx="8595360" cy="320040"/>
          </a:xfrm>
          <a:prstGeom prst="rect">
            <a:avLst/>
          </a:prstGeom>
          <a:noFill/>
          <a:ln/>
        </p:spPr>
        <p:txBody>
          <a:bodyPr wrap="square" rtlCol="0" anchor="ctr"/>
          <a:lstStyle/>
          <a:p>
            <a:pPr marL="0" indent="0" algn="ctr">
              <a:buNone/>
            </a:pPr>
            <a:r>
              <a:rPr lang="en-US" sz="1050" i="1" dirty="0">
                <a:solidFill>
                  <a:srgbClr val="1A1F3C"/>
                </a:solidFill>
                <a:latin typeface="Calibri" pitchFamily="34" charset="0"/>
                <a:ea typeface="Calibri" pitchFamily="34" charset="-122"/>
                <a:cs typeface="Calibri" pitchFamily="34" charset="-120"/>
              </a:rPr>
              <a:t>Insight: Customers rarely stick to one genre — co-purchasing enables personalized cross-sell campaigns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Regional Market Analysis</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15</a:t>
            </a:r>
            <a:endParaRPr lang="en-US" sz="1300" dirty="0"/>
          </a:p>
        </p:txBody>
      </p:sp>
      <p:graphicFrame>
        <p:nvGraphicFramePr>
          <p:cNvPr id="5" name="Chart 0"/>
          <p:cNvGraphicFramePr/>
          <p:nvPr/>
        </p:nvGraphicFramePr>
        <p:xfrm>
          <a:off x="274320" y="777240"/>
          <a:ext cx="530352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15000" y="804672"/>
            <a:ext cx="3154680" cy="8046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7" name="Shape 4"/>
          <p:cNvSpPr/>
          <p:nvPr/>
        </p:nvSpPr>
        <p:spPr>
          <a:xfrm>
            <a:off x="5715000" y="804672"/>
            <a:ext cx="164592" cy="804672"/>
          </a:xfrm>
          <a:prstGeom prst="rect">
            <a:avLst/>
          </a:prstGeom>
          <a:solidFill>
            <a:srgbClr val="2ECC71"/>
          </a:solidFill>
          <a:ln/>
        </p:spPr>
        <p:txBody>
          <a:bodyPr/>
          <a:lstStyle/>
          <a:p>
            <a:endParaRPr lang="en-IN"/>
          </a:p>
        </p:txBody>
      </p:sp>
      <p:sp>
        <p:nvSpPr>
          <p:cNvPr id="8" name="Text 5"/>
          <p:cNvSpPr/>
          <p:nvPr/>
        </p:nvSpPr>
        <p:spPr>
          <a:xfrm>
            <a:off x="5961888" y="868680"/>
            <a:ext cx="2834640" cy="292608"/>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Mature Markets</a:t>
            </a:r>
            <a:endParaRPr lang="en-US" sz="1200" dirty="0"/>
          </a:p>
        </p:txBody>
      </p:sp>
      <p:sp>
        <p:nvSpPr>
          <p:cNvPr id="9" name="Text 6"/>
          <p:cNvSpPr/>
          <p:nvPr/>
        </p:nvSpPr>
        <p:spPr>
          <a:xfrm>
            <a:off x="5961888" y="1143000"/>
            <a:ext cx="2834640" cy="201168"/>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USA, Canada, UK, Germany</a:t>
            </a:r>
            <a:endParaRPr lang="en-US" sz="1000" dirty="0"/>
          </a:p>
        </p:txBody>
      </p:sp>
      <p:sp>
        <p:nvSpPr>
          <p:cNvPr id="10" name="Text 7"/>
          <p:cNvSpPr/>
          <p:nvPr/>
        </p:nvSpPr>
        <p:spPr>
          <a:xfrm>
            <a:off x="5961888" y="1325880"/>
            <a:ext cx="2834640" cy="201168"/>
          </a:xfrm>
          <a:prstGeom prst="rect">
            <a:avLst/>
          </a:prstGeom>
          <a:noFill/>
          <a:ln/>
        </p:spPr>
        <p:txBody>
          <a:bodyPr wrap="square" rtlCol="0" anchor="ctr"/>
          <a:lstStyle/>
          <a:p>
            <a:pPr marL="0" indent="0">
              <a:buNone/>
            </a:pPr>
            <a:r>
              <a:rPr lang="en-US" sz="1000" i="1" dirty="0">
                <a:solidFill>
                  <a:srgbClr val="2ECC71"/>
                </a:solidFill>
                <a:latin typeface="Calibri" pitchFamily="34" charset="0"/>
                <a:ea typeface="Calibri" pitchFamily="34" charset="-122"/>
                <a:cs typeface="Calibri" pitchFamily="34" charset="-120"/>
              </a:rPr>
              <a:t>High CLV · Low churn · Premium buyers</a:t>
            </a:r>
            <a:endParaRPr lang="en-US" sz="1000" dirty="0"/>
          </a:p>
        </p:txBody>
      </p:sp>
      <p:sp>
        <p:nvSpPr>
          <p:cNvPr id="11" name="Shape 8"/>
          <p:cNvSpPr/>
          <p:nvPr/>
        </p:nvSpPr>
        <p:spPr>
          <a:xfrm>
            <a:off x="5715000" y="1719072"/>
            <a:ext cx="3154680" cy="8046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9"/>
          <p:cNvSpPr/>
          <p:nvPr/>
        </p:nvSpPr>
        <p:spPr>
          <a:xfrm>
            <a:off x="5715000" y="1719072"/>
            <a:ext cx="164592" cy="804672"/>
          </a:xfrm>
          <a:prstGeom prst="rect">
            <a:avLst/>
          </a:prstGeom>
          <a:solidFill>
            <a:srgbClr val="3A7BD5"/>
          </a:solidFill>
          <a:ln/>
        </p:spPr>
        <p:txBody>
          <a:bodyPr/>
          <a:lstStyle/>
          <a:p>
            <a:endParaRPr lang="en-IN"/>
          </a:p>
        </p:txBody>
      </p:sp>
      <p:sp>
        <p:nvSpPr>
          <p:cNvPr id="13" name="Text 10"/>
          <p:cNvSpPr/>
          <p:nvPr/>
        </p:nvSpPr>
        <p:spPr>
          <a:xfrm>
            <a:off x="5961888" y="1783080"/>
            <a:ext cx="2834640" cy="292608"/>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Growth Markets</a:t>
            </a:r>
            <a:endParaRPr lang="en-US" sz="1200" dirty="0"/>
          </a:p>
        </p:txBody>
      </p:sp>
      <p:sp>
        <p:nvSpPr>
          <p:cNvPr id="14" name="Text 11"/>
          <p:cNvSpPr/>
          <p:nvPr/>
        </p:nvSpPr>
        <p:spPr>
          <a:xfrm>
            <a:off x="5961888" y="2057400"/>
            <a:ext cx="2834640" cy="201168"/>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Brazil, France, Czech Rep.</a:t>
            </a:r>
            <a:endParaRPr lang="en-US" sz="1000" dirty="0"/>
          </a:p>
        </p:txBody>
      </p:sp>
      <p:sp>
        <p:nvSpPr>
          <p:cNvPr id="15" name="Text 12"/>
          <p:cNvSpPr/>
          <p:nvPr/>
        </p:nvSpPr>
        <p:spPr>
          <a:xfrm>
            <a:off x="5961888" y="2240280"/>
            <a:ext cx="2834640" cy="201168"/>
          </a:xfrm>
          <a:prstGeom prst="rect">
            <a:avLst/>
          </a:prstGeom>
          <a:noFill/>
          <a:ln/>
        </p:spPr>
        <p:txBody>
          <a:bodyPr wrap="square" rtlCol="0" anchor="ctr"/>
          <a:lstStyle/>
          <a:p>
            <a:pPr marL="0" indent="0">
              <a:buNone/>
            </a:pPr>
            <a:r>
              <a:rPr lang="en-US" sz="1000" i="1" dirty="0">
                <a:solidFill>
                  <a:srgbClr val="3A7BD5"/>
                </a:solidFill>
                <a:latin typeface="Calibri" pitchFamily="34" charset="0"/>
                <a:ea typeface="Calibri" pitchFamily="34" charset="-122"/>
                <a:cs typeface="Calibri" pitchFamily="34" charset="-120"/>
              </a:rPr>
              <a:t>Mid spend · High order count · Loyal</a:t>
            </a:r>
            <a:endParaRPr lang="en-US" sz="1000" dirty="0"/>
          </a:p>
        </p:txBody>
      </p:sp>
      <p:sp>
        <p:nvSpPr>
          <p:cNvPr id="16" name="Shape 13"/>
          <p:cNvSpPr/>
          <p:nvPr/>
        </p:nvSpPr>
        <p:spPr>
          <a:xfrm>
            <a:off x="5715000" y="2633472"/>
            <a:ext cx="3154680" cy="8046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7" name="Shape 14"/>
          <p:cNvSpPr/>
          <p:nvPr/>
        </p:nvSpPr>
        <p:spPr>
          <a:xfrm>
            <a:off x="5715000" y="2633472"/>
            <a:ext cx="164592" cy="804672"/>
          </a:xfrm>
          <a:prstGeom prst="rect">
            <a:avLst/>
          </a:prstGeom>
          <a:solidFill>
            <a:srgbClr val="E05A44"/>
          </a:solidFill>
          <a:ln/>
        </p:spPr>
        <p:txBody>
          <a:bodyPr/>
          <a:lstStyle/>
          <a:p>
            <a:endParaRPr lang="en-IN"/>
          </a:p>
        </p:txBody>
      </p:sp>
      <p:sp>
        <p:nvSpPr>
          <p:cNvPr id="18" name="Text 15"/>
          <p:cNvSpPr/>
          <p:nvPr/>
        </p:nvSpPr>
        <p:spPr>
          <a:xfrm>
            <a:off x="5961888" y="2697480"/>
            <a:ext cx="2834640" cy="292608"/>
          </a:xfrm>
          <a:prstGeom prst="rect">
            <a:avLst/>
          </a:prstGeom>
          <a:noFill/>
          <a:ln/>
        </p:spPr>
        <p:txBody>
          <a:bodyPr wrap="square" rtlCol="0" anchor="ctr"/>
          <a:lstStyle/>
          <a:p>
            <a:pPr marL="0" indent="0">
              <a:buNone/>
            </a:pPr>
            <a:r>
              <a:rPr lang="en-US" sz="1200" b="1" dirty="0">
                <a:solidFill>
                  <a:srgbClr val="1A1F3C"/>
                </a:solidFill>
                <a:latin typeface="Calibri" pitchFamily="34" charset="0"/>
                <a:ea typeface="Calibri" pitchFamily="34" charset="-122"/>
                <a:cs typeface="Calibri" pitchFamily="34" charset="-120"/>
              </a:rPr>
              <a:t>At-Risk Markets</a:t>
            </a:r>
            <a:endParaRPr lang="en-US" sz="1200" dirty="0"/>
          </a:p>
        </p:txBody>
      </p:sp>
      <p:sp>
        <p:nvSpPr>
          <p:cNvPr id="19" name="Text 16"/>
          <p:cNvSpPr/>
          <p:nvPr/>
        </p:nvSpPr>
        <p:spPr>
          <a:xfrm>
            <a:off x="5961888" y="2971800"/>
            <a:ext cx="2834640" cy="201168"/>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India, Norway, Argentina</a:t>
            </a:r>
            <a:endParaRPr lang="en-US" sz="1000" dirty="0"/>
          </a:p>
        </p:txBody>
      </p:sp>
      <p:sp>
        <p:nvSpPr>
          <p:cNvPr id="20" name="Text 17"/>
          <p:cNvSpPr/>
          <p:nvPr/>
        </p:nvSpPr>
        <p:spPr>
          <a:xfrm>
            <a:off x="5961888" y="3154680"/>
            <a:ext cx="2834640" cy="201168"/>
          </a:xfrm>
          <a:prstGeom prst="rect">
            <a:avLst/>
          </a:prstGeom>
          <a:noFill/>
          <a:ln/>
        </p:spPr>
        <p:txBody>
          <a:bodyPr wrap="square" rtlCol="0" anchor="ctr"/>
          <a:lstStyle/>
          <a:p>
            <a:pPr marL="0" indent="0">
              <a:buNone/>
            </a:pPr>
            <a:r>
              <a:rPr lang="en-US" sz="1000" i="1" dirty="0">
                <a:solidFill>
                  <a:srgbClr val="E05A44"/>
                </a:solidFill>
                <a:latin typeface="Calibri" pitchFamily="34" charset="0"/>
                <a:ea typeface="Calibri" pitchFamily="34" charset="-122"/>
                <a:cs typeface="Calibri" pitchFamily="34" charset="-120"/>
              </a:rPr>
              <a:t>High churn · Low spend · Need retention</a:t>
            </a:r>
            <a:endParaRPr lang="en-US" sz="1000" dirty="0"/>
          </a:p>
        </p:txBody>
      </p:sp>
      <p:sp>
        <p:nvSpPr>
          <p:cNvPr id="21" name="Text 18"/>
          <p:cNvSpPr/>
          <p:nvPr/>
        </p:nvSpPr>
        <p:spPr>
          <a:xfrm>
            <a:off x="274320" y="3474720"/>
            <a:ext cx="8595360" cy="320040"/>
          </a:xfrm>
          <a:prstGeom prst="rect">
            <a:avLst/>
          </a:prstGeom>
          <a:noFill/>
          <a:ln/>
        </p:spPr>
        <p:txBody>
          <a:bodyPr wrap="square" rtlCol="0" anchor="ctr"/>
          <a:lstStyle/>
          <a:p>
            <a:pPr marL="0" indent="0" algn="ctr">
              <a:buNone/>
            </a:pPr>
            <a:r>
              <a:rPr lang="en-US" sz="1150" b="1" dirty="0">
                <a:solidFill>
                  <a:srgbClr val="1A1F3C"/>
                </a:solidFill>
                <a:latin typeface="Calibri" pitchFamily="34" charset="0"/>
                <a:ea typeface="Calibri" pitchFamily="34" charset="-122"/>
                <a:cs typeface="Calibri" pitchFamily="34" charset="-120"/>
              </a:rPr>
              <a:t>Key Correlation: Higher purchasing power → higher frequency → lower churn</a:t>
            </a:r>
            <a:endParaRPr lang="en-US" sz="1150" dirty="0"/>
          </a:p>
        </p:txBody>
      </p:sp>
      <p:sp>
        <p:nvSpPr>
          <p:cNvPr id="22" name="Text 19"/>
          <p:cNvSpPr/>
          <p:nvPr/>
        </p:nvSpPr>
        <p:spPr>
          <a:xfrm>
            <a:off x="274320" y="3913632"/>
            <a:ext cx="4114800" cy="292608"/>
          </a:xfrm>
          <a:prstGeom prst="rect">
            <a:avLst/>
          </a:prstGeom>
          <a:noFill/>
          <a:ln/>
        </p:spPr>
        <p:txBody>
          <a:bodyPr wrap="square" rtlCol="0" anchor="ctr"/>
          <a:lstStyle/>
          <a:p>
            <a:pPr marL="0" indent="0">
              <a:buNone/>
            </a:pPr>
            <a:r>
              <a:rPr lang="en-US" sz="1100" b="1" dirty="0">
                <a:solidFill>
                  <a:srgbClr val="1A1F3C"/>
                </a:solidFill>
                <a:latin typeface="Calibri" pitchFamily="34" charset="0"/>
                <a:ea typeface="Calibri" pitchFamily="34" charset="-122"/>
                <a:cs typeface="Calibri" pitchFamily="34" charset="-120"/>
              </a:rPr>
              <a:t>Economic Factors Influencing Sales:</a:t>
            </a:r>
            <a:endParaRPr lang="en-US" sz="1100" dirty="0"/>
          </a:p>
        </p:txBody>
      </p:sp>
      <p:sp>
        <p:nvSpPr>
          <p:cNvPr id="23" name="Shape 20"/>
          <p:cNvSpPr/>
          <p:nvPr/>
        </p:nvSpPr>
        <p:spPr>
          <a:xfrm>
            <a:off x="274320" y="4297680"/>
            <a:ext cx="164592" cy="164592"/>
          </a:xfrm>
          <a:prstGeom prst="ellipse">
            <a:avLst/>
          </a:prstGeom>
          <a:solidFill>
            <a:srgbClr val="F5A623"/>
          </a:solidFill>
          <a:ln/>
        </p:spPr>
        <p:txBody>
          <a:bodyPr/>
          <a:lstStyle/>
          <a:p>
            <a:endParaRPr lang="en-IN"/>
          </a:p>
        </p:txBody>
      </p:sp>
      <p:sp>
        <p:nvSpPr>
          <p:cNvPr id="24" name="Text 21"/>
          <p:cNvSpPr/>
          <p:nvPr/>
        </p:nvSpPr>
        <p:spPr>
          <a:xfrm>
            <a:off x="548640" y="4279392"/>
            <a:ext cx="8229600" cy="201168"/>
          </a:xfrm>
          <a:prstGeom prst="rect">
            <a:avLst/>
          </a:prstGeom>
          <a:noFill/>
          <a:ln/>
        </p:spPr>
        <p:txBody>
          <a:bodyPr wrap="square" rtlCol="0" anchor="ctr"/>
          <a:lstStyle/>
          <a:p>
            <a:pPr marL="0" indent="0">
              <a:buNone/>
            </a:pPr>
            <a:r>
              <a:rPr lang="en-US" sz="1000" dirty="0">
                <a:solidFill>
                  <a:srgbClr val="1A1F3C"/>
                </a:solidFill>
                <a:latin typeface="Calibri" pitchFamily="34" charset="0"/>
                <a:ea typeface="Calibri" pitchFamily="34" charset="-122"/>
                <a:cs typeface="Calibri" pitchFamily="34" charset="-120"/>
              </a:rPr>
              <a:t>Local disposable income levels</a:t>
            </a:r>
            <a:endParaRPr lang="en-US" sz="1000" dirty="0"/>
          </a:p>
        </p:txBody>
      </p:sp>
      <p:sp>
        <p:nvSpPr>
          <p:cNvPr id="25" name="Shape 22"/>
          <p:cNvSpPr/>
          <p:nvPr/>
        </p:nvSpPr>
        <p:spPr>
          <a:xfrm>
            <a:off x="274320" y="4507992"/>
            <a:ext cx="164592" cy="164592"/>
          </a:xfrm>
          <a:prstGeom prst="ellipse">
            <a:avLst/>
          </a:prstGeom>
          <a:solidFill>
            <a:srgbClr val="F5A623"/>
          </a:solidFill>
          <a:ln/>
        </p:spPr>
        <p:txBody>
          <a:bodyPr/>
          <a:lstStyle/>
          <a:p>
            <a:endParaRPr lang="en-IN"/>
          </a:p>
        </p:txBody>
      </p:sp>
      <p:sp>
        <p:nvSpPr>
          <p:cNvPr id="26" name="Text 23"/>
          <p:cNvSpPr/>
          <p:nvPr/>
        </p:nvSpPr>
        <p:spPr>
          <a:xfrm>
            <a:off x="548640" y="4489704"/>
            <a:ext cx="8229600" cy="201168"/>
          </a:xfrm>
          <a:prstGeom prst="rect">
            <a:avLst/>
          </a:prstGeom>
          <a:noFill/>
          <a:ln/>
        </p:spPr>
        <p:txBody>
          <a:bodyPr wrap="square" rtlCol="0" anchor="ctr"/>
          <a:lstStyle/>
          <a:p>
            <a:pPr marL="0" indent="0">
              <a:buNone/>
            </a:pPr>
            <a:r>
              <a:rPr lang="en-US" sz="1000" dirty="0">
                <a:solidFill>
                  <a:srgbClr val="1A1F3C"/>
                </a:solidFill>
                <a:latin typeface="Calibri" pitchFamily="34" charset="0"/>
                <a:ea typeface="Calibri" pitchFamily="34" charset="-122"/>
                <a:cs typeface="Calibri" pitchFamily="34" charset="-120"/>
              </a:rPr>
              <a:t>Digital music adoption rates</a:t>
            </a:r>
            <a:endParaRPr lang="en-US" sz="1000" dirty="0"/>
          </a:p>
        </p:txBody>
      </p:sp>
      <p:sp>
        <p:nvSpPr>
          <p:cNvPr id="27" name="Shape 24"/>
          <p:cNvSpPr/>
          <p:nvPr/>
        </p:nvSpPr>
        <p:spPr>
          <a:xfrm>
            <a:off x="274320" y="4718304"/>
            <a:ext cx="164592" cy="164592"/>
          </a:xfrm>
          <a:prstGeom prst="ellipse">
            <a:avLst/>
          </a:prstGeom>
          <a:solidFill>
            <a:srgbClr val="F5A623"/>
          </a:solidFill>
          <a:ln/>
        </p:spPr>
        <p:txBody>
          <a:bodyPr/>
          <a:lstStyle/>
          <a:p>
            <a:endParaRPr lang="en-IN"/>
          </a:p>
        </p:txBody>
      </p:sp>
      <p:sp>
        <p:nvSpPr>
          <p:cNvPr id="28" name="Text 25"/>
          <p:cNvSpPr/>
          <p:nvPr/>
        </p:nvSpPr>
        <p:spPr>
          <a:xfrm>
            <a:off x="548640" y="4700016"/>
            <a:ext cx="8229600" cy="201168"/>
          </a:xfrm>
          <a:prstGeom prst="rect">
            <a:avLst/>
          </a:prstGeom>
          <a:noFill/>
          <a:ln/>
        </p:spPr>
        <p:txBody>
          <a:bodyPr wrap="square" rtlCol="0" anchor="ctr"/>
          <a:lstStyle/>
          <a:p>
            <a:pPr marL="0" indent="0">
              <a:buNone/>
            </a:pPr>
            <a:r>
              <a:rPr lang="en-US" sz="1000" dirty="0">
                <a:solidFill>
                  <a:srgbClr val="1A1F3C"/>
                </a:solidFill>
                <a:latin typeface="Calibri" pitchFamily="34" charset="0"/>
                <a:ea typeface="Calibri" pitchFamily="34" charset="-122"/>
                <a:cs typeface="Calibri" pitchFamily="34" charset="-120"/>
              </a:rPr>
              <a:t>Cultural music preferences</a:t>
            </a:r>
            <a:endParaRPr lang="en-US" sz="1000" dirty="0"/>
          </a:p>
        </p:txBody>
      </p:sp>
      <p:sp>
        <p:nvSpPr>
          <p:cNvPr id="29" name="Shape 26"/>
          <p:cNvSpPr/>
          <p:nvPr/>
        </p:nvSpPr>
        <p:spPr>
          <a:xfrm>
            <a:off x="274320" y="4928616"/>
            <a:ext cx="164592" cy="164592"/>
          </a:xfrm>
          <a:prstGeom prst="ellipse">
            <a:avLst/>
          </a:prstGeom>
          <a:solidFill>
            <a:srgbClr val="F5A623"/>
          </a:solidFill>
          <a:ln/>
        </p:spPr>
        <p:txBody>
          <a:bodyPr/>
          <a:lstStyle/>
          <a:p>
            <a:endParaRPr lang="en-IN"/>
          </a:p>
        </p:txBody>
      </p:sp>
      <p:sp>
        <p:nvSpPr>
          <p:cNvPr id="30" name="Text 27"/>
          <p:cNvSpPr/>
          <p:nvPr/>
        </p:nvSpPr>
        <p:spPr>
          <a:xfrm>
            <a:off x="548640" y="4910328"/>
            <a:ext cx="8229600" cy="201168"/>
          </a:xfrm>
          <a:prstGeom prst="rect">
            <a:avLst/>
          </a:prstGeom>
          <a:noFill/>
          <a:ln/>
        </p:spPr>
        <p:txBody>
          <a:bodyPr wrap="square" rtlCol="0" anchor="ctr"/>
          <a:lstStyle/>
          <a:p>
            <a:pPr marL="0" indent="0">
              <a:buNone/>
            </a:pPr>
            <a:r>
              <a:rPr lang="en-US" sz="1000" dirty="0">
                <a:solidFill>
                  <a:srgbClr val="1A1F3C"/>
                </a:solidFill>
                <a:latin typeface="Calibri" pitchFamily="34" charset="0"/>
                <a:ea typeface="Calibri" pitchFamily="34" charset="-122"/>
                <a:cs typeface="Calibri" pitchFamily="34" charset="-120"/>
              </a:rPr>
              <a:t>Internet accessibility &amp; payment convenience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Customer Risk Profiling</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16</a:t>
            </a:r>
            <a:endParaRPr lang="en-US" sz="1300" dirty="0"/>
          </a:p>
        </p:txBody>
      </p:sp>
      <p:sp>
        <p:nvSpPr>
          <p:cNvPr id="5" name="Shape 3"/>
          <p:cNvSpPr/>
          <p:nvPr/>
        </p:nvSpPr>
        <p:spPr>
          <a:xfrm>
            <a:off x="274320" y="822960"/>
            <a:ext cx="2788920" cy="34747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274320" y="822960"/>
            <a:ext cx="2788920" cy="502920"/>
          </a:xfrm>
          <a:prstGeom prst="rect">
            <a:avLst/>
          </a:prstGeom>
          <a:solidFill>
            <a:srgbClr val="2ECC71"/>
          </a:solidFill>
          <a:ln/>
        </p:spPr>
        <p:txBody>
          <a:bodyPr/>
          <a:lstStyle/>
          <a:p>
            <a:endParaRPr lang="en-IN"/>
          </a:p>
        </p:txBody>
      </p:sp>
      <p:sp>
        <p:nvSpPr>
          <p:cNvPr id="7" name="Text 5"/>
          <p:cNvSpPr/>
          <p:nvPr/>
        </p:nvSpPr>
        <p:spPr>
          <a:xfrm>
            <a:off x="274320" y="822960"/>
            <a:ext cx="2788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Low Risk</a:t>
            </a:r>
            <a:endParaRPr lang="en-US" sz="1400" dirty="0"/>
          </a:p>
        </p:txBody>
      </p:sp>
      <p:sp>
        <p:nvSpPr>
          <p:cNvPr id="8" name="Text 6"/>
          <p:cNvSpPr/>
          <p:nvPr/>
        </p:nvSpPr>
        <p:spPr>
          <a:xfrm>
            <a:off x="274320" y="1417320"/>
            <a:ext cx="2788920" cy="822960"/>
          </a:xfrm>
          <a:prstGeom prst="rect">
            <a:avLst/>
          </a:prstGeom>
          <a:noFill/>
          <a:ln/>
        </p:spPr>
        <p:txBody>
          <a:bodyPr wrap="square" rtlCol="0" anchor="ctr"/>
          <a:lstStyle/>
          <a:p>
            <a:pPr marL="0" indent="0" algn="ctr">
              <a:buNone/>
            </a:pPr>
            <a:r>
              <a:rPr lang="en-US" sz="4200" b="1" dirty="0">
                <a:solidFill>
                  <a:srgbClr val="2ECC71"/>
                </a:solidFill>
                <a:latin typeface="Calibri" pitchFamily="34" charset="0"/>
                <a:ea typeface="Calibri" pitchFamily="34" charset="-122"/>
                <a:cs typeface="Calibri" pitchFamily="34" charset="-120"/>
              </a:rPr>
              <a:t>47%</a:t>
            </a:r>
            <a:endParaRPr lang="en-US" sz="4200" dirty="0"/>
          </a:p>
        </p:txBody>
      </p:sp>
      <p:sp>
        <p:nvSpPr>
          <p:cNvPr id="9" name="Text 7"/>
          <p:cNvSpPr/>
          <p:nvPr/>
        </p:nvSpPr>
        <p:spPr>
          <a:xfrm>
            <a:off x="274320" y="2240280"/>
            <a:ext cx="2788920" cy="274320"/>
          </a:xfrm>
          <a:prstGeom prst="rect">
            <a:avLst/>
          </a:prstGeom>
          <a:noFill/>
          <a:ln/>
        </p:spPr>
        <p:txBody>
          <a:bodyPr wrap="square" rtlCol="0" anchor="ctr"/>
          <a:lstStyle/>
          <a:p>
            <a:pPr marL="0" indent="0" algn="ctr">
              <a:buNone/>
            </a:pPr>
            <a:r>
              <a:rPr lang="en-US" sz="1000" dirty="0">
                <a:solidFill>
                  <a:srgbClr val="8290A8"/>
                </a:solidFill>
                <a:latin typeface="Calibri" pitchFamily="34" charset="0"/>
                <a:ea typeface="Calibri" pitchFamily="34" charset="-122"/>
                <a:cs typeface="Calibri" pitchFamily="34" charset="-120"/>
              </a:rPr>
              <a:t>of customers</a:t>
            </a:r>
            <a:endParaRPr lang="en-US" sz="1000" dirty="0"/>
          </a:p>
        </p:txBody>
      </p:sp>
      <p:sp>
        <p:nvSpPr>
          <p:cNvPr id="10" name="Shape 8"/>
          <p:cNvSpPr/>
          <p:nvPr/>
        </p:nvSpPr>
        <p:spPr>
          <a:xfrm>
            <a:off x="411480" y="2633472"/>
            <a:ext cx="2514600" cy="420624"/>
          </a:xfrm>
          <a:prstGeom prst="rect">
            <a:avLst/>
          </a:prstGeom>
          <a:solidFill>
            <a:srgbClr val="F8F9FB"/>
          </a:solidFill>
          <a:ln/>
        </p:spPr>
        <p:txBody>
          <a:bodyPr/>
          <a:lstStyle/>
          <a:p>
            <a:endParaRPr lang="en-IN"/>
          </a:p>
        </p:txBody>
      </p:sp>
      <p:sp>
        <p:nvSpPr>
          <p:cNvPr id="11" name="Text 9"/>
          <p:cNvSpPr/>
          <p:nvPr/>
        </p:nvSpPr>
        <p:spPr>
          <a:xfrm>
            <a:off x="457200" y="267004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Customer Count</a:t>
            </a:r>
            <a:endParaRPr lang="en-US" sz="1000" dirty="0"/>
          </a:p>
        </p:txBody>
      </p:sp>
      <p:sp>
        <p:nvSpPr>
          <p:cNvPr id="12" name="Text 10"/>
          <p:cNvSpPr/>
          <p:nvPr/>
        </p:nvSpPr>
        <p:spPr>
          <a:xfrm>
            <a:off x="2011680" y="267004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16</a:t>
            </a:r>
            <a:endParaRPr lang="en-US" sz="1100" dirty="0"/>
          </a:p>
        </p:txBody>
      </p:sp>
      <p:sp>
        <p:nvSpPr>
          <p:cNvPr id="13" name="Shape 11"/>
          <p:cNvSpPr/>
          <p:nvPr/>
        </p:nvSpPr>
        <p:spPr>
          <a:xfrm>
            <a:off x="411480" y="3136392"/>
            <a:ext cx="2514600" cy="420624"/>
          </a:xfrm>
          <a:prstGeom prst="rect">
            <a:avLst/>
          </a:prstGeom>
          <a:solidFill>
            <a:srgbClr val="F8F9FB"/>
          </a:solidFill>
          <a:ln/>
        </p:spPr>
        <p:txBody>
          <a:bodyPr/>
          <a:lstStyle/>
          <a:p>
            <a:endParaRPr lang="en-IN"/>
          </a:p>
        </p:txBody>
      </p:sp>
      <p:sp>
        <p:nvSpPr>
          <p:cNvPr id="14" name="Text 12"/>
          <p:cNvSpPr/>
          <p:nvPr/>
        </p:nvSpPr>
        <p:spPr>
          <a:xfrm>
            <a:off x="457200" y="317296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Avg Spend</a:t>
            </a:r>
            <a:endParaRPr lang="en-US" sz="1000" dirty="0"/>
          </a:p>
        </p:txBody>
      </p:sp>
      <p:sp>
        <p:nvSpPr>
          <p:cNvPr id="15" name="Text 13"/>
          <p:cNvSpPr/>
          <p:nvPr/>
        </p:nvSpPr>
        <p:spPr>
          <a:xfrm>
            <a:off x="2011680" y="317296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$83.61</a:t>
            </a:r>
            <a:endParaRPr lang="en-US" sz="1100" dirty="0"/>
          </a:p>
        </p:txBody>
      </p:sp>
      <p:sp>
        <p:nvSpPr>
          <p:cNvPr id="16" name="Shape 14"/>
          <p:cNvSpPr/>
          <p:nvPr/>
        </p:nvSpPr>
        <p:spPr>
          <a:xfrm>
            <a:off x="411480" y="3639312"/>
            <a:ext cx="2514600" cy="420624"/>
          </a:xfrm>
          <a:prstGeom prst="rect">
            <a:avLst/>
          </a:prstGeom>
          <a:solidFill>
            <a:srgbClr val="F8F9FB"/>
          </a:solidFill>
          <a:ln/>
        </p:spPr>
        <p:txBody>
          <a:bodyPr/>
          <a:lstStyle/>
          <a:p>
            <a:endParaRPr lang="en-IN"/>
          </a:p>
        </p:txBody>
      </p:sp>
      <p:sp>
        <p:nvSpPr>
          <p:cNvPr id="17" name="Text 15"/>
          <p:cNvSpPr/>
          <p:nvPr/>
        </p:nvSpPr>
        <p:spPr>
          <a:xfrm>
            <a:off x="457200" y="367588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Avg Orders</a:t>
            </a:r>
            <a:endParaRPr lang="en-US" sz="1000" dirty="0"/>
          </a:p>
        </p:txBody>
      </p:sp>
      <p:sp>
        <p:nvSpPr>
          <p:cNvPr id="18" name="Text 16"/>
          <p:cNvSpPr/>
          <p:nvPr/>
        </p:nvSpPr>
        <p:spPr>
          <a:xfrm>
            <a:off x="2011680" y="367588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10.84</a:t>
            </a:r>
            <a:endParaRPr lang="en-US" sz="1100" dirty="0"/>
          </a:p>
        </p:txBody>
      </p:sp>
      <p:sp>
        <p:nvSpPr>
          <p:cNvPr id="19" name="Shape 17"/>
          <p:cNvSpPr/>
          <p:nvPr/>
        </p:nvSpPr>
        <p:spPr>
          <a:xfrm>
            <a:off x="3246120" y="822960"/>
            <a:ext cx="2788920" cy="34747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0" name="Shape 18"/>
          <p:cNvSpPr/>
          <p:nvPr/>
        </p:nvSpPr>
        <p:spPr>
          <a:xfrm>
            <a:off x="3246120" y="822960"/>
            <a:ext cx="2788920" cy="502920"/>
          </a:xfrm>
          <a:prstGeom prst="rect">
            <a:avLst/>
          </a:prstGeom>
          <a:solidFill>
            <a:srgbClr val="E05A44"/>
          </a:solidFill>
          <a:ln/>
        </p:spPr>
        <p:txBody>
          <a:bodyPr/>
          <a:lstStyle/>
          <a:p>
            <a:endParaRPr lang="en-IN"/>
          </a:p>
        </p:txBody>
      </p:sp>
      <p:sp>
        <p:nvSpPr>
          <p:cNvPr id="21" name="Text 19"/>
          <p:cNvSpPr/>
          <p:nvPr/>
        </p:nvSpPr>
        <p:spPr>
          <a:xfrm>
            <a:off x="3246120" y="822960"/>
            <a:ext cx="2788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High Risk</a:t>
            </a:r>
            <a:endParaRPr lang="en-US" sz="1400" dirty="0"/>
          </a:p>
        </p:txBody>
      </p:sp>
      <p:sp>
        <p:nvSpPr>
          <p:cNvPr id="22" name="Text 20"/>
          <p:cNvSpPr/>
          <p:nvPr/>
        </p:nvSpPr>
        <p:spPr>
          <a:xfrm>
            <a:off x="3246120" y="1417320"/>
            <a:ext cx="2788920" cy="822960"/>
          </a:xfrm>
          <a:prstGeom prst="rect">
            <a:avLst/>
          </a:prstGeom>
          <a:noFill/>
          <a:ln/>
        </p:spPr>
        <p:txBody>
          <a:bodyPr wrap="square" rtlCol="0" anchor="ctr"/>
          <a:lstStyle/>
          <a:p>
            <a:pPr marL="0" indent="0" algn="ctr">
              <a:buNone/>
            </a:pPr>
            <a:r>
              <a:rPr lang="en-US" sz="4200" b="1" dirty="0">
                <a:solidFill>
                  <a:srgbClr val="E05A44"/>
                </a:solidFill>
                <a:latin typeface="Calibri" pitchFamily="34" charset="0"/>
                <a:ea typeface="Calibri" pitchFamily="34" charset="-122"/>
                <a:cs typeface="Calibri" pitchFamily="34" charset="-120"/>
              </a:rPr>
              <a:t>35%</a:t>
            </a:r>
            <a:endParaRPr lang="en-US" sz="4200" dirty="0"/>
          </a:p>
        </p:txBody>
      </p:sp>
      <p:sp>
        <p:nvSpPr>
          <p:cNvPr id="23" name="Text 21"/>
          <p:cNvSpPr/>
          <p:nvPr/>
        </p:nvSpPr>
        <p:spPr>
          <a:xfrm>
            <a:off x="3246120" y="2240280"/>
            <a:ext cx="2788920" cy="274320"/>
          </a:xfrm>
          <a:prstGeom prst="rect">
            <a:avLst/>
          </a:prstGeom>
          <a:noFill/>
          <a:ln/>
        </p:spPr>
        <p:txBody>
          <a:bodyPr wrap="square" rtlCol="0" anchor="ctr"/>
          <a:lstStyle/>
          <a:p>
            <a:pPr marL="0" indent="0" algn="ctr">
              <a:buNone/>
            </a:pPr>
            <a:r>
              <a:rPr lang="en-US" sz="1000" dirty="0">
                <a:solidFill>
                  <a:srgbClr val="8290A8"/>
                </a:solidFill>
                <a:latin typeface="Calibri" pitchFamily="34" charset="0"/>
                <a:ea typeface="Calibri" pitchFamily="34" charset="-122"/>
                <a:cs typeface="Calibri" pitchFamily="34" charset="-120"/>
              </a:rPr>
              <a:t>of customers</a:t>
            </a:r>
            <a:endParaRPr lang="en-US" sz="1000" dirty="0"/>
          </a:p>
        </p:txBody>
      </p:sp>
      <p:sp>
        <p:nvSpPr>
          <p:cNvPr id="24" name="Shape 22"/>
          <p:cNvSpPr/>
          <p:nvPr/>
        </p:nvSpPr>
        <p:spPr>
          <a:xfrm>
            <a:off x="3383280" y="2633472"/>
            <a:ext cx="2514600" cy="420624"/>
          </a:xfrm>
          <a:prstGeom prst="rect">
            <a:avLst/>
          </a:prstGeom>
          <a:solidFill>
            <a:srgbClr val="F8F9FB"/>
          </a:solidFill>
          <a:ln/>
        </p:spPr>
        <p:txBody>
          <a:bodyPr/>
          <a:lstStyle/>
          <a:p>
            <a:endParaRPr lang="en-IN"/>
          </a:p>
        </p:txBody>
      </p:sp>
      <p:sp>
        <p:nvSpPr>
          <p:cNvPr id="25" name="Text 23"/>
          <p:cNvSpPr/>
          <p:nvPr/>
        </p:nvSpPr>
        <p:spPr>
          <a:xfrm>
            <a:off x="3429000" y="267004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Customer Count</a:t>
            </a:r>
            <a:endParaRPr lang="en-US" sz="1000" dirty="0"/>
          </a:p>
        </p:txBody>
      </p:sp>
      <p:sp>
        <p:nvSpPr>
          <p:cNvPr id="26" name="Text 24"/>
          <p:cNvSpPr/>
          <p:nvPr/>
        </p:nvSpPr>
        <p:spPr>
          <a:xfrm>
            <a:off x="4983480" y="267004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12</a:t>
            </a:r>
            <a:endParaRPr lang="en-US" sz="1100" dirty="0"/>
          </a:p>
        </p:txBody>
      </p:sp>
      <p:sp>
        <p:nvSpPr>
          <p:cNvPr id="27" name="Shape 25"/>
          <p:cNvSpPr/>
          <p:nvPr/>
        </p:nvSpPr>
        <p:spPr>
          <a:xfrm>
            <a:off x="3383280" y="3136392"/>
            <a:ext cx="2514600" cy="420624"/>
          </a:xfrm>
          <a:prstGeom prst="rect">
            <a:avLst/>
          </a:prstGeom>
          <a:solidFill>
            <a:srgbClr val="F8F9FB"/>
          </a:solidFill>
          <a:ln/>
        </p:spPr>
        <p:txBody>
          <a:bodyPr/>
          <a:lstStyle/>
          <a:p>
            <a:endParaRPr lang="en-IN"/>
          </a:p>
        </p:txBody>
      </p:sp>
      <p:sp>
        <p:nvSpPr>
          <p:cNvPr id="28" name="Text 26"/>
          <p:cNvSpPr/>
          <p:nvPr/>
        </p:nvSpPr>
        <p:spPr>
          <a:xfrm>
            <a:off x="3429000" y="317296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Avg Spend</a:t>
            </a:r>
            <a:endParaRPr lang="en-US" sz="1000" dirty="0"/>
          </a:p>
        </p:txBody>
      </p:sp>
      <p:sp>
        <p:nvSpPr>
          <p:cNvPr id="29" name="Text 27"/>
          <p:cNvSpPr/>
          <p:nvPr/>
        </p:nvSpPr>
        <p:spPr>
          <a:xfrm>
            <a:off x="4983480" y="317296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$74.75</a:t>
            </a:r>
            <a:endParaRPr lang="en-US" sz="1100" dirty="0"/>
          </a:p>
        </p:txBody>
      </p:sp>
      <p:sp>
        <p:nvSpPr>
          <p:cNvPr id="30" name="Shape 28"/>
          <p:cNvSpPr/>
          <p:nvPr/>
        </p:nvSpPr>
        <p:spPr>
          <a:xfrm>
            <a:off x="3383280" y="3639312"/>
            <a:ext cx="2514600" cy="420624"/>
          </a:xfrm>
          <a:prstGeom prst="rect">
            <a:avLst/>
          </a:prstGeom>
          <a:solidFill>
            <a:srgbClr val="F8F9FB"/>
          </a:solidFill>
          <a:ln/>
        </p:spPr>
        <p:txBody>
          <a:bodyPr/>
          <a:lstStyle/>
          <a:p>
            <a:endParaRPr lang="en-IN"/>
          </a:p>
        </p:txBody>
      </p:sp>
      <p:sp>
        <p:nvSpPr>
          <p:cNvPr id="31" name="Text 29"/>
          <p:cNvSpPr/>
          <p:nvPr/>
        </p:nvSpPr>
        <p:spPr>
          <a:xfrm>
            <a:off x="3429000" y="367588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Avg Orders</a:t>
            </a:r>
            <a:endParaRPr lang="en-US" sz="1000" dirty="0"/>
          </a:p>
        </p:txBody>
      </p:sp>
      <p:sp>
        <p:nvSpPr>
          <p:cNvPr id="32" name="Text 30"/>
          <p:cNvSpPr/>
          <p:nvPr/>
        </p:nvSpPr>
        <p:spPr>
          <a:xfrm>
            <a:off x="4983480" y="367588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9.83</a:t>
            </a:r>
            <a:endParaRPr lang="en-US" sz="1100" dirty="0"/>
          </a:p>
        </p:txBody>
      </p:sp>
      <p:sp>
        <p:nvSpPr>
          <p:cNvPr id="33" name="Shape 31"/>
          <p:cNvSpPr/>
          <p:nvPr/>
        </p:nvSpPr>
        <p:spPr>
          <a:xfrm>
            <a:off x="6217920" y="822960"/>
            <a:ext cx="2788920" cy="347472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34" name="Shape 32"/>
          <p:cNvSpPr/>
          <p:nvPr/>
        </p:nvSpPr>
        <p:spPr>
          <a:xfrm>
            <a:off x="6217920" y="822960"/>
            <a:ext cx="2788920" cy="502920"/>
          </a:xfrm>
          <a:prstGeom prst="rect">
            <a:avLst/>
          </a:prstGeom>
          <a:solidFill>
            <a:srgbClr val="F5A623"/>
          </a:solidFill>
          <a:ln/>
        </p:spPr>
        <p:txBody>
          <a:bodyPr/>
          <a:lstStyle/>
          <a:p>
            <a:endParaRPr lang="en-IN"/>
          </a:p>
        </p:txBody>
      </p:sp>
      <p:sp>
        <p:nvSpPr>
          <p:cNvPr id="35" name="Text 33"/>
          <p:cNvSpPr/>
          <p:nvPr/>
        </p:nvSpPr>
        <p:spPr>
          <a:xfrm>
            <a:off x="6217920" y="822960"/>
            <a:ext cx="2788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Medium Risk</a:t>
            </a:r>
            <a:endParaRPr lang="en-US" sz="1400" dirty="0"/>
          </a:p>
        </p:txBody>
      </p:sp>
      <p:sp>
        <p:nvSpPr>
          <p:cNvPr id="36" name="Text 34"/>
          <p:cNvSpPr/>
          <p:nvPr/>
        </p:nvSpPr>
        <p:spPr>
          <a:xfrm>
            <a:off x="6217920" y="1417320"/>
            <a:ext cx="2788920" cy="822960"/>
          </a:xfrm>
          <a:prstGeom prst="rect">
            <a:avLst/>
          </a:prstGeom>
          <a:noFill/>
          <a:ln/>
        </p:spPr>
        <p:txBody>
          <a:bodyPr wrap="square" rtlCol="0" anchor="ctr"/>
          <a:lstStyle/>
          <a:p>
            <a:pPr marL="0" indent="0" algn="ctr">
              <a:buNone/>
            </a:pPr>
            <a:r>
              <a:rPr lang="en-US" sz="4200" b="1" dirty="0">
                <a:solidFill>
                  <a:srgbClr val="F5A623"/>
                </a:solidFill>
                <a:latin typeface="Calibri" pitchFamily="34" charset="0"/>
                <a:ea typeface="Calibri" pitchFamily="34" charset="-122"/>
                <a:cs typeface="Calibri" pitchFamily="34" charset="-120"/>
              </a:rPr>
              <a:t>18%</a:t>
            </a:r>
            <a:endParaRPr lang="en-US" sz="4200" dirty="0"/>
          </a:p>
        </p:txBody>
      </p:sp>
      <p:sp>
        <p:nvSpPr>
          <p:cNvPr id="37" name="Text 35"/>
          <p:cNvSpPr/>
          <p:nvPr/>
        </p:nvSpPr>
        <p:spPr>
          <a:xfrm>
            <a:off x="6217920" y="2240280"/>
            <a:ext cx="2788920" cy="274320"/>
          </a:xfrm>
          <a:prstGeom prst="rect">
            <a:avLst/>
          </a:prstGeom>
          <a:noFill/>
          <a:ln/>
        </p:spPr>
        <p:txBody>
          <a:bodyPr wrap="square" rtlCol="0" anchor="ctr"/>
          <a:lstStyle/>
          <a:p>
            <a:pPr marL="0" indent="0" algn="ctr">
              <a:buNone/>
            </a:pPr>
            <a:r>
              <a:rPr lang="en-US" sz="1000" dirty="0">
                <a:solidFill>
                  <a:srgbClr val="8290A8"/>
                </a:solidFill>
                <a:latin typeface="Calibri" pitchFamily="34" charset="0"/>
                <a:ea typeface="Calibri" pitchFamily="34" charset="-122"/>
                <a:cs typeface="Calibri" pitchFamily="34" charset="-120"/>
              </a:rPr>
              <a:t>of customers</a:t>
            </a:r>
            <a:endParaRPr lang="en-US" sz="1000" dirty="0"/>
          </a:p>
        </p:txBody>
      </p:sp>
      <p:sp>
        <p:nvSpPr>
          <p:cNvPr id="38" name="Shape 36"/>
          <p:cNvSpPr/>
          <p:nvPr/>
        </p:nvSpPr>
        <p:spPr>
          <a:xfrm>
            <a:off x="6355080" y="2633472"/>
            <a:ext cx="2514600" cy="420624"/>
          </a:xfrm>
          <a:prstGeom prst="rect">
            <a:avLst/>
          </a:prstGeom>
          <a:solidFill>
            <a:srgbClr val="F8F9FB"/>
          </a:solidFill>
          <a:ln/>
        </p:spPr>
        <p:txBody>
          <a:bodyPr/>
          <a:lstStyle/>
          <a:p>
            <a:endParaRPr lang="en-IN"/>
          </a:p>
        </p:txBody>
      </p:sp>
      <p:sp>
        <p:nvSpPr>
          <p:cNvPr id="39" name="Text 37"/>
          <p:cNvSpPr/>
          <p:nvPr/>
        </p:nvSpPr>
        <p:spPr>
          <a:xfrm>
            <a:off x="6400800" y="267004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Customer Count</a:t>
            </a:r>
            <a:endParaRPr lang="en-US" sz="1000" dirty="0"/>
          </a:p>
        </p:txBody>
      </p:sp>
      <p:sp>
        <p:nvSpPr>
          <p:cNvPr id="40" name="Text 38"/>
          <p:cNvSpPr/>
          <p:nvPr/>
        </p:nvSpPr>
        <p:spPr>
          <a:xfrm>
            <a:off x="7955280" y="267004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6</a:t>
            </a:r>
            <a:endParaRPr lang="en-US" sz="1100" dirty="0"/>
          </a:p>
        </p:txBody>
      </p:sp>
      <p:sp>
        <p:nvSpPr>
          <p:cNvPr id="41" name="Shape 39"/>
          <p:cNvSpPr/>
          <p:nvPr/>
        </p:nvSpPr>
        <p:spPr>
          <a:xfrm>
            <a:off x="6355080" y="3136392"/>
            <a:ext cx="2514600" cy="420624"/>
          </a:xfrm>
          <a:prstGeom prst="rect">
            <a:avLst/>
          </a:prstGeom>
          <a:solidFill>
            <a:srgbClr val="F8F9FB"/>
          </a:solidFill>
          <a:ln/>
        </p:spPr>
        <p:txBody>
          <a:bodyPr/>
          <a:lstStyle/>
          <a:p>
            <a:endParaRPr lang="en-IN"/>
          </a:p>
        </p:txBody>
      </p:sp>
      <p:sp>
        <p:nvSpPr>
          <p:cNvPr id="42" name="Text 40"/>
          <p:cNvSpPr/>
          <p:nvPr/>
        </p:nvSpPr>
        <p:spPr>
          <a:xfrm>
            <a:off x="6400800" y="317296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Avg Spend</a:t>
            </a:r>
            <a:endParaRPr lang="en-US" sz="1000" dirty="0"/>
          </a:p>
        </p:txBody>
      </p:sp>
      <p:sp>
        <p:nvSpPr>
          <p:cNvPr id="43" name="Text 41"/>
          <p:cNvSpPr/>
          <p:nvPr/>
        </p:nvSpPr>
        <p:spPr>
          <a:xfrm>
            <a:off x="7955280" y="317296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$86.96</a:t>
            </a:r>
            <a:endParaRPr lang="en-US" sz="1100" dirty="0"/>
          </a:p>
        </p:txBody>
      </p:sp>
      <p:sp>
        <p:nvSpPr>
          <p:cNvPr id="44" name="Shape 42"/>
          <p:cNvSpPr/>
          <p:nvPr/>
        </p:nvSpPr>
        <p:spPr>
          <a:xfrm>
            <a:off x="6355080" y="3639312"/>
            <a:ext cx="2514600" cy="420624"/>
          </a:xfrm>
          <a:prstGeom prst="rect">
            <a:avLst/>
          </a:prstGeom>
          <a:solidFill>
            <a:srgbClr val="F8F9FB"/>
          </a:solidFill>
          <a:ln/>
        </p:spPr>
        <p:txBody>
          <a:bodyPr/>
          <a:lstStyle/>
          <a:p>
            <a:endParaRPr lang="en-IN"/>
          </a:p>
        </p:txBody>
      </p:sp>
      <p:sp>
        <p:nvSpPr>
          <p:cNvPr id="45" name="Text 43"/>
          <p:cNvSpPr/>
          <p:nvPr/>
        </p:nvSpPr>
        <p:spPr>
          <a:xfrm>
            <a:off x="6400800" y="3675888"/>
            <a:ext cx="1371600" cy="347472"/>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Avg Orders</a:t>
            </a:r>
            <a:endParaRPr lang="en-US" sz="1000" dirty="0"/>
          </a:p>
        </p:txBody>
      </p:sp>
      <p:sp>
        <p:nvSpPr>
          <p:cNvPr id="46" name="Text 44"/>
          <p:cNvSpPr/>
          <p:nvPr/>
        </p:nvSpPr>
        <p:spPr>
          <a:xfrm>
            <a:off x="7955280" y="3675888"/>
            <a:ext cx="868680" cy="347472"/>
          </a:xfrm>
          <a:prstGeom prst="rect">
            <a:avLst/>
          </a:prstGeom>
          <a:noFill/>
          <a:ln/>
        </p:spPr>
        <p:txBody>
          <a:bodyPr wrap="square" rtlCol="0" anchor="ctr"/>
          <a:lstStyle/>
          <a:p>
            <a:pPr marL="0" indent="0" algn="r">
              <a:buNone/>
            </a:pPr>
            <a:r>
              <a:rPr lang="en-US" sz="1100" b="1" dirty="0">
                <a:solidFill>
                  <a:srgbClr val="1A1F3C"/>
                </a:solidFill>
                <a:latin typeface="Calibri" pitchFamily="34" charset="0"/>
                <a:ea typeface="Calibri" pitchFamily="34" charset="-122"/>
                <a:cs typeface="Calibri" pitchFamily="34" charset="-120"/>
              </a:rPr>
              <a:t>10.33</a:t>
            </a:r>
            <a:endParaRPr lang="en-US" sz="1100" dirty="0"/>
          </a:p>
        </p:txBody>
      </p:sp>
      <p:sp>
        <p:nvSpPr>
          <p:cNvPr id="47" name="Text 45"/>
          <p:cNvSpPr/>
          <p:nvPr/>
        </p:nvSpPr>
        <p:spPr>
          <a:xfrm>
            <a:off x="274320" y="4663440"/>
            <a:ext cx="8595360" cy="274320"/>
          </a:xfrm>
          <a:prstGeom prst="rect">
            <a:avLst/>
          </a:prstGeom>
          <a:noFill/>
          <a:ln/>
        </p:spPr>
        <p:txBody>
          <a:bodyPr wrap="square" rtlCol="0" anchor="ctr"/>
          <a:lstStyle/>
          <a:p>
            <a:pPr marL="0" indent="0" algn="ctr">
              <a:buNone/>
            </a:pPr>
            <a:r>
              <a:rPr lang="en-US" sz="1000" i="1" dirty="0">
                <a:solidFill>
                  <a:srgbClr val="8290A8"/>
                </a:solidFill>
                <a:latin typeface="Calibri" pitchFamily="34" charset="0"/>
                <a:ea typeface="Calibri" pitchFamily="34" charset="-122"/>
                <a:cs typeface="Calibri" pitchFamily="34" charset="-120"/>
              </a:rPr>
              <a:t>Risk = months inactive: Low (&lt;3m) · Medium (3–5m) · High (≥6m)</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Market Insights &amp; Strategic Approach</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17</a:t>
            </a:r>
            <a:endParaRPr lang="en-US" sz="1300" dirty="0"/>
          </a:p>
        </p:txBody>
      </p:sp>
      <p:sp>
        <p:nvSpPr>
          <p:cNvPr id="5" name="Shape 3"/>
          <p:cNvSpPr/>
          <p:nvPr/>
        </p:nvSpPr>
        <p:spPr>
          <a:xfrm>
            <a:off x="228600" y="804672"/>
            <a:ext cx="4251960" cy="12618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228600" y="804672"/>
            <a:ext cx="4251960" cy="54864"/>
          </a:xfrm>
          <a:prstGeom prst="rect">
            <a:avLst/>
          </a:prstGeom>
          <a:solidFill>
            <a:srgbClr val="F5A623"/>
          </a:solidFill>
          <a:ln/>
        </p:spPr>
        <p:txBody>
          <a:bodyPr/>
          <a:lstStyle/>
          <a:p>
            <a:endParaRPr lang="en-IN"/>
          </a:p>
        </p:txBody>
      </p:sp>
      <p:sp>
        <p:nvSpPr>
          <p:cNvPr id="7" name="Text 5"/>
          <p:cNvSpPr/>
          <p:nvPr/>
        </p:nvSpPr>
        <p:spPr>
          <a:xfrm>
            <a:off x="365760" y="914400"/>
            <a:ext cx="3931920" cy="384048"/>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USA Leads but Churns</a:t>
            </a:r>
            <a:endParaRPr lang="en-US" sz="1300" dirty="0"/>
          </a:p>
        </p:txBody>
      </p:sp>
      <p:sp>
        <p:nvSpPr>
          <p:cNvPr id="8" name="Text 6"/>
          <p:cNvSpPr/>
          <p:nvPr/>
        </p:nvSpPr>
        <p:spPr>
          <a:xfrm>
            <a:off x="365760" y="1316736"/>
            <a:ext cx="3931920" cy="68580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Highest revenue ($1,040) yet 38.5% churn. Retention is as important as acquisition.</a:t>
            </a:r>
            <a:endParaRPr lang="en-US" sz="1100" dirty="0"/>
          </a:p>
        </p:txBody>
      </p:sp>
      <p:sp>
        <p:nvSpPr>
          <p:cNvPr id="9" name="Shape 7"/>
          <p:cNvSpPr/>
          <p:nvPr/>
        </p:nvSpPr>
        <p:spPr>
          <a:xfrm>
            <a:off x="4663440" y="804672"/>
            <a:ext cx="4251960" cy="12618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4663440" y="804672"/>
            <a:ext cx="4251960" cy="54864"/>
          </a:xfrm>
          <a:prstGeom prst="rect">
            <a:avLst/>
          </a:prstGeom>
          <a:solidFill>
            <a:srgbClr val="F5A623"/>
          </a:solidFill>
          <a:ln/>
        </p:spPr>
        <p:txBody>
          <a:bodyPr/>
          <a:lstStyle/>
          <a:p>
            <a:endParaRPr lang="en-IN"/>
          </a:p>
        </p:txBody>
      </p:sp>
      <p:sp>
        <p:nvSpPr>
          <p:cNvPr id="11" name="Text 9"/>
          <p:cNvSpPr/>
          <p:nvPr/>
        </p:nvSpPr>
        <p:spPr>
          <a:xfrm>
            <a:off x="4800600" y="914400"/>
            <a:ext cx="3931920" cy="384048"/>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Rock is Universal</a:t>
            </a:r>
            <a:endParaRPr lang="en-US" sz="1300" dirty="0"/>
          </a:p>
        </p:txBody>
      </p:sp>
      <p:sp>
        <p:nvSpPr>
          <p:cNvPr id="12" name="Text 10"/>
          <p:cNvSpPr/>
          <p:nvPr/>
        </p:nvSpPr>
        <p:spPr>
          <a:xfrm>
            <a:off x="4800600" y="1316736"/>
            <a:ext cx="3931920" cy="68580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Rock dominates in all 22 countries. No country prefers another genre as its #1.</a:t>
            </a:r>
            <a:endParaRPr lang="en-US" sz="1100" dirty="0"/>
          </a:p>
        </p:txBody>
      </p:sp>
      <p:sp>
        <p:nvSpPr>
          <p:cNvPr id="13" name="Shape 11"/>
          <p:cNvSpPr/>
          <p:nvPr/>
        </p:nvSpPr>
        <p:spPr>
          <a:xfrm>
            <a:off x="228600" y="2194560"/>
            <a:ext cx="4251960" cy="12618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228600" y="2194560"/>
            <a:ext cx="4251960" cy="54864"/>
          </a:xfrm>
          <a:prstGeom prst="rect">
            <a:avLst/>
          </a:prstGeom>
          <a:solidFill>
            <a:srgbClr val="F5A623"/>
          </a:solidFill>
          <a:ln/>
        </p:spPr>
        <p:txBody>
          <a:bodyPr/>
          <a:lstStyle/>
          <a:p>
            <a:endParaRPr lang="en-IN"/>
          </a:p>
        </p:txBody>
      </p:sp>
      <p:sp>
        <p:nvSpPr>
          <p:cNvPr id="15" name="Text 13"/>
          <p:cNvSpPr/>
          <p:nvPr/>
        </p:nvSpPr>
        <p:spPr>
          <a:xfrm>
            <a:off x="365760" y="2304288"/>
            <a:ext cx="3931920" cy="384048"/>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Economy Shapes Sales</a:t>
            </a:r>
            <a:endParaRPr lang="en-US" sz="1300" dirty="0"/>
          </a:p>
        </p:txBody>
      </p:sp>
      <p:sp>
        <p:nvSpPr>
          <p:cNvPr id="16" name="Text 14"/>
          <p:cNvSpPr/>
          <p:nvPr/>
        </p:nvSpPr>
        <p:spPr>
          <a:xfrm>
            <a:off x="365760" y="2706624"/>
            <a:ext cx="3931920" cy="68580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Purchasing power correlates with order frequency and average spend per customer.</a:t>
            </a:r>
            <a:endParaRPr lang="en-US" sz="1100" dirty="0"/>
          </a:p>
        </p:txBody>
      </p:sp>
      <p:sp>
        <p:nvSpPr>
          <p:cNvPr id="17" name="Shape 15"/>
          <p:cNvSpPr/>
          <p:nvPr/>
        </p:nvSpPr>
        <p:spPr>
          <a:xfrm>
            <a:off x="4663440" y="2194560"/>
            <a:ext cx="4251960" cy="12618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6"/>
          <p:cNvSpPr/>
          <p:nvPr/>
        </p:nvSpPr>
        <p:spPr>
          <a:xfrm>
            <a:off x="4663440" y="2194560"/>
            <a:ext cx="4251960" cy="54864"/>
          </a:xfrm>
          <a:prstGeom prst="rect">
            <a:avLst/>
          </a:prstGeom>
          <a:solidFill>
            <a:srgbClr val="F5A623"/>
          </a:solidFill>
          <a:ln/>
        </p:spPr>
        <p:txBody>
          <a:bodyPr/>
          <a:lstStyle/>
          <a:p>
            <a:endParaRPr lang="en-IN"/>
          </a:p>
        </p:txBody>
      </p:sp>
      <p:sp>
        <p:nvSpPr>
          <p:cNvPr id="19" name="Text 17"/>
          <p:cNvSpPr/>
          <p:nvPr/>
        </p:nvSpPr>
        <p:spPr>
          <a:xfrm>
            <a:off x="4800600" y="2304288"/>
            <a:ext cx="3931920" cy="384048"/>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Loyalty Drives Revenue</a:t>
            </a:r>
            <a:endParaRPr lang="en-US" sz="1300" dirty="0"/>
          </a:p>
        </p:txBody>
      </p:sp>
      <p:sp>
        <p:nvSpPr>
          <p:cNvPr id="20" name="Text 18"/>
          <p:cNvSpPr/>
          <p:nvPr/>
        </p:nvSpPr>
        <p:spPr>
          <a:xfrm>
            <a:off x="4800600" y="2706624"/>
            <a:ext cx="3931920" cy="68580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Long-term customers spend 71% more and order 84% more than new customers.</a:t>
            </a:r>
            <a:endParaRPr lang="en-US" sz="1100" dirty="0"/>
          </a:p>
        </p:txBody>
      </p:sp>
      <p:sp>
        <p:nvSpPr>
          <p:cNvPr id="21" name="Shape 19"/>
          <p:cNvSpPr/>
          <p:nvPr/>
        </p:nvSpPr>
        <p:spPr>
          <a:xfrm>
            <a:off x="228600" y="3584448"/>
            <a:ext cx="4251960" cy="12618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2" name="Shape 20"/>
          <p:cNvSpPr/>
          <p:nvPr/>
        </p:nvSpPr>
        <p:spPr>
          <a:xfrm>
            <a:off x="228600" y="3584448"/>
            <a:ext cx="4251960" cy="54864"/>
          </a:xfrm>
          <a:prstGeom prst="rect">
            <a:avLst/>
          </a:prstGeom>
          <a:solidFill>
            <a:srgbClr val="F5A623"/>
          </a:solidFill>
          <a:ln/>
        </p:spPr>
        <p:txBody>
          <a:bodyPr/>
          <a:lstStyle/>
          <a:p>
            <a:endParaRPr lang="en-IN"/>
          </a:p>
        </p:txBody>
      </p:sp>
      <p:sp>
        <p:nvSpPr>
          <p:cNvPr id="23" name="Text 21"/>
          <p:cNvSpPr/>
          <p:nvPr/>
        </p:nvSpPr>
        <p:spPr>
          <a:xfrm>
            <a:off x="365760" y="3694176"/>
            <a:ext cx="3931920" cy="384048"/>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High-Risk Segments</a:t>
            </a:r>
            <a:endParaRPr lang="en-US" sz="1300" dirty="0"/>
          </a:p>
        </p:txBody>
      </p:sp>
      <p:sp>
        <p:nvSpPr>
          <p:cNvPr id="24" name="Text 22"/>
          <p:cNvSpPr/>
          <p:nvPr/>
        </p:nvSpPr>
        <p:spPr>
          <a:xfrm>
            <a:off x="365760" y="4096512"/>
            <a:ext cx="3931920" cy="68580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Countries like Belgium, Denmark, Chile show 100% churn — immediate intervention needed.</a:t>
            </a:r>
            <a:endParaRPr lang="en-US" sz="1100" dirty="0"/>
          </a:p>
        </p:txBody>
      </p:sp>
      <p:sp>
        <p:nvSpPr>
          <p:cNvPr id="25" name="Shape 23"/>
          <p:cNvSpPr/>
          <p:nvPr/>
        </p:nvSpPr>
        <p:spPr>
          <a:xfrm>
            <a:off x="4663440" y="3584448"/>
            <a:ext cx="4251960" cy="1261872"/>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4663440" y="3584448"/>
            <a:ext cx="4251960" cy="54864"/>
          </a:xfrm>
          <a:prstGeom prst="rect">
            <a:avLst/>
          </a:prstGeom>
          <a:solidFill>
            <a:srgbClr val="F5A623"/>
          </a:solidFill>
          <a:ln/>
        </p:spPr>
        <p:txBody>
          <a:bodyPr/>
          <a:lstStyle/>
          <a:p>
            <a:endParaRPr lang="en-IN"/>
          </a:p>
        </p:txBody>
      </p:sp>
      <p:sp>
        <p:nvSpPr>
          <p:cNvPr id="27" name="Text 25"/>
          <p:cNvSpPr/>
          <p:nvPr/>
        </p:nvSpPr>
        <p:spPr>
          <a:xfrm>
            <a:off x="4800600" y="3694176"/>
            <a:ext cx="3931920" cy="384048"/>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  Localize Strategy</a:t>
            </a:r>
            <a:endParaRPr lang="en-US" sz="1300" dirty="0"/>
          </a:p>
        </p:txBody>
      </p:sp>
      <p:sp>
        <p:nvSpPr>
          <p:cNvPr id="28" name="Text 26"/>
          <p:cNvSpPr/>
          <p:nvPr/>
        </p:nvSpPr>
        <p:spPr>
          <a:xfrm>
            <a:off x="4800600" y="4096512"/>
            <a:ext cx="3931920" cy="685800"/>
          </a:xfrm>
          <a:prstGeom prst="rect">
            <a:avLst/>
          </a:prstGeom>
          <a:noFill/>
          <a:ln/>
        </p:spPr>
        <p:txBody>
          <a:bodyPr wrap="square" rtlCol="0" anchor="ctr"/>
          <a:lstStyle/>
          <a:p>
            <a:pPr marL="0" indent="0">
              <a:buNone/>
            </a:pPr>
            <a:r>
              <a:rPr lang="en-US" sz="1100" dirty="0">
                <a:solidFill>
                  <a:srgbClr val="8290A8"/>
                </a:solidFill>
                <a:latin typeface="Calibri" pitchFamily="34" charset="0"/>
                <a:ea typeface="Calibri" pitchFamily="34" charset="-122"/>
                <a:cs typeface="Calibri" pitchFamily="34" charset="-120"/>
              </a:rPr>
              <a:t>France prefers Alt/Punk; India tilts toward Pop — standardized campaigns won't work.</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Strategic Recommendations</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18</a:t>
            </a:r>
            <a:endParaRPr lang="en-US" sz="1300" dirty="0"/>
          </a:p>
        </p:txBody>
      </p:sp>
      <p:sp>
        <p:nvSpPr>
          <p:cNvPr id="5" name="Shape 3"/>
          <p:cNvSpPr/>
          <p:nvPr/>
        </p:nvSpPr>
        <p:spPr>
          <a:xfrm>
            <a:off x="274320" y="804672"/>
            <a:ext cx="8595360" cy="12801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274320" y="804672"/>
            <a:ext cx="640080" cy="1280160"/>
          </a:xfrm>
          <a:prstGeom prst="rect">
            <a:avLst/>
          </a:prstGeom>
          <a:solidFill>
            <a:srgbClr val="1A1F3C"/>
          </a:solidFill>
          <a:ln/>
        </p:spPr>
        <p:txBody>
          <a:bodyPr/>
          <a:lstStyle/>
          <a:p>
            <a:endParaRPr lang="en-IN"/>
          </a:p>
        </p:txBody>
      </p:sp>
      <p:sp>
        <p:nvSpPr>
          <p:cNvPr id="7" name="Text 5"/>
          <p:cNvSpPr/>
          <p:nvPr/>
        </p:nvSpPr>
        <p:spPr>
          <a:xfrm>
            <a:off x="274320" y="804672"/>
            <a:ext cx="640080" cy="12801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1051560" y="868680"/>
            <a:ext cx="768096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Boost Marketing in High-Value Markets</a:t>
            </a:r>
            <a:endParaRPr lang="en-US" sz="1300" dirty="0"/>
          </a:p>
        </p:txBody>
      </p:sp>
      <p:sp>
        <p:nvSpPr>
          <p:cNvPr id="9" name="Text 7"/>
          <p:cNvSpPr/>
          <p:nvPr/>
        </p:nvSpPr>
        <p:spPr>
          <a:xfrm>
            <a:off x="1051560" y="1234440"/>
            <a:ext cx="7680960" cy="777240"/>
          </a:xfrm>
          <a:prstGeom prst="rect">
            <a:avLst/>
          </a:prstGeom>
          <a:noFill/>
          <a:ln/>
        </p:spPr>
        <p:txBody>
          <a:bodyPr wrap="square" rtlCol="0" anchor="ctr"/>
          <a:lstStyle/>
          <a:p>
            <a:pPr marL="0" indent="0">
              <a:buNone/>
            </a:pPr>
            <a:r>
              <a:rPr lang="en-US" sz="1050" b="1" dirty="0">
                <a:solidFill>
                  <a:srgbClr val="1A1F3C"/>
                </a:solidFill>
                <a:latin typeface="Calibri" pitchFamily="34" charset="0"/>
                <a:ea typeface="Calibri" pitchFamily="34" charset="-122"/>
                <a:cs typeface="Calibri" pitchFamily="34" charset="-120"/>
              </a:rPr>
              <a:t>Action: </a:t>
            </a:r>
            <a:r>
              <a:rPr lang="en-US" sz="1050" dirty="0">
                <a:solidFill>
                  <a:srgbClr val="1A1F3C"/>
                </a:solidFill>
                <a:latin typeface="Calibri" pitchFamily="34" charset="0"/>
                <a:ea typeface="Calibri" pitchFamily="34" charset="-122"/>
                <a:cs typeface="Calibri" pitchFamily="34" charset="-120"/>
              </a:rPr>
              <a:t>Increase advertising investment in USA, Canada, Germany, and UK.  </a:t>
            </a:r>
            <a:r>
              <a:rPr lang="en-US" sz="1050" b="1" dirty="0">
                <a:solidFill>
                  <a:srgbClr val="1A1F3C"/>
                </a:solidFill>
                <a:latin typeface="Calibri" pitchFamily="34" charset="0"/>
                <a:ea typeface="Calibri" pitchFamily="34" charset="-122"/>
                <a:cs typeface="Calibri" pitchFamily="34" charset="-120"/>
              </a:rPr>
              <a:t>Reason: </a:t>
            </a:r>
            <a:r>
              <a:rPr lang="en-US" sz="1050" dirty="0">
                <a:solidFill>
                  <a:srgbClr val="8290A8"/>
                </a:solidFill>
                <a:latin typeface="Calibri" pitchFamily="34" charset="0"/>
                <a:ea typeface="Calibri" pitchFamily="34" charset="-122"/>
                <a:cs typeface="Calibri" pitchFamily="34" charset="-120"/>
              </a:rPr>
              <a:t>These markets have the highest revenue, loyal customers, and strong purchasing power.</a:t>
            </a:r>
            <a:endParaRPr lang="en-US" sz="1050" dirty="0"/>
          </a:p>
        </p:txBody>
      </p:sp>
      <p:sp>
        <p:nvSpPr>
          <p:cNvPr id="10" name="Shape 8"/>
          <p:cNvSpPr/>
          <p:nvPr/>
        </p:nvSpPr>
        <p:spPr>
          <a:xfrm>
            <a:off x="274320" y="2194560"/>
            <a:ext cx="8595360" cy="12801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274320" y="2194560"/>
            <a:ext cx="640080" cy="1280160"/>
          </a:xfrm>
          <a:prstGeom prst="rect">
            <a:avLst/>
          </a:prstGeom>
          <a:solidFill>
            <a:srgbClr val="3A7BD5"/>
          </a:solidFill>
          <a:ln/>
        </p:spPr>
        <p:txBody>
          <a:bodyPr/>
          <a:lstStyle/>
          <a:p>
            <a:endParaRPr lang="en-IN"/>
          </a:p>
        </p:txBody>
      </p:sp>
      <p:sp>
        <p:nvSpPr>
          <p:cNvPr id="12" name="Text 10"/>
          <p:cNvSpPr/>
          <p:nvPr/>
        </p:nvSpPr>
        <p:spPr>
          <a:xfrm>
            <a:off x="274320" y="2194560"/>
            <a:ext cx="640080" cy="12801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1"/>
          <p:cNvSpPr/>
          <p:nvPr/>
        </p:nvSpPr>
        <p:spPr>
          <a:xfrm>
            <a:off x="1051560" y="2258568"/>
            <a:ext cx="768096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Affordable Products in Price-Sensitive Markets</a:t>
            </a:r>
            <a:endParaRPr lang="en-US" sz="1300" dirty="0"/>
          </a:p>
        </p:txBody>
      </p:sp>
      <p:sp>
        <p:nvSpPr>
          <p:cNvPr id="14" name="Text 12"/>
          <p:cNvSpPr/>
          <p:nvPr/>
        </p:nvSpPr>
        <p:spPr>
          <a:xfrm>
            <a:off x="1051560" y="2624328"/>
            <a:ext cx="7680960" cy="777240"/>
          </a:xfrm>
          <a:prstGeom prst="rect">
            <a:avLst/>
          </a:prstGeom>
          <a:noFill/>
          <a:ln/>
        </p:spPr>
        <p:txBody>
          <a:bodyPr wrap="square" rtlCol="0" anchor="ctr"/>
          <a:lstStyle/>
          <a:p>
            <a:pPr marL="0" indent="0">
              <a:buNone/>
            </a:pPr>
            <a:r>
              <a:rPr lang="en-US" sz="1050" b="1" dirty="0">
                <a:solidFill>
                  <a:srgbClr val="1A1F3C"/>
                </a:solidFill>
                <a:latin typeface="Calibri" pitchFamily="34" charset="0"/>
                <a:ea typeface="Calibri" pitchFamily="34" charset="-122"/>
                <a:cs typeface="Calibri" pitchFamily="34" charset="-120"/>
              </a:rPr>
              <a:t>Action: </a:t>
            </a:r>
            <a:r>
              <a:rPr lang="en-US" sz="1050" dirty="0">
                <a:solidFill>
                  <a:srgbClr val="1A1F3C"/>
                </a:solidFill>
                <a:latin typeface="Calibri" pitchFamily="34" charset="0"/>
                <a:ea typeface="Calibri" pitchFamily="34" charset="-122"/>
                <a:cs typeface="Calibri" pitchFamily="34" charset="-120"/>
              </a:rPr>
              <a:t>Introduce budget-friendly bundles and regional pricing in India, Brazil, and Argentina.  </a:t>
            </a:r>
            <a:r>
              <a:rPr lang="en-US" sz="1050" b="1" dirty="0">
                <a:solidFill>
                  <a:srgbClr val="1A1F3C"/>
                </a:solidFill>
                <a:latin typeface="Calibri" pitchFamily="34" charset="0"/>
                <a:ea typeface="Calibri" pitchFamily="34" charset="-122"/>
                <a:cs typeface="Calibri" pitchFamily="34" charset="-120"/>
              </a:rPr>
              <a:t>Reason: </a:t>
            </a:r>
            <a:r>
              <a:rPr lang="en-US" sz="1050" dirty="0">
                <a:solidFill>
                  <a:srgbClr val="8290A8"/>
                </a:solidFill>
                <a:latin typeface="Calibri" pitchFamily="34" charset="0"/>
                <a:ea typeface="Calibri" pitchFamily="34" charset="-122"/>
                <a:cs typeface="Calibri" pitchFamily="34" charset="-120"/>
              </a:rPr>
              <a:t>Lower spending capacity requires accessible price points to drive volume.</a:t>
            </a:r>
            <a:endParaRPr lang="en-US" sz="1050" dirty="0"/>
          </a:p>
        </p:txBody>
      </p:sp>
      <p:sp>
        <p:nvSpPr>
          <p:cNvPr id="15" name="Shape 13"/>
          <p:cNvSpPr/>
          <p:nvPr/>
        </p:nvSpPr>
        <p:spPr>
          <a:xfrm>
            <a:off x="274320" y="3584448"/>
            <a:ext cx="8595360" cy="1280160"/>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274320" y="3584448"/>
            <a:ext cx="640080" cy="1280160"/>
          </a:xfrm>
          <a:prstGeom prst="rect">
            <a:avLst/>
          </a:prstGeom>
          <a:solidFill>
            <a:srgbClr val="2ECC71"/>
          </a:solidFill>
          <a:ln/>
        </p:spPr>
        <p:txBody>
          <a:bodyPr/>
          <a:lstStyle/>
          <a:p>
            <a:endParaRPr lang="en-IN"/>
          </a:p>
        </p:txBody>
      </p:sp>
      <p:sp>
        <p:nvSpPr>
          <p:cNvPr id="17" name="Text 15"/>
          <p:cNvSpPr/>
          <p:nvPr/>
        </p:nvSpPr>
        <p:spPr>
          <a:xfrm>
            <a:off x="274320" y="3584448"/>
            <a:ext cx="640080" cy="12801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8" name="Text 16"/>
          <p:cNvSpPr/>
          <p:nvPr/>
        </p:nvSpPr>
        <p:spPr>
          <a:xfrm>
            <a:off x="1051560" y="3648456"/>
            <a:ext cx="768096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Leverage Customer Loyalty Programs</a:t>
            </a:r>
            <a:endParaRPr lang="en-US" sz="1300" dirty="0"/>
          </a:p>
        </p:txBody>
      </p:sp>
      <p:sp>
        <p:nvSpPr>
          <p:cNvPr id="19" name="Text 17"/>
          <p:cNvSpPr/>
          <p:nvPr/>
        </p:nvSpPr>
        <p:spPr>
          <a:xfrm>
            <a:off x="1051560" y="4014216"/>
            <a:ext cx="7680960" cy="777240"/>
          </a:xfrm>
          <a:prstGeom prst="rect">
            <a:avLst/>
          </a:prstGeom>
          <a:noFill/>
          <a:ln/>
        </p:spPr>
        <p:txBody>
          <a:bodyPr wrap="square" rtlCol="0" anchor="ctr"/>
          <a:lstStyle/>
          <a:p>
            <a:pPr marL="0" indent="0">
              <a:buNone/>
            </a:pPr>
            <a:r>
              <a:rPr lang="en-US" sz="1050" b="1" dirty="0">
                <a:solidFill>
                  <a:srgbClr val="1A1F3C"/>
                </a:solidFill>
                <a:latin typeface="Calibri" pitchFamily="34" charset="0"/>
                <a:ea typeface="Calibri" pitchFamily="34" charset="-122"/>
                <a:cs typeface="Calibri" pitchFamily="34" charset="-120"/>
              </a:rPr>
              <a:t>Action: </a:t>
            </a:r>
            <a:r>
              <a:rPr lang="en-US" sz="1050" dirty="0">
                <a:solidFill>
                  <a:srgbClr val="1A1F3C"/>
                </a:solidFill>
                <a:latin typeface="Calibri" pitchFamily="34" charset="0"/>
                <a:ea typeface="Calibri" pitchFamily="34" charset="-122"/>
                <a:cs typeface="Calibri" pitchFamily="34" charset="-120"/>
              </a:rPr>
              <a:t>Reward long-term customers with points, exclusive content, and VIP perks.  </a:t>
            </a:r>
            <a:r>
              <a:rPr lang="en-US" sz="1050" b="1" dirty="0">
                <a:solidFill>
                  <a:srgbClr val="1A1F3C"/>
                </a:solidFill>
                <a:latin typeface="Calibri" pitchFamily="34" charset="0"/>
                <a:ea typeface="Calibri" pitchFamily="34" charset="-122"/>
                <a:cs typeface="Calibri" pitchFamily="34" charset="-120"/>
              </a:rPr>
              <a:t>Reason: </a:t>
            </a:r>
            <a:r>
              <a:rPr lang="en-US" sz="1050" dirty="0">
                <a:solidFill>
                  <a:srgbClr val="8290A8"/>
                </a:solidFill>
                <a:latin typeface="Calibri" pitchFamily="34" charset="0"/>
                <a:ea typeface="Calibri" pitchFamily="34" charset="-122"/>
                <a:cs typeface="Calibri" pitchFamily="34" charset="-120"/>
              </a:rPr>
              <a:t>Long-term customers order 84% more and spend 71% more than new ones.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3C"/>
          </a:solidFill>
          <a:ln/>
        </p:spPr>
        <p:txBody>
          <a:bodyPr/>
          <a:lstStyle/>
          <a:p>
            <a:endParaRPr lang="en-IN"/>
          </a:p>
        </p:txBody>
      </p:sp>
      <p:sp>
        <p:nvSpPr>
          <p:cNvPr id="3" name="Text 1"/>
          <p:cNvSpPr/>
          <p:nvPr/>
        </p:nvSpPr>
        <p:spPr>
          <a:xfrm>
            <a:off x="320040" y="73152"/>
            <a:ext cx="77724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Strategic Recommendations (cont.)</a:t>
            </a:r>
            <a:endParaRPr lang="en-US" sz="2000" dirty="0"/>
          </a:p>
        </p:txBody>
      </p:sp>
      <p:sp>
        <p:nvSpPr>
          <p:cNvPr id="4" name="Text 2"/>
          <p:cNvSpPr/>
          <p:nvPr/>
        </p:nvSpPr>
        <p:spPr>
          <a:xfrm>
            <a:off x="8595360" y="91440"/>
            <a:ext cx="457200" cy="45720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19</a:t>
            </a:r>
            <a:endParaRPr lang="en-US" sz="1300" dirty="0"/>
          </a:p>
        </p:txBody>
      </p:sp>
      <p:sp>
        <p:nvSpPr>
          <p:cNvPr id="5" name="Shape 3"/>
          <p:cNvSpPr/>
          <p:nvPr/>
        </p:nvSpPr>
        <p:spPr>
          <a:xfrm>
            <a:off x="274320" y="822960"/>
            <a:ext cx="8595360" cy="129844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274320" y="822960"/>
            <a:ext cx="640080" cy="1298448"/>
          </a:xfrm>
          <a:prstGeom prst="rect">
            <a:avLst/>
          </a:prstGeom>
          <a:solidFill>
            <a:srgbClr val="F5A623"/>
          </a:solidFill>
          <a:ln/>
        </p:spPr>
        <p:txBody>
          <a:bodyPr/>
          <a:lstStyle/>
          <a:p>
            <a:endParaRPr lang="en-IN"/>
          </a:p>
        </p:txBody>
      </p:sp>
      <p:sp>
        <p:nvSpPr>
          <p:cNvPr id="7" name="Text 5"/>
          <p:cNvSpPr/>
          <p:nvPr/>
        </p:nvSpPr>
        <p:spPr>
          <a:xfrm>
            <a:off x="274320" y="822960"/>
            <a:ext cx="640080" cy="1298448"/>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8" name="Text 6"/>
          <p:cNvSpPr/>
          <p:nvPr/>
        </p:nvSpPr>
        <p:spPr>
          <a:xfrm>
            <a:off x="1051560" y="886968"/>
            <a:ext cx="768096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Focus on Popular Music Genres</a:t>
            </a:r>
            <a:endParaRPr lang="en-US" sz="1300" dirty="0"/>
          </a:p>
        </p:txBody>
      </p:sp>
      <p:sp>
        <p:nvSpPr>
          <p:cNvPr id="9" name="Text 7"/>
          <p:cNvSpPr/>
          <p:nvPr/>
        </p:nvSpPr>
        <p:spPr>
          <a:xfrm>
            <a:off x="1051560" y="1252728"/>
            <a:ext cx="7680960" cy="804672"/>
          </a:xfrm>
          <a:prstGeom prst="rect">
            <a:avLst/>
          </a:prstGeom>
          <a:noFill/>
          <a:ln/>
        </p:spPr>
        <p:txBody>
          <a:bodyPr wrap="square" rtlCol="0" anchor="ctr"/>
          <a:lstStyle/>
          <a:p>
            <a:pPr marL="0" indent="0">
              <a:buNone/>
            </a:pPr>
            <a:r>
              <a:rPr lang="en-US" sz="1050" b="1" dirty="0">
                <a:solidFill>
                  <a:srgbClr val="1A1F3C"/>
                </a:solidFill>
                <a:latin typeface="Calibri" pitchFamily="34" charset="0"/>
                <a:ea typeface="Calibri" pitchFamily="34" charset="-122"/>
                <a:cs typeface="Calibri" pitchFamily="34" charset="-120"/>
              </a:rPr>
              <a:t>Action: </a:t>
            </a:r>
            <a:r>
              <a:rPr lang="en-US" sz="1050" dirty="0">
                <a:solidFill>
                  <a:srgbClr val="1A1F3C"/>
                </a:solidFill>
                <a:latin typeface="Calibri" pitchFamily="34" charset="0"/>
                <a:ea typeface="Calibri" pitchFamily="34" charset="-122"/>
                <a:cs typeface="Calibri" pitchFamily="34" charset="-120"/>
              </a:rPr>
              <a:t>Prioritize Rock, Metal, and Alternative &amp; Punk in catalog and promotions.  </a:t>
            </a:r>
            <a:r>
              <a:rPr lang="en-US" sz="1050" b="1" dirty="0">
                <a:solidFill>
                  <a:srgbClr val="1A1F3C"/>
                </a:solidFill>
                <a:latin typeface="Calibri" pitchFamily="34" charset="0"/>
                <a:ea typeface="Calibri" pitchFamily="34" charset="-122"/>
                <a:cs typeface="Calibri" pitchFamily="34" charset="-120"/>
              </a:rPr>
              <a:t>Reason: </a:t>
            </a:r>
            <a:r>
              <a:rPr lang="en-US" sz="1050" dirty="0">
                <a:solidFill>
                  <a:srgbClr val="8290A8"/>
                </a:solidFill>
                <a:latin typeface="Calibri" pitchFamily="34" charset="0"/>
                <a:ea typeface="Calibri" pitchFamily="34" charset="-122"/>
                <a:cs typeface="Calibri" pitchFamily="34" charset="-120"/>
              </a:rPr>
              <a:t>These genres dominate sales in 22+ countries and contribute 77% of US revenue.</a:t>
            </a:r>
            <a:endParaRPr lang="en-US" sz="1050" dirty="0"/>
          </a:p>
        </p:txBody>
      </p:sp>
      <p:sp>
        <p:nvSpPr>
          <p:cNvPr id="10" name="Shape 8"/>
          <p:cNvSpPr/>
          <p:nvPr/>
        </p:nvSpPr>
        <p:spPr>
          <a:xfrm>
            <a:off x="274320" y="2240280"/>
            <a:ext cx="8595360" cy="1298448"/>
          </a:xfrm>
          <a:prstGeom prst="rect">
            <a:avLst/>
          </a:prstGeom>
          <a:solidFill>
            <a:srgbClr val="FFFFFF"/>
          </a:solidFill>
          <a:ln w="6350">
            <a:solidFill>
              <a:srgbClr val="E0E5F0"/>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274320" y="2240280"/>
            <a:ext cx="640080" cy="1298448"/>
          </a:xfrm>
          <a:prstGeom prst="rect">
            <a:avLst/>
          </a:prstGeom>
          <a:solidFill>
            <a:srgbClr val="E05A44"/>
          </a:solidFill>
          <a:ln/>
        </p:spPr>
        <p:txBody>
          <a:bodyPr/>
          <a:lstStyle/>
          <a:p>
            <a:endParaRPr lang="en-IN"/>
          </a:p>
        </p:txBody>
      </p:sp>
      <p:sp>
        <p:nvSpPr>
          <p:cNvPr id="12" name="Text 10"/>
          <p:cNvSpPr/>
          <p:nvPr/>
        </p:nvSpPr>
        <p:spPr>
          <a:xfrm>
            <a:off x="274320" y="2240280"/>
            <a:ext cx="640080" cy="1298448"/>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13" name="Text 11"/>
          <p:cNvSpPr/>
          <p:nvPr/>
        </p:nvSpPr>
        <p:spPr>
          <a:xfrm>
            <a:off x="1051560" y="2304288"/>
            <a:ext cx="7680960" cy="347472"/>
          </a:xfrm>
          <a:prstGeom prst="rect">
            <a:avLst/>
          </a:prstGeom>
          <a:noFill/>
          <a:ln/>
        </p:spPr>
        <p:txBody>
          <a:bodyPr wrap="square" rtlCol="0" anchor="ctr"/>
          <a:lstStyle/>
          <a:p>
            <a:pPr marL="0" indent="0">
              <a:buNone/>
            </a:pPr>
            <a:r>
              <a:rPr lang="en-US" sz="1300" b="1" dirty="0">
                <a:solidFill>
                  <a:srgbClr val="1A1F3C"/>
                </a:solidFill>
                <a:latin typeface="Calibri" pitchFamily="34" charset="0"/>
                <a:ea typeface="Calibri" pitchFamily="34" charset="-122"/>
                <a:cs typeface="Calibri" pitchFamily="34" charset="-120"/>
              </a:rPr>
              <a:t>Monitor &amp; Reduce Churn in High-Risk Countries</a:t>
            </a:r>
            <a:endParaRPr lang="en-US" sz="1300" dirty="0"/>
          </a:p>
        </p:txBody>
      </p:sp>
      <p:sp>
        <p:nvSpPr>
          <p:cNvPr id="14" name="Text 12"/>
          <p:cNvSpPr/>
          <p:nvPr/>
        </p:nvSpPr>
        <p:spPr>
          <a:xfrm>
            <a:off x="1051560" y="2670048"/>
            <a:ext cx="7680960" cy="804672"/>
          </a:xfrm>
          <a:prstGeom prst="rect">
            <a:avLst/>
          </a:prstGeom>
          <a:noFill/>
          <a:ln/>
        </p:spPr>
        <p:txBody>
          <a:bodyPr wrap="square" rtlCol="0" anchor="ctr"/>
          <a:lstStyle/>
          <a:p>
            <a:pPr marL="0" indent="0">
              <a:buNone/>
            </a:pPr>
            <a:r>
              <a:rPr lang="en-US" sz="1050" b="1" dirty="0">
                <a:solidFill>
                  <a:srgbClr val="1A1F3C"/>
                </a:solidFill>
                <a:latin typeface="Calibri" pitchFamily="34" charset="0"/>
                <a:ea typeface="Calibri" pitchFamily="34" charset="-122"/>
                <a:cs typeface="Calibri" pitchFamily="34" charset="-120"/>
              </a:rPr>
              <a:t>Action: </a:t>
            </a:r>
            <a:r>
              <a:rPr lang="en-US" sz="1050" dirty="0">
                <a:solidFill>
                  <a:srgbClr val="1A1F3C"/>
                </a:solidFill>
                <a:latin typeface="Calibri" pitchFamily="34" charset="0"/>
                <a:ea typeface="Calibri" pitchFamily="34" charset="-122"/>
                <a:cs typeface="Calibri" pitchFamily="34" charset="-120"/>
              </a:rPr>
              <a:t>Deploy retention strategies in Belgium, Denmark, Chile, and USA with inactivity triggers.  </a:t>
            </a:r>
            <a:r>
              <a:rPr lang="en-US" sz="1050" b="1" dirty="0">
                <a:solidFill>
                  <a:srgbClr val="1A1F3C"/>
                </a:solidFill>
                <a:latin typeface="Calibri" pitchFamily="34" charset="0"/>
                <a:ea typeface="Calibri" pitchFamily="34" charset="-122"/>
                <a:cs typeface="Calibri" pitchFamily="34" charset="-120"/>
              </a:rPr>
              <a:t>Reason: </a:t>
            </a:r>
            <a:r>
              <a:rPr lang="en-US" sz="1050" dirty="0">
                <a:solidFill>
                  <a:srgbClr val="8290A8"/>
                </a:solidFill>
                <a:latin typeface="Calibri" pitchFamily="34" charset="0"/>
                <a:ea typeface="Calibri" pitchFamily="34" charset="-122"/>
                <a:cs typeface="Calibri" pitchFamily="34" charset="-120"/>
              </a:rPr>
              <a:t>High churn rates signal disengagement — proactive outreach can recover customers.</a:t>
            </a:r>
            <a:endParaRPr lang="en-US" sz="1050" dirty="0"/>
          </a:p>
        </p:txBody>
      </p:sp>
      <p:sp>
        <p:nvSpPr>
          <p:cNvPr id="15" name="Shape 13"/>
          <p:cNvSpPr/>
          <p:nvPr/>
        </p:nvSpPr>
        <p:spPr>
          <a:xfrm>
            <a:off x="274320" y="3767328"/>
            <a:ext cx="8595360" cy="1188720"/>
          </a:xfrm>
          <a:prstGeom prst="rect">
            <a:avLst/>
          </a:prstGeom>
          <a:solidFill>
            <a:srgbClr val="1A1F3C"/>
          </a:solidFill>
          <a:ln/>
        </p:spPr>
        <p:txBody>
          <a:bodyPr/>
          <a:lstStyle/>
          <a:p>
            <a:endParaRPr lang="en-IN"/>
          </a:p>
        </p:txBody>
      </p:sp>
      <p:sp>
        <p:nvSpPr>
          <p:cNvPr id="16" name="Text 14"/>
          <p:cNvSpPr/>
          <p:nvPr/>
        </p:nvSpPr>
        <p:spPr>
          <a:xfrm>
            <a:off x="457200" y="3822192"/>
            <a:ext cx="3200400" cy="36576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Action Plan Summary</a:t>
            </a:r>
            <a:endParaRPr lang="en-US" sz="1300" dirty="0"/>
          </a:p>
        </p:txBody>
      </p:sp>
      <p:sp>
        <p:nvSpPr>
          <p:cNvPr id="17" name="Shape 15"/>
          <p:cNvSpPr/>
          <p:nvPr/>
        </p:nvSpPr>
        <p:spPr>
          <a:xfrm>
            <a:off x="365760" y="4251960"/>
            <a:ext cx="1554480" cy="548640"/>
          </a:xfrm>
          <a:prstGeom prst="roundRect">
            <a:avLst>
              <a:gd name="adj" fmla="val 13333"/>
            </a:avLst>
          </a:prstGeom>
          <a:solidFill>
            <a:srgbClr val="2E3D6F"/>
          </a:solidFill>
          <a:ln/>
        </p:spPr>
        <p:txBody>
          <a:bodyPr/>
          <a:lstStyle/>
          <a:p>
            <a:endParaRPr lang="en-IN"/>
          </a:p>
        </p:txBody>
      </p:sp>
      <p:sp>
        <p:nvSpPr>
          <p:cNvPr id="18" name="Text 16"/>
          <p:cNvSpPr/>
          <p:nvPr/>
        </p:nvSpPr>
        <p:spPr>
          <a:xfrm>
            <a:off x="365760" y="4251960"/>
            <a:ext cx="1554480" cy="5486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Market Growth</a:t>
            </a:r>
            <a:endParaRPr lang="en-US" sz="1000" dirty="0"/>
          </a:p>
        </p:txBody>
      </p:sp>
      <p:sp>
        <p:nvSpPr>
          <p:cNvPr id="19" name="Shape 17"/>
          <p:cNvSpPr/>
          <p:nvPr/>
        </p:nvSpPr>
        <p:spPr>
          <a:xfrm>
            <a:off x="2057400" y="4251960"/>
            <a:ext cx="1554480" cy="548640"/>
          </a:xfrm>
          <a:prstGeom prst="roundRect">
            <a:avLst>
              <a:gd name="adj" fmla="val 13333"/>
            </a:avLst>
          </a:prstGeom>
          <a:solidFill>
            <a:srgbClr val="2E3D6F"/>
          </a:solidFill>
          <a:ln/>
        </p:spPr>
        <p:txBody>
          <a:bodyPr/>
          <a:lstStyle/>
          <a:p>
            <a:endParaRPr lang="en-IN"/>
          </a:p>
        </p:txBody>
      </p:sp>
      <p:sp>
        <p:nvSpPr>
          <p:cNvPr id="20" name="Text 18"/>
          <p:cNvSpPr/>
          <p:nvPr/>
        </p:nvSpPr>
        <p:spPr>
          <a:xfrm>
            <a:off x="2057400" y="4251960"/>
            <a:ext cx="1554480" cy="5486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Price Strategy</a:t>
            </a:r>
            <a:endParaRPr lang="en-US" sz="1000" dirty="0"/>
          </a:p>
        </p:txBody>
      </p:sp>
      <p:sp>
        <p:nvSpPr>
          <p:cNvPr id="21" name="Shape 19"/>
          <p:cNvSpPr/>
          <p:nvPr/>
        </p:nvSpPr>
        <p:spPr>
          <a:xfrm>
            <a:off x="3749040" y="4251960"/>
            <a:ext cx="1554480" cy="548640"/>
          </a:xfrm>
          <a:prstGeom prst="roundRect">
            <a:avLst>
              <a:gd name="adj" fmla="val 13333"/>
            </a:avLst>
          </a:prstGeom>
          <a:solidFill>
            <a:srgbClr val="2E3D6F"/>
          </a:solidFill>
          <a:ln/>
        </p:spPr>
        <p:txBody>
          <a:bodyPr/>
          <a:lstStyle/>
          <a:p>
            <a:endParaRPr lang="en-IN"/>
          </a:p>
        </p:txBody>
      </p:sp>
      <p:sp>
        <p:nvSpPr>
          <p:cNvPr id="22" name="Text 20"/>
          <p:cNvSpPr/>
          <p:nvPr/>
        </p:nvSpPr>
        <p:spPr>
          <a:xfrm>
            <a:off x="3749040" y="4251960"/>
            <a:ext cx="1554480" cy="5486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Customer Retention</a:t>
            </a:r>
            <a:endParaRPr lang="en-US" sz="1000" dirty="0"/>
          </a:p>
        </p:txBody>
      </p:sp>
      <p:sp>
        <p:nvSpPr>
          <p:cNvPr id="23" name="Shape 21"/>
          <p:cNvSpPr/>
          <p:nvPr/>
        </p:nvSpPr>
        <p:spPr>
          <a:xfrm>
            <a:off x="5440680" y="4251960"/>
            <a:ext cx="1554480" cy="548640"/>
          </a:xfrm>
          <a:prstGeom prst="roundRect">
            <a:avLst>
              <a:gd name="adj" fmla="val 13333"/>
            </a:avLst>
          </a:prstGeom>
          <a:solidFill>
            <a:srgbClr val="2E3D6F"/>
          </a:solidFill>
          <a:ln/>
        </p:spPr>
        <p:txBody>
          <a:bodyPr/>
          <a:lstStyle/>
          <a:p>
            <a:endParaRPr lang="en-IN"/>
          </a:p>
        </p:txBody>
      </p:sp>
      <p:sp>
        <p:nvSpPr>
          <p:cNvPr id="24" name="Text 22"/>
          <p:cNvSpPr/>
          <p:nvPr/>
        </p:nvSpPr>
        <p:spPr>
          <a:xfrm>
            <a:off x="5440680" y="4251960"/>
            <a:ext cx="1554480" cy="5486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Genre Strategy</a:t>
            </a:r>
            <a:endParaRPr lang="en-US" sz="1000" dirty="0"/>
          </a:p>
        </p:txBody>
      </p:sp>
      <p:sp>
        <p:nvSpPr>
          <p:cNvPr id="25" name="Shape 23"/>
          <p:cNvSpPr/>
          <p:nvPr/>
        </p:nvSpPr>
        <p:spPr>
          <a:xfrm>
            <a:off x="7132320" y="4251960"/>
            <a:ext cx="1554480" cy="548640"/>
          </a:xfrm>
          <a:prstGeom prst="roundRect">
            <a:avLst>
              <a:gd name="adj" fmla="val 13333"/>
            </a:avLst>
          </a:prstGeom>
          <a:solidFill>
            <a:srgbClr val="2E3D6F"/>
          </a:solidFill>
          <a:ln/>
        </p:spPr>
        <p:txBody>
          <a:bodyPr/>
          <a:lstStyle/>
          <a:p>
            <a:endParaRPr lang="en-IN"/>
          </a:p>
        </p:txBody>
      </p:sp>
      <p:sp>
        <p:nvSpPr>
          <p:cNvPr id="26" name="Text 24"/>
          <p:cNvSpPr/>
          <p:nvPr/>
        </p:nvSpPr>
        <p:spPr>
          <a:xfrm>
            <a:off x="7132320" y="4251960"/>
            <a:ext cx="1554480" cy="5486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Churn Control</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txBody>
          <a:bodyPr/>
          <a:lstStyle/>
          <a:p>
            <a:endParaRPr lang="en-IN"/>
          </a:p>
        </p:txBody>
      </p:sp>
      <p:sp>
        <p:nvSpPr>
          <p:cNvPr id="3" name="Shape 1"/>
          <p:cNvSpPr/>
          <p:nvPr/>
        </p:nvSpPr>
        <p:spPr>
          <a:xfrm>
            <a:off x="7315200" y="-457200"/>
            <a:ext cx="2286000" cy="2286000"/>
          </a:xfrm>
          <a:prstGeom prst="ellipse">
            <a:avLst/>
          </a:prstGeom>
          <a:solidFill>
            <a:srgbClr val="2E3D6F"/>
          </a:solidFill>
          <a:ln/>
        </p:spPr>
        <p:txBody>
          <a:bodyPr/>
          <a:lstStyle/>
          <a:p>
            <a:endParaRPr lang="en-IN"/>
          </a:p>
        </p:txBody>
      </p:sp>
      <p:sp>
        <p:nvSpPr>
          <p:cNvPr id="4" name="Shape 2"/>
          <p:cNvSpPr/>
          <p:nvPr/>
        </p:nvSpPr>
        <p:spPr>
          <a:xfrm>
            <a:off x="7772400" y="3474720"/>
            <a:ext cx="1828800" cy="1828800"/>
          </a:xfrm>
          <a:prstGeom prst="ellipse">
            <a:avLst/>
          </a:prstGeom>
          <a:solidFill>
            <a:srgbClr val="F5A623">
              <a:alpha val="20000"/>
            </a:srgbClr>
          </a:solidFill>
          <a:ln/>
        </p:spPr>
        <p:txBody>
          <a:bodyPr/>
          <a:lstStyle/>
          <a:p>
            <a:endParaRPr lang="en-IN"/>
          </a:p>
        </p:txBody>
      </p:sp>
      <p:sp>
        <p:nvSpPr>
          <p:cNvPr id="5" name="Text 3"/>
          <p:cNvSpPr/>
          <p:nvPr/>
        </p:nvSpPr>
        <p:spPr>
          <a:xfrm>
            <a:off x="457200" y="274320"/>
            <a:ext cx="3657600" cy="502920"/>
          </a:xfrm>
          <a:prstGeom prst="rect">
            <a:avLst/>
          </a:prstGeom>
          <a:noFill/>
          <a:ln/>
        </p:spPr>
        <p:txBody>
          <a:bodyPr wrap="square" rtlCol="0" anchor="ctr"/>
          <a:lstStyle/>
          <a:p>
            <a:pPr marL="0" indent="0">
              <a:buNone/>
            </a:pPr>
            <a:r>
              <a:rPr lang="en-US" sz="1300" b="1" kern="0" spc="300" dirty="0">
                <a:solidFill>
                  <a:srgbClr val="F5A623"/>
                </a:solidFill>
                <a:latin typeface="Calibri" pitchFamily="34" charset="0"/>
                <a:ea typeface="Calibri" pitchFamily="34" charset="-122"/>
                <a:cs typeface="Calibri" pitchFamily="34" charset="-120"/>
              </a:rPr>
              <a:t>Conclusion</a:t>
            </a:r>
            <a:endParaRPr lang="en-US" sz="1300" dirty="0"/>
          </a:p>
        </p:txBody>
      </p:sp>
      <p:sp>
        <p:nvSpPr>
          <p:cNvPr id="6" name="Text 4"/>
          <p:cNvSpPr/>
          <p:nvPr/>
        </p:nvSpPr>
        <p:spPr>
          <a:xfrm>
            <a:off x="457200" y="777240"/>
            <a:ext cx="7315200" cy="6858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Key Takeaways</a:t>
            </a:r>
            <a:endParaRPr lang="en-US" sz="3600" dirty="0"/>
          </a:p>
        </p:txBody>
      </p:sp>
      <p:sp>
        <p:nvSpPr>
          <p:cNvPr id="7" name="Shape 5"/>
          <p:cNvSpPr/>
          <p:nvPr/>
        </p:nvSpPr>
        <p:spPr>
          <a:xfrm>
            <a:off x="457200" y="1508760"/>
            <a:ext cx="3200400" cy="36576"/>
          </a:xfrm>
          <a:prstGeom prst="rect">
            <a:avLst/>
          </a:prstGeom>
          <a:solidFill>
            <a:srgbClr val="F5A623"/>
          </a:solidFill>
          <a:ln/>
        </p:spPr>
        <p:txBody>
          <a:bodyPr/>
          <a:lstStyle/>
          <a:p>
            <a:endParaRPr lang="en-IN"/>
          </a:p>
        </p:txBody>
      </p:sp>
      <p:sp>
        <p:nvSpPr>
          <p:cNvPr id="8" name="Shape 6"/>
          <p:cNvSpPr/>
          <p:nvPr/>
        </p:nvSpPr>
        <p:spPr>
          <a:xfrm>
            <a:off x="457200" y="1691640"/>
            <a:ext cx="292608" cy="347472"/>
          </a:xfrm>
          <a:prstGeom prst="rect">
            <a:avLst/>
          </a:prstGeom>
          <a:solidFill>
            <a:srgbClr val="F5A623"/>
          </a:solidFill>
          <a:ln/>
        </p:spPr>
        <p:txBody>
          <a:bodyPr/>
          <a:lstStyle/>
          <a:p>
            <a:endParaRPr lang="en-IN"/>
          </a:p>
        </p:txBody>
      </p:sp>
      <p:sp>
        <p:nvSpPr>
          <p:cNvPr id="9" name="Text 7"/>
          <p:cNvSpPr/>
          <p:nvPr/>
        </p:nvSpPr>
        <p:spPr>
          <a:xfrm>
            <a:off x="457200" y="1691640"/>
            <a:ext cx="29260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841248" y="1709928"/>
            <a:ext cx="6858000" cy="320040"/>
          </a:xfrm>
          <a:prstGeom prst="rect">
            <a:avLst/>
          </a:prstGeom>
          <a:noFill/>
          <a:ln/>
        </p:spPr>
        <p:txBody>
          <a:bodyPr wrap="square" rtlCol="0" anchor="ctr"/>
          <a:lstStyle/>
          <a:p>
            <a:pPr marL="0" indent="0">
              <a:buNone/>
            </a:pPr>
            <a:r>
              <a:rPr lang="en-US" sz="1200" dirty="0">
                <a:solidFill>
                  <a:srgbClr val="D0D8F0"/>
                </a:solidFill>
                <a:latin typeface="Calibri" pitchFamily="34" charset="0"/>
                <a:ea typeface="Calibri" pitchFamily="34" charset="-122"/>
                <a:cs typeface="Calibri" pitchFamily="34" charset="-120"/>
              </a:rPr>
              <a:t>Sales performance varies widely across regions, indicating uneven market potential</a:t>
            </a:r>
            <a:endParaRPr lang="en-US" sz="1200" dirty="0"/>
          </a:p>
        </p:txBody>
      </p:sp>
      <p:sp>
        <p:nvSpPr>
          <p:cNvPr id="11" name="Shape 9"/>
          <p:cNvSpPr/>
          <p:nvPr/>
        </p:nvSpPr>
        <p:spPr>
          <a:xfrm>
            <a:off x="457200" y="2194560"/>
            <a:ext cx="292608" cy="347472"/>
          </a:xfrm>
          <a:prstGeom prst="rect">
            <a:avLst/>
          </a:prstGeom>
          <a:solidFill>
            <a:srgbClr val="E05A44"/>
          </a:solidFill>
          <a:ln/>
        </p:spPr>
        <p:txBody>
          <a:bodyPr/>
          <a:lstStyle/>
          <a:p>
            <a:endParaRPr lang="en-IN"/>
          </a:p>
        </p:txBody>
      </p:sp>
      <p:sp>
        <p:nvSpPr>
          <p:cNvPr id="12" name="Text 10"/>
          <p:cNvSpPr/>
          <p:nvPr/>
        </p:nvSpPr>
        <p:spPr>
          <a:xfrm>
            <a:off x="457200" y="2194560"/>
            <a:ext cx="29260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841248" y="2212848"/>
            <a:ext cx="6858000" cy="320040"/>
          </a:xfrm>
          <a:prstGeom prst="rect">
            <a:avLst/>
          </a:prstGeom>
          <a:noFill/>
          <a:ln/>
        </p:spPr>
        <p:txBody>
          <a:bodyPr wrap="square" rtlCol="0" anchor="ctr"/>
          <a:lstStyle/>
          <a:p>
            <a:pPr marL="0" indent="0">
              <a:buNone/>
            </a:pPr>
            <a:r>
              <a:rPr lang="en-US" sz="1200" dirty="0">
                <a:solidFill>
                  <a:srgbClr val="D0D8F0"/>
                </a:solidFill>
                <a:latin typeface="Calibri" pitchFamily="34" charset="0"/>
                <a:ea typeface="Calibri" pitchFamily="34" charset="-122"/>
                <a:cs typeface="Calibri" pitchFamily="34" charset="-120"/>
              </a:rPr>
              <a:t>Long-term customer engagement is the key driver of sustained revenue growth</a:t>
            </a:r>
            <a:endParaRPr lang="en-US" sz="1200" dirty="0"/>
          </a:p>
        </p:txBody>
      </p:sp>
      <p:sp>
        <p:nvSpPr>
          <p:cNvPr id="14" name="Shape 12"/>
          <p:cNvSpPr/>
          <p:nvPr/>
        </p:nvSpPr>
        <p:spPr>
          <a:xfrm>
            <a:off x="457200" y="2697480"/>
            <a:ext cx="292608" cy="347472"/>
          </a:xfrm>
          <a:prstGeom prst="rect">
            <a:avLst/>
          </a:prstGeom>
          <a:solidFill>
            <a:srgbClr val="F5A623"/>
          </a:solidFill>
          <a:ln/>
        </p:spPr>
        <p:txBody>
          <a:bodyPr/>
          <a:lstStyle/>
          <a:p>
            <a:endParaRPr lang="en-IN"/>
          </a:p>
        </p:txBody>
      </p:sp>
      <p:sp>
        <p:nvSpPr>
          <p:cNvPr id="15" name="Text 13"/>
          <p:cNvSpPr/>
          <p:nvPr/>
        </p:nvSpPr>
        <p:spPr>
          <a:xfrm>
            <a:off x="457200" y="2697480"/>
            <a:ext cx="29260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841248" y="2715768"/>
            <a:ext cx="6858000" cy="320040"/>
          </a:xfrm>
          <a:prstGeom prst="rect">
            <a:avLst/>
          </a:prstGeom>
          <a:noFill/>
          <a:ln/>
        </p:spPr>
        <p:txBody>
          <a:bodyPr wrap="square" rtlCol="0" anchor="ctr"/>
          <a:lstStyle/>
          <a:p>
            <a:pPr marL="0" indent="0">
              <a:buNone/>
            </a:pPr>
            <a:r>
              <a:rPr lang="en-US" sz="1200" dirty="0">
                <a:solidFill>
                  <a:srgbClr val="D0D8F0"/>
                </a:solidFill>
                <a:latin typeface="Calibri" pitchFamily="34" charset="0"/>
                <a:ea typeface="Calibri" pitchFamily="34" charset="-122"/>
                <a:cs typeface="Calibri" pitchFamily="34" charset="-120"/>
              </a:rPr>
              <a:t>Rock, Metal &amp; Alternative/Punk dominate globally — catalog should reflect this</a:t>
            </a:r>
            <a:endParaRPr lang="en-US" sz="1200" dirty="0"/>
          </a:p>
        </p:txBody>
      </p:sp>
      <p:sp>
        <p:nvSpPr>
          <p:cNvPr id="17" name="Shape 15"/>
          <p:cNvSpPr/>
          <p:nvPr/>
        </p:nvSpPr>
        <p:spPr>
          <a:xfrm>
            <a:off x="457200" y="3200400"/>
            <a:ext cx="292608" cy="347472"/>
          </a:xfrm>
          <a:prstGeom prst="rect">
            <a:avLst/>
          </a:prstGeom>
          <a:solidFill>
            <a:srgbClr val="E05A44"/>
          </a:solidFill>
          <a:ln/>
        </p:spPr>
        <p:txBody>
          <a:bodyPr/>
          <a:lstStyle/>
          <a:p>
            <a:endParaRPr lang="en-IN"/>
          </a:p>
        </p:txBody>
      </p:sp>
      <p:sp>
        <p:nvSpPr>
          <p:cNvPr id="18" name="Text 16"/>
          <p:cNvSpPr/>
          <p:nvPr/>
        </p:nvSpPr>
        <p:spPr>
          <a:xfrm>
            <a:off x="457200" y="3200400"/>
            <a:ext cx="29260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841248" y="3218688"/>
            <a:ext cx="6858000" cy="320040"/>
          </a:xfrm>
          <a:prstGeom prst="rect">
            <a:avLst/>
          </a:prstGeom>
          <a:noFill/>
          <a:ln/>
        </p:spPr>
        <p:txBody>
          <a:bodyPr wrap="square" rtlCol="0" anchor="ctr"/>
          <a:lstStyle/>
          <a:p>
            <a:pPr marL="0" indent="0">
              <a:buNone/>
            </a:pPr>
            <a:r>
              <a:rPr lang="en-US" sz="1200" dirty="0">
                <a:solidFill>
                  <a:srgbClr val="D0D8F0"/>
                </a:solidFill>
                <a:latin typeface="Calibri" pitchFamily="34" charset="0"/>
                <a:ea typeface="Calibri" pitchFamily="34" charset="-122"/>
                <a:cs typeface="Calibri" pitchFamily="34" charset="-120"/>
              </a:rPr>
              <a:t>Customer behavior shows consistency in spending but variation in purchase frequency</a:t>
            </a:r>
            <a:endParaRPr lang="en-US" sz="1200" dirty="0"/>
          </a:p>
        </p:txBody>
      </p:sp>
      <p:sp>
        <p:nvSpPr>
          <p:cNvPr id="20" name="Shape 18"/>
          <p:cNvSpPr/>
          <p:nvPr/>
        </p:nvSpPr>
        <p:spPr>
          <a:xfrm>
            <a:off x="457200" y="3703320"/>
            <a:ext cx="292608" cy="347472"/>
          </a:xfrm>
          <a:prstGeom prst="rect">
            <a:avLst/>
          </a:prstGeom>
          <a:solidFill>
            <a:srgbClr val="F5A623"/>
          </a:solidFill>
          <a:ln/>
        </p:spPr>
        <p:txBody>
          <a:bodyPr/>
          <a:lstStyle/>
          <a:p>
            <a:endParaRPr lang="en-IN"/>
          </a:p>
        </p:txBody>
      </p:sp>
      <p:sp>
        <p:nvSpPr>
          <p:cNvPr id="21" name="Text 19"/>
          <p:cNvSpPr/>
          <p:nvPr/>
        </p:nvSpPr>
        <p:spPr>
          <a:xfrm>
            <a:off x="457200" y="3703320"/>
            <a:ext cx="29260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841248" y="3721608"/>
            <a:ext cx="6858000" cy="320040"/>
          </a:xfrm>
          <a:prstGeom prst="rect">
            <a:avLst/>
          </a:prstGeom>
          <a:noFill/>
          <a:ln/>
        </p:spPr>
        <p:txBody>
          <a:bodyPr wrap="square" rtlCol="0" anchor="ctr"/>
          <a:lstStyle/>
          <a:p>
            <a:pPr marL="0" indent="0">
              <a:buNone/>
            </a:pPr>
            <a:r>
              <a:rPr lang="en-US" sz="1200" dirty="0">
                <a:solidFill>
                  <a:srgbClr val="D0D8F0"/>
                </a:solidFill>
                <a:latin typeface="Calibri" pitchFamily="34" charset="0"/>
                <a:ea typeface="Calibri" pitchFamily="34" charset="-122"/>
                <a:cs typeface="Calibri" pitchFamily="34" charset="-120"/>
              </a:rPr>
              <a:t>Market conditions play a significant role in shaping regional buying patterns</a:t>
            </a:r>
            <a:endParaRPr lang="en-US" sz="1200" dirty="0"/>
          </a:p>
        </p:txBody>
      </p:sp>
      <p:sp>
        <p:nvSpPr>
          <p:cNvPr id="23" name="Shape 21"/>
          <p:cNvSpPr/>
          <p:nvPr/>
        </p:nvSpPr>
        <p:spPr>
          <a:xfrm>
            <a:off x="457200" y="4206240"/>
            <a:ext cx="292608" cy="347472"/>
          </a:xfrm>
          <a:prstGeom prst="rect">
            <a:avLst/>
          </a:prstGeom>
          <a:solidFill>
            <a:srgbClr val="E05A44"/>
          </a:solidFill>
          <a:ln/>
        </p:spPr>
        <p:txBody>
          <a:bodyPr/>
          <a:lstStyle/>
          <a:p>
            <a:endParaRPr lang="en-IN"/>
          </a:p>
        </p:txBody>
      </p:sp>
      <p:sp>
        <p:nvSpPr>
          <p:cNvPr id="24" name="Text 22"/>
          <p:cNvSpPr/>
          <p:nvPr/>
        </p:nvSpPr>
        <p:spPr>
          <a:xfrm>
            <a:off x="457200" y="4206240"/>
            <a:ext cx="29260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841248" y="4224528"/>
            <a:ext cx="6858000" cy="320040"/>
          </a:xfrm>
          <a:prstGeom prst="rect">
            <a:avLst/>
          </a:prstGeom>
          <a:noFill/>
          <a:ln/>
        </p:spPr>
        <p:txBody>
          <a:bodyPr wrap="square" rtlCol="0" anchor="ctr"/>
          <a:lstStyle/>
          <a:p>
            <a:pPr marL="0" indent="0">
              <a:buNone/>
            </a:pPr>
            <a:r>
              <a:rPr lang="en-US" sz="1200" dirty="0">
                <a:solidFill>
                  <a:srgbClr val="D0D8F0"/>
                </a:solidFill>
                <a:latin typeface="Calibri" pitchFamily="34" charset="0"/>
                <a:ea typeface="Calibri" pitchFamily="34" charset="-122"/>
                <a:cs typeface="Calibri" pitchFamily="34" charset="-120"/>
              </a:rPr>
              <a:t>Data-driven insights enable targeted, efficient, and measurable business decisions</a:t>
            </a:r>
            <a:endParaRPr lang="en-US" sz="1200" dirty="0"/>
          </a:p>
        </p:txBody>
      </p:sp>
      <p:sp>
        <p:nvSpPr>
          <p:cNvPr id="26" name="Text 24"/>
          <p:cNvSpPr/>
          <p:nvPr/>
        </p:nvSpPr>
        <p:spPr>
          <a:xfrm>
            <a:off x="457200" y="4754880"/>
            <a:ext cx="8229600" cy="274320"/>
          </a:xfrm>
          <a:prstGeom prst="rect">
            <a:avLst/>
          </a:prstGeom>
          <a:noFill/>
          <a:ln/>
        </p:spPr>
        <p:txBody>
          <a:bodyPr wrap="square" rtlCol="0" anchor="ctr"/>
          <a:lstStyle/>
          <a:p>
            <a:pPr marL="0" indent="0">
              <a:buNone/>
            </a:pPr>
            <a:r>
              <a:rPr lang="en-US" sz="1000" dirty="0">
                <a:solidFill>
                  <a:srgbClr val="8290A8"/>
                </a:solidFill>
                <a:latin typeface="Calibri" pitchFamily="34" charset="0"/>
                <a:ea typeface="Calibri" pitchFamily="34" charset="-122"/>
                <a:cs typeface="Calibri" pitchFamily="34" charset="-120"/>
              </a:rPr>
              <a:t>Presented by  Urmila Palwal  ·  SQL Data Analysis Project  ·  May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1577</Words>
  <Application>Microsoft Office PowerPoint</Application>
  <PresentationFormat>On-screen Show (16:9)</PresentationFormat>
  <Paragraphs>332</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Chinook Music Store – Data Analysis &amp; Business Insights</dc:title>
  <dc:subject>PptxGenJS Presentation</dc:subject>
  <dc:creator>Urmila Palwal</dc:creator>
  <cp:lastModifiedBy>Urmila Palwal</cp:lastModifiedBy>
  <cp:revision>2</cp:revision>
  <dcterms:created xsi:type="dcterms:W3CDTF">2026-05-11T07:59:49Z</dcterms:created>
  <dcterms:modified xsi:type="dcterms:W3CDTF">2026-05-11T08:08:28Z</dcterms:modified>
</cp:coreProperties>
</file>